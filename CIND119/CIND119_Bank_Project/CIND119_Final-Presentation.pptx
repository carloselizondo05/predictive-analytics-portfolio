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embeddedFontLst>
    <p:embeddedFont>
      <p:font typeface="Roboto Mono" panose="00000009000000000000" pitchFamily="49"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j5HM5ANx9Rg8MwZm80CM5nuni1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BF2E66-15E4-4BB5-9E5F-FB022751894C}">
  <a:tblStyle styleId="{05BF2E66-15E4-4BB5-9E5F-FB022751894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52ACDBB-F74C-47C5-ACE4-A0ACE7F49BB3}"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7437" autoAdjust="0"/>
  </p:normalViewPr>
  <p:slideViewPr>
    <p:cSldViewPr snapToGrid="0">
      <p:cViewPr varScale="1">
        <p:scale>
          <a:sx n="40" d="100"/>
          <a:sy n="40" d="100"/>
        </p:scale>
        <p:origin x="3048" y="4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presProps" Target="presProp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This project addresses a real-world business problem faced by a Portuguese bank conducting phone-based marketing campaigns for long-term deposit accounts. </a:t>
            </a:r>
            <a:endParaRPr/>
          </a:p>
          <a:p>
            <a:pPr marL="0" lvl="0" indent="0" algn="l" rtl="0">
              <a:spcBef>
                <a:spcPts val="0"/>
              </a:spcBef>
              <a:spcAft>
                <a:spcPts val="0"/>
              </a:spcAft>
              <a:buSzPts val="1100"/>
              <a:buNone/>
            </a:pPr>
            <a:r>
              <a:rPr lang="en-US"/>
              <a:t>Multiple contacts per customer were often required, making the campaigns resource-intensive. </a:t>
            </a:r>
            <a:endParaRPr/>
          </a:p>
          <a:p>
            <a:pPr marL="0" lvl="0" indent="0" algn="l" rtl="0">
              <a:spcBef>
                <a:spcPts val="0"/>
              </a:spcBef>
              <a:spcAft>
                <a:spcPts val="0"/>
              </a:spcAft>
              <a:buSzPts val="1100"/>
              <a:buNone/>
            </a:pPr>
            <a:r>
              <a:rPr lang="en-US"/>
              <a:t>By applying machine learning classification, the goal is to predict which customers are likely to subscribe — enabling the bank to prioritize its outreach more effectively and reduce wasted contact attempts.</a:t>
            </a:r>
            <a:endParaRPr/>
          </a:p>
        </p:txBody>
      </p:sp>
      <p:sp>
        <p:nvSpPr>
          <p:cNvPr id="94" name="Google Shape;9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d4e5a5490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d4e5a5490e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The analysis is conducted in Python using pandas for data preparation, matplotlib and seaborn for visualizations, and scikit-learn for machine learning.</a:t>
            </a:r>
            <a:endParaRPr/>
          </a:p>
          <a:p>
            <a:pPr marL="0" lvl="0" indent="0" algn="l" rtl="0">
              <a:spcBef>
                <a:spcPts val="0"/>
              </a:spcBef>
              <a:spcAft>
                <a:spcPts val="0"/>
              </a:spcAft>
              <a:buClr>
                <a:schemeClr val="dk1"/>
              </a:buClr>
              <a:buSzPts val="1100"/>
              <a:buFont typeface="Arial"/>
              <a:buNone/>
            </a:pPr>
            <a:r>
              <a:rPr lang="en-US" b="1"/>
              <a:t>Data Preparation Tasks: </a:t>
            </a:r>
            <a:endParaRPr b="1"/>
          </a:p>
          <a:p>
            <a:pPr marL="457200" lvl="0" indent="-317500" algn="l" rtl="0">
              <a:spcBef>
                <a:spcPts val="0"/>
              </a:spcBef>
              <a:spcAft>
                <a:spcPts val="0"/>
              </a:spcAft>
              <a:buSzPts val="1400"/>
              <a:buChar char="-"/>
            </a:pPr>
            <a:r>
              <a:rPr lang="en-US"/>
              <a:t>Data Inspection</a:t>
            </a:r>
            <a:endParaRPr/>
          </a:p>
          <a:p>
            <a:pPr marL="457200" lvl="0" indent="-317500" algn="l" rtl="0">
              <a:spcBef>
                <a:spcPts val="0"/>
              </a:spcBef>
              <a:spcAft>
                <a:spcPts val="0"/>
              </a:spcAft>
              <a:buSzPts val="1400"/>
              <a:buChar char="-"/>
            </a:pPr>
            <a:r>
              <a:rPr lang="en-US"/>
              <a:t>Detection of Null, Unknown, and Outlier values</a:t>
            </a:r>
            <a:endParaRPr/>
          </a:p>
          <a:p>
            <a:pPr marL="457200" lvl="0" indent="-317500" algn="l" rtl="0">
              <a:spcBef>
                <a:spcPts val="0"/>
              </a:spcBef>
              <a:spcAft>
                <a:spcPts val="0"/>
              </a:spcAft>
              <a:buSzPts val="1400"/>
              <a:buChar char="-"/>
            </a:pPr>
            <a:r>
              <a:rPr lang="en-US"/>
              <a:t>Handling “unknowns” for “job” and “education” attributes</a:t>
            </a:r>
            <a:endParaRPr/>
          </a:p>
          <a:p>
            <a:pPr marL="457200" lvl="0" indent="-317500" algn="l" rtl="0">
              <a:spcBef>
                <a:spcPts val="0"/>
              </a:spcBef>
              <a:spcAft>
                <a:spcPts val="0"/>
              </a:spcAft>
              <a:buSzPts val="1400"/>
              <a:buChar char="-"/>
            </a:pPr>
            <a:r>
              <a:rPr lang="en-US"/>
              <a:t>Basic Statistics for Numerical Variables</a:t>
            </a:r>
            <a:endParaRPr/>
          </a:p>
          <a:p>
            <a:pPr marL="457200" lvl="0" indent="-317500" algn="l" rtl="0">
              <a:spcBef>
                <a:spcPts val="0"/>
              </a:spcBef>
              <a:spcAft>
                <a:spcPts val="0"/>
              </a:spcAft>
              <a:buSzPts val="1400"/>
              <a:buChar char="-"/>
            </a:pPr>
            <a:r>
              <a:rPr lang="en-US"/>
              <a:t>Frequencies for Categorical Variables</a:t>
            </a:r>
            <a:endParaRPr/>
          </a:p>
          <a:p>
            <a:pPr marL="457200" lvl="0" indent="-317500" algn="l" rtl="0">
              <a:spcBef>
                <a:spcPts val="0"/>
              </a:spcBef>
              <a:spcAft>
                <a:spcPts val="0"/>
              </a:spcAft>
              <a:buSzPts val="1400"/>
              <a:buChar char="-"/>
            </a:pPr>
            <a:r>
              <a:rPr lang="en-US"/>
              <a:t>Visualizations</a:t>
            </a:r>
            <a:endParaRPr/>
          </a:p>
          <a:p>
            <a:pPr marL="457200" lvl="0" indent="-317500" algn="l" rtl="0">
              <a:spcBef>
                <a:spcPts val="0"/>
              </a:spcBef>
              <a:spcAft>
                <a:spcPts val="0"/>
              </a:spcAft>
              <a:buSzPts val="1400"/>
              <a:buChar char="-"/>
            </a:pPr>
            <a:r>
              <a:rPr lang="en-US"/>
              <a:t>Outlier Removal</a:t>
            </a:r>
            <a:endParaRPr/>
          </a:p>
          <a:p>
            <a:pPr marL="457200" lvl="0" indent="-317500" algn="l" rtl="0">
              <a:spcBef>
                <a:spcPts val="0"/>
              </a:spcBef>
              <a:spcAft>
                <a:spcPts val="0"/>
              </a:spcAft>
              <a:buSzPts val="1400"/>
              <a:buChar char="-"/>
            </a:pPr>
            <a:r>
              <a:rPr lang="en-US"/>
              <a:t>Bining, Ordinal &amp; Binary Mapping, Log Transformation, One-Hot Encoding </a:t>
            </a:r>
            <a:endParaRPr/>
          </a:p>
          <a:p>
            <a:pPr marL="457200" lvl="0" indent="-317500" algn="l" rtl="0">
              <a:spcBef>
                <a:spcPts val="0"/>
              </a:spcBef>
              <a:spcAft>
                <a:spcPts val="0"/>
              </a:spcAft>
              <a:buSzPts val="1400"/>
              <a:buChar char="-"/>
            </a:pPr>
            <a:r>
              <a:rPr lang="en-US"/>
              <a:t>Correlation Heat-map</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b="1"/>
              <a:t>Predictive Modeling:</a:t>
            </a:r>
            <a:r>
              <a:rPr lang="en-US"/>
              <a:t> </a:t>
            </a:r>
            <a:endParaRPr/>
          </a:p>
          <a:p>
            <a:pPr marL="0" lvl="0" indent="0" algn="l" rtl="0">
              <a:spcBef>
                <a:spcPts val="0"/>
              </a:spcBef>
              <a:spcAft>
                <a:spcPts val="0"/>
              </a:spcAft>
              <a:buClr>
                <a:schemeClr val="dk1"/>
              </a:buClr>
              <a:buSzPts val="1100"/>
              <a:buFont typeface="Arial"/>
              <a:buNone/>
            </a:pPr>
            <a:r>
              <a:rPr lang="en-US"/>
              <a:t>The two classification algorithms are applied: Decision Tree (DT) and Naïve Bayes (NB). </a:t>
            </a:r>
            <a:endParaRPr/>
          </a:p>
          <a:p>
            <a:pPr marL="0" lvl="0" indent="0" algn="l" rtl="0">
              <a:spcBef>
                <a:spcPts val="0"/>
              </a:spcBef>
              <a:spcAft>
                <a:spcPts val="0"/>
              </a:spcAft>
              <a:buClr>
                <a:schemeClr val="dk1"/>
              </a:buClr>
              <a:buSzPts val="1100"/>
              <a:buFont typeface="Arial"/>
              <a:buNone/>
            </a:pPr>
            <a:r>
              <a:rPr lang="en-US"/>
              <a:t>Each algorithm is trained across three strategies — baseline (all 29 features), selected (13 features from DT importance), and optimized (13 Voting Consensus features) — producing six models in total, enabling a comprehensive performance comparison across all feature selection approaches.</a:t>
            </a:r>
            <a:endParaRPr/>
          </a:p>
          <a:p>
            <a:pPr marL="0" lvl="0" indent="0" algn="l" rtl="0">
              <a:spcBef>
                <a:spcPts val="0"/>
              </a:spcBef>
              <a:spcAft>
                <a:spcPts val="0"/>
              </a:spcAft>
              <a:buClr>
                <a:schemeClr val="dk1"/>
              </a:buClr>
              <a:buSzPts val="1100"/>
              <a:buFont typeface="Arial"/>
              <a:buNone/>
            </a:pPr>
            <a:r>
              <a:rPr lang="en-US"/>
              <a:t>Performance is evaluated using Classification Reports (which encompasses Accuracy, Recall, Precision, F1-Score), and Confusion matrices (which help visualize True Positive Rate (TPR), and False Positive Rate (FPR)).</a:t>
            </a:r>
            <a:endParaRPr/>
          </a:p>
        </p:txBody>
      </p:sp>
      <p:sp>
        <p:nvSpPr>
          <p:cNvPr id="101" name="Google Shape;101;g3d4e5a5490e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dff56829e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dff56829e4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 Bank Marketing dataset consists of 4,521 customer records across 17 attributes. There are 10 categorical attributes and 7 numerical attributes. </a:t>
            </a:r>
            <a:endParaRPr/>
          </a:p>
          <a:p>
            <a:pPr marL="0" lvl="0" indent="0" algn="l" rtl="0">
              <a:spcBef>
                <a:spcPts val="0"/>
              </a:spcBef>
              <a:spcAft>
                <a:spcPts val="0"/>
              </a:spcAft>
              <a:buNone/>
            </a:pPr>
            <a:endParaRPr/>
          </a:p>
          <a:p>
            <a:pPr marL="0" lvl="0" indent="0" algn="l" rtl="0">
              <a:spcBef>
                <a:spcPts val="0"/>
              </a:spcBef>
              <a:spcAft>
                <a:spcPts val="0"/>
              </a:spcAft>
              <a:buNone/>
            </a:pPr>
            <a:r>
              <a:rPr lang="en-US"/>
              <a:t>These attributes include information on customer demographics (such as age, martial status, job, education), financial profile (such as yearly balance, default credit,  housing, and loans), and campaign contact data (such as method of contact, number of contacts, duration of calls, days &amp; months after last contact, and previous campaign outcomes).</a:t>
            </a:r>
            <a:endParaRPr/>
          </a:p>
          <a:p>
            <a:pPr marL="0" lvl="0" indent="0" algn="l" rtl="0">
              <a:spcBef>
                <a:spcPts val="0"/>
              </a:spcBef>
              <a:spcAft>
                <a:spcPts val="0"/>
              </a:spcAft>
              <a:buNone/>
            </a:pPr>
            <a:r>
              <a:rPr lang="en-US"/>
              <a:t> </a:t>
            </a:r>
            <a:endParaRPr/>
          </a:p>
          <a:p>
            <a:pPr marL="0" lvl="0" indent="0" algn="l" rtl="0">
              <a:spcBef>
                <a:spcPts val="0"/>
              </a:spcBef>
              <a:spcAft>
                <a:spcPts val="0"/>
              </a:spcAft>
              <a:buClr>
                <a:schemeClr val="dk1"/>
              </a:buClr>
              <a:buSzPts val="1100"/>
              <a:buFont typeface="Arial"/>
              <a:buNone/>
            </a:pPr>
            <a:r>
              <a:rPr lang="en-US"/>
              <a:t>Our target variable is y, also known as subscriptions to the long-term account, which is binary attribute - yes (client subscribed) or no (client did not subscribe).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 dataset had no duplicate records and no null values.</a:t>
            </a:r>
            <a:endParaRPr/>
          </a:p>
          <a:p>
            <a:pPr marL="0" lvl="0" indent="0" algn="l" rtl="0">
              <a:spcBef>
                <a:spcPts val="0"/>
              </a:spcBef>
              <a:spcAft>
                <a:spcPts val="0"/>
              </a:spcAft>
              <a:buNone/>
            </a:pPr>
            <a:endParaRPr/>
          </a:p>
        </p:txBody>
      </p:sp>
      <p:sp>
        <p:nvSpPr>
          <p:cNvPr id="108" name="Google Shape;108;g3dff56829e4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757f392fc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g3d757f392fc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Step 1 — Class Imbalance Analysis</a:t>
            </a:r>
            <a:endParaRPr b="1"/>
          </a:p>
          <a:p>
            <a:pPr marL="0" lvl="0" indent="0" algn="l" rtl="0">
              <a:spcBef>
                <a:spcPts val="0"/>
              </a:spcBef>
              <a:spcAft>
                <a:spcPts val="0"/>
              </a:spcAft>
              <a:buSzPts val="1100"/>
              <a:buNone/>
            </a:pPr>
            <a:r>
              <a:rPr lang="en-US"/>
              <a:t>Analyzed the distribution of the target variable y across the full dataset.</a:t>
            </a:r>
            <a:endParaRPr/>
          </a:p>
          <a:p>
            <a:pPr marL="0" lvl="0" indent="0" algn="l" rtl="0">
              <a:spcBef>
                <a:spcPts val="0"/>
              </a:spcBef>
              <a:spcAft>
                <a:spcPts val="0"/>
              </a:spcAft>
              <a:buClr>
                <a:schemeClr val="dk1"/>
              </a:buClr>
              <a:buSzPts val="1100"/>
              <a:buFont typeface="Arial"/>
              <a:buNone/>
            </a:pPr>
            <a:endParaRPr b="1"/>
          </a:p>
          <a:p>
            <a:pPr marL="0" lvl="0" indent="0" algn="l" rtl="0">
              <a:spcBef>
                <a:spcPts val="0"/>
              </a:spcBef>
              <a:spcAft>
                <a:spcPts val="0"/>
              </a:spcAft>
              <a:buClr>
                <a:schemeClr val="dk1"/>
              </a:buClr>
              <a:buSzPts val="1100"/>
              <a:buFont typeface="Arial"/>
              <a:buNone/>
            </a:pPr>
            <a:r>
              <a:rPr lang="en-US" b="1"/>
              <a:t>Finding:</a:t>
            </a:r>
            <a:r>
              <a:rPr lang="en-US"/>
              <a:t> The dataset is heavily imbalanced — 4,000 records (88.5%) are "no" and only 521 (11.5%) are "yes." </a:t>
            </a:r>
            <a:endParaRPr/>
          </a:p>
          <a:p>
            <a:pPr marL="0" lvl="0" indent="0" algn="l" rtl="0">
              <a:spcBef>
                <a:spcPts val="0"/>
              </a:spcBef>
              <a:spcAft>
                <a:spcPts val="0"/>
              </a:spcAft>
              <a:buClr>
                <a:schemeClr val="dk1"/>
              </a:buClr>
              <a:buSzPts val="1100"/>
              <a:buFont typeface="Arial"/>
              <a:buNone/>
            </a:pPr>
            <a:r>
              <a:rPr lang="en-US"/>
              <a:t>This means a naive model that always predicts "no" would achieve 88.5% accuracy without learning anything. This directly affects how we interpret accuracy in the modeling section and makes True Positive Rate a critical metric.</a:t>
            </a:r>
            <a:endParaRPr/>
          </a:p>
          <a:p>
            <a:pPr marL="0" lvl="0" indent="0" algn="l" rtl="0">
              <a:spcBef>
                <a:spcPts val="0"/>
              </a:spcBef>
              <a:spcAft>
                <a:spcPts val="0"/>
              </a:spcAft>
              <a:buClr>
                <a:schemeClr val="dk1"/>
              </a:buClr>
              <a:buSzPts val="1100"/>
              <a:buFont typeface="Arial"/>
              <a:buNone/>
            </a:pPr>
            <a:endParaRPr b="1"/>
          </a:p>
          <a:p>
            <a:pPr marL="0" lvl="0" indent="0" algn="l" rtl="0">
              <a:spcBef>
                <a:spcPts val="0"/>
              </a:spcBef>
              <a:spcAft>
                <a:spcPts val="0"/>
              </a:spcAft>
              <a:buClr>
                <a:schemeClr val="dk1"/>
              </a:buClr>
              <a:buSzPts val="1100"/>
              <a:buFont typeface="Arial"/>
              <a:buNone/>
            </a:pPr>
            <a:r>
              <a:rPr lang="en-US" b="1"/>
              <a:t>Implication for modeling:</a:t>
            </a:r>
            <a:r>
              <a:rPr lang="en-US"/>
              <a:t> Both models must be evaluated on </a:t>
            </a:r>
            <a:r>
              <a:rPr lang="en-US" b="1"/>
              <a:t>TPR and FPR,</a:t>
            </a:r>
            <a:r>
              <a:rPr lang="en-US"/>
              <a:t> not accuracy alone. This finding will be explicitly referenced in the modeling section.</a:t>
            </a:r>
            <a:endParaRPr/>
          </a:p>
          <a:p>
            <a:pPr marL="0" lvl="0" indent="0" algn="l" rtl="0">
              <a:spcBef>
                <a:spcPts val="0"/>
              </a:spcBef>
              <a:spcAft>
                <a:spcPts val="0"/>
              </a:spcAft>
              <a:buClr>
                <a:schemeClr val="dk1"/>
              </a:buClr>
              <a:buSzPts val="1100"/>
              <a:buFont typeface="Arial"/>
              <a:buNone/>
            </a:pPr>
            <a:r>
              <a:rPr lang="en-US"/>
              <a:t>Recall is an important metric in this case as well, since the bank would want to maximize opportunities in identifying potential client subscribers - a high recall would mean that the classification model is able to capture a higher percentage of clients who would want to subscribe.</a:t>
            </a:r>
            <a:endParaRPr b="1"/>
          </a:p>
          <a:p>
            <a:pPr marL="0" lvl="0" indent="0" algn="l" rtl="0">
              <a:spcBef>
                <a:spcPts val="0"/>
              </a:spcBef>
              <a:spcAft>
                <a:spcPts val="0"/>
              </a:spcAft>
              <a:buNone/>
            </a:pPr>
            <a:endParaRPr b="1"/>
          </a:p>
          <a:p>
            <a:pPr marL="0" lvl="0" indent="0" algn="l" rtl="0">
              <a:spcBef>
                <a:spcPts val="0"/>
              </a:spcBef>
              <a:spcAft>
                <a:spcPts val="0"/>
              </a:spcAft>
              <a:buNone/>
            </a:pPr>
            <a:r>
              <a:rPr lang="en-US" b="1"/>
              <a:t>Figure 1</a:t>
            </a:r>
            <a:r>
              <a:rPr lang="en-US"/>
              <a:t>: bar chart of class distribution</a:t>
            </a:r>
            <a:endParaRPr/>
          </a:p>
        </p:txBody>
      </p:sp>
      <p:sp>
        <p:nvSpPr>
          <p:cNvPr id="116" name="Google Shape;116;g3d757f392fc_0_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76881612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d76881612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1"/>
              <a:t>Step 2.1: Addressing Unknowns</a:t>
            </a:r>
            <a:endParaRPr b="1"/>
          </a:p>
          <a:p>
            <a:pPr marL="0" lvl="0" indent="0" algn="l" rtl="0">
              <a:spcBef>
                <a:spcPts val="0"/>
              </a:spcBef>
              <a:spcAft>
                <a:spcPts val="0"/>
              </a:spcAft>
              <a:buNone/>
            </a:pPr>
            <a:r>
              <a:rPr lang="en-US"/>
              <a:t>We found that columns job, education, contact (the method used to contact the client during the last campaign) and Poutcome (Outcome of the previous marketing campaign) had these respectively unknown values. </a:t>
            </a:r>
            <a:endParaRPr/>
          </a:p>
          <a:p>
            <a:pPr marL="0" lvl="0" indent="0" algn="l" rtl="0">
              <a:spcBef>
                <a:spcPts val="0"/>
              </a:spcBef>
              <a:spcAft>
                <a:spcPts val="0"/>
              </a:spcAft>
              <a:buNone/>
            </a:pPr>
            <a:r>
              <a:rPr lang="en-US"/>
              <a:t>For Job and Education, we handled the unknown values by substituting them with the mode.  </a:t>
            </a:r>
            <a:endParaRPr/>
          </a:p>
          <a:p>
            <a:pPr marL="457200" lvl="0" indent="-317500" algn="l" rtl="0">
              <a:spcBef>
                <a:spcPts val="0"/>
              </a:spcBef>
              <a:spcAft>
                <a:spcPts val="0"/>
              </a:spcAft>
              <a:buSzPts val="1400"/>
              <a:buChar char="-"/>
            </a:pPr>
            <a:r>
              <a:rPr lang="en-US"/>
              <a:t>If both job and education were unknown for 1 record, they were replaced with the mode of each respective category</a:t>
            </a:r>
            <a:endParaRPr/>
          </a:p>
          <a:p>
            <a:pPr marL="457200" lvl="0" indent="-317500" algn="l" rtl="0">
              <a:spcBef>
                <a:spcPts val="0"/>
              </a:spcBef>
              <a:spcAft>
                <a:spcPts val="0"/>
              </a:spcAft>
              <a:buSzPts val="1400"/>
              <a:buChar char="-"/>
            </a:pPr>
            <a:r>
              <a:rPr lang="en-US"/>
              <a:t>If job was unknown and education was known, job would be replaced with the mode of that job with that education level. For example, if, for that record, the education was secondary, then the unknown job value would be replaced with the most frequent job with a secondary education. And vice versa.</a:t>
            </a:r>
            <a:endParaRPr/>
          </a:p>
          <a:p>
            <a:pPr marL="0" lvl="0" indent="0" algn="l" rtl="0">
              <a:spcBef>
                <a:spcPts val="0"/>
              </a:spcBef>
              <a:spcAft>
                <a:spcPts val="0"/>
              </a:spcAft>
              <a:buNone/>
            </a:pPr>
            <a:endParaRPr/>
          </a:p>
          <a:p>
            <a:pPr marL="0" lvl="0" indent="0" algn="l" rtl="0">
              <a:spcBef>
                <a:spcPts val="0"/>
              </a:spcBef>
              <a:spcAft>
                <a:spcPts val="0"/>
              </a:spcAft>
              <a:buNone/>
            </a:pPr>
            <a:r>
              <a:rPr lang="en-US" b="1"/>
              <a:t>Figure 1: </a:t>
            </a:r>
            <a:r>
              <a:rPr lang="en-US"/>
              <a:t>This graph shows the frequency of each job after replacing the unknowns. </a:t>
            </a:r>
            <a:endParaRPr/>
          </a:p>
        </p:txBody>
      </p:sp>
      <p:sp>
        <p:nvSpPr>
          <p:cNvPr id="123" name="Google Shape;123;g3d76881612a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d76881612a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d76881612a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b="1"/>
              <a:t>Step 2.2: Addressing Unknowns</a:t>
            </a:r>
            <a:endParaRPr/>
          </a:p>
          <a:p>
            <a:pPr marL="0" lvl="0" indent="0" algn="l" rtl="0">
              <a:spcBef>
                <a:spcPts val="0"/>
              </a:spcBef>
              <a:spcAft>
                <a:spcPts val="0"/>
              </a:spcAft>
              <a:buNone/>
            </a:pPr>
            <a:r>
              <a:rPr lang="en-US"/>
              <a:t>For contact and Poutcome, we decided to leave them as is due to the vast number of unknowns. </a:t>
            </a:r>
            <a:endParaRPr/>
          </a:p>
          <a:p>
            <a:pPr marL="0" lvl="0" indent="0" algn="l" rtl="0">
              <a:spcBef>
                <a:spcPts val="0"/>
              </a:spcBef>
              <a:spcAft>
                <a:spcPts val="0"/>
              </a:spcAft>
              <a:buNone/>
            </a:pPr>
            <a:r>
              <a:rPr lang="en-US"/>
              <a:t>In the graph on Contact Method, the unknown value has a significantly lower success rate than cellphone and telephone, which could mean that unknown is a strong predictor. </a:t>
            </a:r>
            <a:endParaRPr/>
          </a:p>
          <a:p>
            <a:pPr marL="0" lvl="0" indent="0" algn="l" rtl="0">
              <a:spcBef>
                <a:spcPts val="0"/>
              </a:spcBef>
              <a:spcAft>
                <a:spcPts val="0"/>
              </a:spcAft>
              <a:buNone/>
            </a:pPr>
            <a:endParaRPr/>
          </a:p>
          <a:p>
            <a:pPr marL="0" lvl="0" indent="0" algn="l" rtl="0">
              <a:spcBef>
                <a:spcPts val="0"/>
              </a:spcBef>
              <a:spcAft>
                <a:spcPts val="0"/>
              </a:spcAft>
              <a:buNone/>
            </a:pPr>
            <a:r>
              <a:rPr lang="en-US"/>
              <a:t>Poutcome’s unknown values represent at least 82% of the data in its respective category. </a:t>
            </a:r>
            <a:endParaRPr/>
          </a:p>
          <a:p>
            <a:pPr marL="0" lvl="0" indent="0" algn="l" rtl="0">
              <a:spcBef>
                <a:spcPts val="0"/>
              </a:spcBef>
              <a:spcAft>
                <a:spcPts val="0"/>
              </a:spcAft>
              <a:buNone/>
            </a:pPr>
            <a:r>
              <a:rPr lang="en-US"/>
              <a:t>We also observed that all poutcome with unknown values also had:</a:t>
            </a:r>
            <a:endParaRPr/>
          </a:p>
          <a:p>
            <a:pPr marL="457200" lvl="0" indent="-317500" algn="l" rtl="0">
              <a:spcBef>
                <a:spcPts val="0"/>
              </a:spcBef>
              <a:spcAft>
                <a:spcPts val="0"/>
              </a:spcAft>
              <a:buSzPts val="1400"/>
              <a:buChar char="-"/>
            </a:pPr>
            <a:r>
              <a:rPr lang="en-US"/>
              <a:t>pday (representing the number of days that passed after the client was last contacted) as -1 (which means that client was never contacted) and </a:t>
            </a:r>
            <a:endParaRPr/>
          </a:p>
          <a:p>
            <a:pPr marL="457200" lvl="0" indent="-317500" algn="l" rtl="0">
              <a:spcBef>
                <a:spcPts val="0"/>
              </a:spcBef>
              <a:spcAft>
                <a:spcPts val="0"/>
              </a:spcAft>
              <a:buSzPts val="1400"/>
              <a:buChar char="-"/>
            </a:pPr>
            <a:r>
              <a:rPr lang="en-US"/>
              <a:t>previous (Number of contacts performed before this campaign) as 0 (which means the client had no contact from the bank in the last campaign). </a:t>
            </a:r>
            <a:endParaRPr/>
          </a:p>
          <a:p>
            <a:pPr marL="0" lvl="0" indent="0" algn="l" rtl="0">
              <a:spcBef>
                <a:spcPts val="0"/>
              </a:spcBef>
              <a:spcAft>
                <a:spcPts val="0"/>
              </a:spcAft>
              <a:buNone/>
            </a:pPr>
            <a:r>
              <a:rPr lang="en-US"/>
              <a:t>Therefore, despite the number of unknowns in Poutcome, we believe that there is a chance that these clients could also be potential subscribers. </a:t>
            </a:r>
            <a:endParaRPr/>
          </a:p>
          <a:p>
            <a:pPr marL="0" lvl="0" indent="0" algn="l" rtl="0">
              <a:spcBef>
                <a:spcPts val="0"/>
              </a:spcBef>
              <a:spcAft>
                <a:spcPts val="0"/>
              </a:spcAft>
              <a:buNone/>
            </a:pPr>
            <a:endParaRPr/>
          </a:p>
          <a:p>
            <a:pPr marL="0" lvl="0" indent="0" algn="l" rtl="0">
              <a:spcBef>
                <a:spcPts val="0"/>
              </a:spcBef>
              <a:spcAft>
                <a:spcPts val="0"/>
              </a:spcAft>
              <a:buNone/>
            </a:pPr>
            <a:r>
              <a:rPr lang="en-US" b="1"/>
              <a:t>Figure 1:</a:t>
            </a:r>
            <a:r>
              <a:rPr lang="en-US"/>
              <a:t> This graph shows that for the (method of) contact attribute, the “unknowns” have significantly a lower success rate than cellphone and telephone, meaning that the contact attribute is a strong predictor of success. </a:t>
            </a:r>
            <a:endParaRPr/>
          </a:p>
          <a:p>
            <a:pPr marL="0" lvl="0" indent="0" algn="l" rtl="0">
              <a:spcBef>
                <a:spcPts val="0"/>
              </a:spcBef>
              <a:spcAft>
                <a:spcPts val="0"/>
              </a:spcAft>
              <a:buClr>
                <a:schemeClr val="dk1"/>
              </a:buClr>
              <a:buFont typeface="Arial"/>
              <a:buNone/>
            </a:pPr>
            <a:r>
              <a:rPr lang="en-US" b="1"/>
              <a:t>Figure 2: </a:t>
            </a:r>
            <a:r>
              <a:rPr lang="en-US"/>
              <a:t>This graph helps visualize the number of unknowns in Poutcome</a:t>
            </a:r>
            <a:endParaRPr/>
          </a:p>
        </p:txBody>
      </p:sp>
      <p:sp>
        <p:nvSpPr>
          <p:cNvPr id="131" name="Google Shape;131;g3d76881612a_0_1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Step 3 — Data Inspection: </a:t>
            </a:r>
            <a:r>
              <a:rPr lang="en-US"/>
              <a:t>Attribute inspections by using visualizations of basic statistics e.g, distributions.</a:t>
            </a:r>
            <a:endParaRPr/>
          </a:p>
          <a:p>
            <a:pPr marL="0" lvl="0" indent="0" algn="l" rtl="0">
              <a:spcBef>
                <a:spcPts val="0"/>
              </a:spcBef>
              <a:spcAft>
                <a:spcPts val="0"/>
              </a:spcAft>
              <a:buSzPts val="1100"/>
              <a:buNone/>
            </a:pPr>
            <a:r>
              <a:rPr lang="en-US"/>
              <a:t>Another attribute we explored is the age and yearly balance. As the values in both these columns vary, we decided that putting them into defined groups would assist in our model training to yield a better performance. </a:t>
            </a:r>
            <a:endParaRPr/>
          </a:p>
          <a:p>
            <a:pPr marL="0" lvl="0" indent="0" algn="l" rtl="0">
              <a:spcBef>
                <a:spcPts val="0"/>
              </a:spcBef>
              <a:spcAft>
                <a:spcPts val="0"/>
              </a:spcAft>
              <a:buSzPts val="1100"/>
              <a:buNone/>
            </a:pPr>
            <a:r>
              <a:rPr lang="en-US"/>
              <a:t>Our age groups are:</a:t>
            </a:r>
            <a:endParaRPr/>
          </a:p>
          <a:p>
            <a:pPr marL="457200" lvl="0" indent="-317500" algn="l" rtl="0">
              <a:spcBef>
                <a:spcPts val="0"/>
              </a:spcBef>
              <a:spcAft>
                <a:spcPts val="0"/>
              </a:spcAft>
              <a:buSzPts val="1400"/>
              <a:buChar char="-"/>
            </a:pPr>
            <a:r>
              <a:rPr lang="en-US"/>
              <a:t>Young (less than 30 years old)</a:t>
            </a:r>
            <a:endParaRPr/>
          </a:p>
          <a:p>
            <a:pPr marL="457200" lvl="0" indent="-317500" algn="l" rtl="0">
              <a:spcBef>
                <a:spcPts val="0"/>
              </a:spcBef>
              <a:spcAft>
                <a:spcPts val="0"/>
              </a:spcAft>
              <a:buSzPts val="1400"/>
              <a:buChar char="-"/>
            </a:pPr>
            <a:r>
              <a:rPr lang="en-US"/>
              <a:t>Early Mid (ages 30 to 45)</a:t>
            </a:r>
            <a:endParaRPr/>
          </a:p>
          <a:p>
            <a:pPr marL="457200" lvl="0" indent="-317500" algn="l" rtl="0">
              <a:spcBef>
                <a:spcPts val="0"/>
              </a:spcBef>
              <a:spcAft>
                <a:spcPts val="0"/>
              </a:spcAft>
              <a:buSzPts val="1400"/>
              <a:buChar char="-"/>
            </a:pPr>
            <a:r>
              <a:rPr lang="en-US"/>
              <a:t>Late Mid (ages 46 to 60)</a:t>
            </a:r>
            <a:endParaRPr/>
          </a:p>
          <a:p>
            <a:pPr marL="457200" lvl="0" indent="-317500" algn="l" rtl="0">
              <a:spcBef>
                <a:spcPts val="0"/>
              </a:spcBef>
              <a:spcAft>
                <a:spcPts val="0"/>
              </a:spcAft>
              <a:buSzPts val="1400"/>
              <a:buChar char="-"/>
            </a:pPr>
            <a:r>
              <a:rPr lang="en-US"/>
              <a:t>Seniors (ages 61 or older)</a:t>
            </a:r>
            <a:endParaRPr/>
          </a:p>
          <a:p>
            <a:pPr marL="0" lvl="0" indent="0" algn="l" rtl="0">
              <a:spcBef>
                <a:spcPts val="0"/>
              </a:spcBef>
              <a:spcAft>
                <a:spcPts val="0"/>
              </a:spcAft>
              <a:buNone/>
            </a:pPr>
            <a:r>
              <a:rPr lang="en-US"/>
              <a:t>Our balance groups are: </a:t>
            </a:r>
            <a:endParaRPr/>
          </a:p>
          <a:p>
            <a:pPr marL="457200" lvl="0" indent="-317500" algn="l" rtl="0">
              <a:spcBef>
                <a:spcPts val="0"/>
              </a:spcBef>
              <a:spcAft>
                <a:spcPts val="0"/>
              </a:spcAft>
              <a:buSzPts val="1400"/>
              <a:buChar char="-"/>
            </a:pPr>
            <a:r>
              <a:rPr lang="en-US"/>
              <a:t>Negative (yearly balance of less than 0)</a:t>
            </a:r>
            <a:endParaRPr/>
          </a:p>
          <a:p>
            <a:pPr marL="457200" lvl="0" indent="-317500" algn="l" rtl="0">
              <a:spcBef>
                <a:spcPts val="0"/>
              </a:spcBef>
              <a:spcAft>
                <a:spcPts val="0"/>
              </a:spcAft>
              <a:buSzPts val="1400"/>
              <a:buChar char="-"/>
            </a:pPr>
            <a:r>
              <a:rPr lang="en-US"/>
              <a:t>Low (yearly balance is between 0 to 5000)</a:t>
            </a:r>
            <a:endParaRPr/>
          </a:p>
          <a:p>
            <a:pPr marL="457200" lvl="0" indent="-317500" algn="l" rtl="0">
              <a:spcBef>
                <a:spcPts val="0"/>
              </a:spcBef>
              <a:spcAft>
                <a:spcPts val="0"/>
              </a:spcAft>
              <a:buSzPts val="1400"/>
              <a:buChar char="-"/>
            </a:pPr>
            <a:r>
              <a:rPr lang="en-US"/>
              <a:t>Medium (yearly balance is between 5001 to 10000)</a:t>
            </a:r>
            <a:endParaRPr/>
          </a:p>
          <a:p>
            <a:pPr marL="457200" lvl="0" indent="-317500" algn="l" rtl="0">
              <a:spcBef>
                <a:spcPts val="0"/>
              </a:spcBef>
              <a:spcAft>
                <a:spcPts val="0"/>
              </a:spcAft>
              <a:buSzPts val="1400"/>
              <a:buChar char="-"/>
            </a:pPr>
            <a:r>
              <a:rPr lang="en-US"/>
              <a:t>High (yearly balance is 10001 or more)</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b="1"/>
              <a:t>Figure 1: </a:t>
            </a:r>
            <a:r>
              <a:rPr lang="en-US"/>
              <a:t>Age Distribution in defined bins of Age Groups: young, early mid, late mid, and seniors</a:t>
            </a:r>
            <a:endParaRPr/>
          </a:p>
          <a:p>
            <a:pPr marL="0" lvl="0" indent="0" algn="l" rtl="0">
              <a:spcBef>
                <a:spcPts val="0"/>
              </a:spcBef>
              <a:spcAft>
                <a:spcPts val="0"/>
              </a:spcAft>
              <a:buClr>
                <a:schemeClr val="dk1"/>
              </a:buClr>
              <a:buSzPts val="1100"/>
              <a:buFont typeface="Arial"/>
              <a:buNone/>
            </a:pPr>
            <a:r>
              <a:rPr lang="en-US" b="1"/>
              <a:t>Figure 2: </a:t>
            </a:r>
            <a:r>
              <a:rPr lang="en-US"/>
              <a:t>Balance Distribution in defined bins of Balance Groups: negative, low, medium, and high</a:t>
            </a:r>
            <a:endParaRPr/>
          </a:p>
          <a:p>
            <a:pPr marL="0" lvl="0" indent="0" algn="l" rtl="0">
              <a:spcBef>
                <a:spcPts val="0"/>
              </a:spcBef>
              <a:spcAft>
                <a:spcPts val="0"/>
              </a:spcAft>
              <a:buClr>
                <a:schemeClr val="dk1"/>
              </a:buClr>
              <a:buSzPts val="1100"/>
              <a:buFont typeface="Arial"/>
              <a:buNone/>
            </a:pPr>
            <a:r>
              <a:rPr lang="en-US" b="1"/>
              <a:t>Figure 3: </a:t>
            </a:r>
            <a:r>
              <a:rPr lang="en-US"/>
              <a:t>Age vs. Yearly Balance </a:t>
            </a:r>
            <a:endParaRPr/>
          </a:p>
          <a:p>
            <a:pPr marL="0" lvl="0" indent="0" algn="l" rtl="0">
              <a:spcBef>
                <a:spcPts val="0"/>
              </a:spcBef>
              <a:spcAft>
                <a:spcPts val="0"/>
              </a:spcAft>
              <a:buNone/>
            </a:pPr>
            <a:endParaRPr/>
          </a:p>
        </p:txBody>
      </p:sp>
      <p:sp>
        <p:nvSpPr>
          <p:cNvPr id="140" name="Google Shape;140;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033cf40fb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e033cf40f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Step 4.1 — Measures of Central Tendency of Numerical Values</a:t>
            </a:r>
            <a:endParaRPr b="1"/>
          </a:p>
          <a:p>
            <a:pPr marL="0" lvl="0" indent="0" algn="l" rtl="0">
              <a:spcBef>
                <a:spcPts val="0"/>
              </a:spcBef>
              <a:spcAft>
                <a:spcPts val="0"/>
              </a:spcAft>
              <a:buSzPts val="1100"/>
              <a:buNone/>
            </a:pPr>
            <a:r>
              <a:rPr lang="en-US"/>
              <a:t>We looked at the measures of central tendency of the numerical features in our dataset, which we visualized using box plots in the next slide</a:t>
            </a:r>
            <a:endParaRPr/>
          </a:p>
          <a:p>
            <a:pPr marL="0" lvl="0" indent="0" algn="l" rtl="0">
              <a:spcBef>
                <a:spcPts val="0"/>
              </a:spcBef>
              <a:spcAft>
                <a:spcPts val="0"/>
              </a:spcAft>
              <a:buNone/>
            </a:pPr>
            <a:endParaRPr/>
          </a:p>
        </p:txBody>
      </p:sp>
      <p:sp>
        <p:nvSpPr>
          <p:cNvPr id="149" name="Google Shape;149;g3e033cf40fb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d582afb016_0_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g3d582afb016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Step 4.2 — Outlier Detection</a:t>
            </a:r>
            <a:endParaRPr b="1"/>
          </a:p>
          <a:p>
            <a:pPr marL="0" lvl="0" indent="0" algn="l" rtl="0">
              <a:spcBef>
                <a:spcPts val="0"/>
              </a:spcBef>
              <a:spcAft>
                <a:spcPts val="0"/>
              </a:spcAft>
              <a:buSzPts val="1100"/>
              <a:buNone/>
            </a:pPr>
            <a:r>
              <a:rPr lang="en-US"/>
              <a:t>We created box plots for all six numeric attributes and visualized results to examine outliers; to decide whether to keep them or remove them. </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b="1"/>
              <a:t>Findings by attribute:</a:t>
            </a:r>
            <a:endParaRPr b="1"/>
          </a:p>
          <a:p>
            <a:pPr marL="0" lvl="0" indent="0" algn="l" rtl="0">
              <a:spcBef>
                <a:spcPts val="0"/>
              </a:spcBef>
              <a:spcAft>
                <a:spcPts val="0"/>
              </a:spcAft>
              <a:buClr>
                <a:schemeClr val="dk1"/>
              </a:buClr>
              <a:buSzPts val="1100"/>
              <a:buFont typeface="Arial"/>
              <a:buNone/>
            </a:pPr>
            <a:r>
              <a:rPr lang="en-US" b="1"/>
              <a:t>age: </a:t>
            </a:r>
            <a:r>
              <a:rPr lang="en-US"/>
              <a:t>38 outliers — mostly older customers (above ~65); not severe, we decided to keep these because we believe that the outliers would help us train our model to recognize different age groups.</a:t>
            </a:r>
            <a:endParaRPr b="1"/>
          </a:p>
          <a:p>
            <a:pPr marL="0" lvl="0" indent="0" algn="l" rtl="0">
              <a:spcBef>
                <a:spcPts val="0"/>
              </a:spcBef>
              <a:spcAft>
                <a:spcPts val="0"/>
              </a:spcAft>
              <a:buClr>
                <a:schemeClr val="dk1"/>
              </a:buClr>
              <a:buSzPts val="1100"/>
              <a:buFont typeface="Arial"/>
              <a:buNone/>
            </a:pPr>
            <a:r>
              <a:rPr lang="en-US" b="1"/>
              <a:t>balance: </a:t>
            </a:r>
            <a:r>
              <a:rPr lang="en-US"/>
              <a:t>506 outliers — range −€3,313 to €71,188; highly right-skewed distribution with extreme high-yearly balance customers</a:t>
            </a:r>
            <a:endParaRPr/>
          </a:p>
          <a:p>
            <a:pPr marL="0" lvl="0" indent="0" algn="l" rtl="0">
              <a:spcBef>
                <a:spcPts val="0"/>
              </a:spcBef>
              <a:spcAft>
                <a:spcPts val="0"/>
              </a:spcAft>
              <a:buClr>
                <a:schemeClr val="dk1"/>
              </a:buClr>
              <a:buSzPts val="1100"/>
              <a:buFont typeface="Arial"/>
              <a:buNone/>
            </a:pPr>
            <a:r>
              <a:rPr lang="en-US" b="1"/>
              <a:t>pdays: </a:t>
            </a:r>
            <a:r>
              <a:rPr lang="en-US"/>
              <a:t>816 outliers — most customers were never previously contacted (value = −1); those who were contacted show a wide spread</a:t>
            </a:r>
            <a:endParaRPr/>
          </a:p>
          <a:p>
            <a:pPr marL="0" lvl="0" indent="0" algn="l" rtl="0">
              <a:spcBef>
                <a:spcPts val="0"/>
              </a:spcBef>
              <a:spcAft>
                <a:spcPts val="0"/>
              </a:spcAft>
              <a:buClr>
                <a:schemeClr val="dk1"/>
              </a:buClr>
              <a:buSzPts val="1100"/>
              <a:buFont typeface="Arial"/>
              <a:buNone/>
            </a:pPr>
            <a:r>
              <a:rPr lang="en-US" b="1"/>
              <a:t>previous: </a:t>
            </a:r>
            <a:r>
              <a:rPr lang="en-US"/>
              <a:t>816 outliers — most clients had zero prior contacts; a small group had up to 25 number of contacts.</a:t>
            </a:r>
            <a:endParaRPr/>
          </a:p>
          <a:p>
            <a:pPr marL="0" lvl="0" indent="0" algn="l" rtl="0">
              <a:spcBef>
                <a:spcPts val="0"/>
              </a:spcBef>
              <a:spcAft>
                <a:spcPts val="0"/>
              </a:spcAft>
              <a:buClr>
                <a:schemeClr val="dk1"/>
              </a:buClr>
              <a:buSzPts val="1100"/>
              <a:buFont typeface="Arial"/>
              <a:buNone/>
            </a:pPr>
            <a:r>
              <a:rPr lang="en-US"/>
              <a:t>(as mentioned previously, these two features are quite connected to Poutcome’s unknown value)</a:t>
            </a:r>
            <a:endParaRPr/>
          </a:p>
          <a:p>
            <a:pPr marL="0" lvl="0" indent="0" algn="l" rtl="0">
              <a:spcBef>
                <a:spcPts val="0"/>
              </a:spcBef>
              <a:spcAft>
                <a:spcPts val="0"/>
              </a:spcAft>
              <a:buClr>
                <a:schemeClr val="dk1"/>
              </a:buClr>
              <a:buSzPts val="1100"/>
              <a:buFont typeface="Arial"/>
              <a:buNone/>
            </a:pPr>
            <a:r>
              <a:rPr lang="en-US" b="1"/>
              <a:t>duration: </a:t>
            </a:r>
            <a:r>
              <a:rPr lang="en-US"/>
              <a:t>330 outliers — most calls are short, but some extend to over 3,000 seconds (50 min)</a:t>
            </a:r>
            <a:endParaRPr/>
          </a:p>
          <a:p>
            <a:pPr marL="0" lvl="0" indent="0" algn="l" rtl="0">
              <a:spcBef>
                <a:spcPts val="0"/>
              </a:spcBef>
              <a:spcAft>
                <a:spcPts val="0"/>
              </a:spcAft>
              <a:buClr>
                <a:schemeClr val="dk1"/>
              </a:buClr>
              <a:buSzPts val="1100"/>
              <a:buFont typeface="Arial"/>
              <a:buNone/>
            </a:pPr>
            <a:r>
              <a:rPr lang="en-US" b="1"/>
              <a:t>campaign: </a:t>
            </a:r>
            <a:r>
              <a:rPr lang="en-US"/>
              <a:t>318 outliers — most needed 1–3 contacts; a few required up to 50 (Campaign represents the number of contacts performed during the marketing campaign)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Ultimately, we decided to remove the 2 extreme outliers in the balance distribution, which helped us improve our model performance as this distribution was heavily skewed (as you will see in the next slide).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US" b="1"/>
              <a:t>Figure 4</a:t>
            </a:r>
            <a:r>
              <a:rPr lang="en-US"/>
              <a:t>: seven box plots, one per numeric attribute, with outlier counts annotated</a:t>
            </a:r>
            <a:endParaRPr/>
          </a:p>
          <a:p>
            <a:pPr marL="0" lvl="0" indent="0" algn="l" rtl="0">
              <a:spcBef>
                <a:spcPts val="0"/>
              </a:spcBef>
              <a:spcAft>
                <a:spcPts val="0"/>
              </a:spcAft>
              <a:buClr>
                <a:schemeClr val="dk1"/>
              </a:buClr>
              <a:buFont typeface="Arial"/>
              <a:buNone/>
            </a:pPr>
            <a:r>
              <a:rPr lang="en-US" b="1"/>
              <a:t>Figure 5</a:t>
            </a:r>
            <a:r>
              <a:rPr lang="en-US"/>
              <a:t>: seven box plots, one per numeric attribute, with outliers removed</a:t>
            </a:r>
            <a:endParaRPr/>
          </a:p>
        </p:txBody>
      </p:sp>
      <p:sp>
        <p:nvSpPr>
          <p:cNvPr id="156" name="Google Shape;156;g3d582afb016_0_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73ee0b740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d73ee0b740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Step 5 — Log Transformation: Balance</a:t>
            </a:r>
            <a:endParaRPr/>
          </a:p>
          <a:p>
            <a:pPr marL="0" lvl="0" indent="0" algn="l" rtl="0">
              <a:spcBef>
                <a:spcPts val="0"/>
              </a:spcBef>
              <a:spcAft>
                <a:spcPts val="0"/>
              </a:spcAft>
              <a:buSzPts val="1100"/>
              <a:buNone/>
            </a:pPr>
            <a:r>
              <a:rPr lang="en-US"/>
              <a:t>Unlike the Decision Tree, the Naïve Bayes model relies on Gaussian probability (the Bell Curve). When we explored our data, we found that financial attributes like balance were heavily right-skewed. If we fed the raw balance data to the Naïve Bayes model, it would struggle. So, we applied the Log Transformation to the balance distribution to normalize the skewed data as it pulls the extreme outliers in and creates a much more "normal" bell curve shape. Therefore, this would meet the normality assumption for the Gaussian Naïve Bayes Model.</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We also applied log transformation to Duration. </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b="1"/>
              <a:t>Figure 6:</a:t>
            </a:r>
            <a:r>
              <a:rPr lang="en-US"/>
              <a:t> “balance” attribute before and after Log Transformation for the Naïve Bayes Model.</a:t>
            </a:r>
            <a:endParaRPr/>
          </a:p>
        </p:txBody>
      </p:sp>
      <p:sp>
        <p:nvSpPr>
          <p:cNvPr id="164" name="Google Shape;164;g3d73ee0b740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582afb016_0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d582afb016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b="1"/>
              <a:t>Step 6a — Feature Relevance Analysis (Correlation review)</a:t>
            </a:r>
            <a:endParaRPr b="1"/>
          </a:p>
          <a:p>
            <a:pPr marL="0" lvl="0" indent="0" algn="l" rtl="0">
              <a:spcBef>
                <a:spcPts val="0"/>
              </a:spcBef>
              <a:spcAft>
                <a:spcPts val="0"/>
              </a:spcAft>
              <a:buNone/>
            </a:pPr>
            <a:r>
              <a:rPr lang="en-US"/>
              <a:t>The correlation heatmap is computed on the fully prepared and cleaned dataframe (df_model in our python file), which contains a total of 29 features after one-hot encoding of nominal variables (job, contact, poutcome), ordinal mapping (education, month, marital, age_group, balance_group), binary mapping (default, housing, loan, subscription), and log transformation of balance and duration. These were necessary steps as machine learning models required numerical inputs. Age, balance, and duration are dropped from the model to prevent double-counting with their encoded/transformed counterparts. </a:t>
            </a:r>
            <a:endParaRPr/>
          </a:p>
          <a:p>
            <a:pPr marL="0" lvl="0" indent="0" algn="l" rtl="0">
              <a:spcBef>
                <a:spcPts val="0"/>
              </a:spcBef>
              <a:spcAft>
                <a:spcPts val="0"/>
              </a:spcAft>
              <a:buNone/>
            </a:pPr>
            <a:endParaRPr/>
          </a:p>
          <a:p>
            <a:pPr marL="0" lvl="0" indent="0" algn="l" rtl="0">
              <a:spcBef>
                <a:spcPts val="0"/>
              </a:spcBef>
              <a:spcAft>
                <a:spcPts val="0"/>
              </a:spcAft>
              <a:buNone/>
            </a:pPr>
            <a:r>
              <a:rPr lang="en-US" b="1"/>
              <a:t>Our Findings:</a:t>
            </a:r>
            <a:endParaRPr b="1"/>
          </a:p>
          <a:p>
            <a:pPr marL="0" lvl="0" indent="0" algn="l" rtl="0">
              <a:spcBef>
                <a:spcPts val="0"/>
              </a:spcBef>
              <a:spcAft>
                <a:spcPts val="0"/>
              </a:spcAft>
              <a:buClr>
                <a:schemeClr val="dk1"/>
              </a:buClr>
              <a:buSzPts val="1100"/>
              <a:buFont typeface="Arial"/>
              <a:buNone/>
            </a:pPr>
            <a:r>
              <a:rPr lang="en-US" b="1"/>
              <a:t>Notable inter-feature correlations from the heatmap:</a:t>
            </a:r>
            <a:endParaRPr b="1"/>
          </a:p>
          <a:p>
            <a:pPr marL="457200" lvl="0" indent="-317500" algn="l" rtl="0">
              <a:spcBef>
                <a:spcPts val="0"/>
              </a:spcBef>
              <a:spcAft>
                <a:spcPts val="0"/>
              </a:spcAft>
              <a:buSzPts val="1400"/>
              <a:buChar char="●"/>
            </a:pPr>
            <a:r>
              <a:rPr lang="en-US"/>
              <a:t>pdays and previous are strongly correlated with each other (r ≈ 0.45) — both captured prior campaign contact history and are partially redundant</a:t>
            </a:r>
            <a:endParaRPr/>
          </a:p>
          <a:p>
            <a:pPr marL="914400" lvl="1" indent="-317500" algn="l" rtl="0">
              <a:spcBef>
                <a:spcPts val="0"/>
              </a:spcBef>
              <a:spcAft>
                <a:spcPts val="0"/>
              </a:spcAft>
              <a:buSzPts val="1400"/>
              <a:buChar char="○"/>
            </a:pPr>
            <a:r>
              <a:rPr lang="en-US"/>
              <a:t>As mentioned before, this could be due to the vast number of unknowns in poutcome. We observed that for all 3,705 entries of poutcome that are unknown, pday = -1 (not contacted) and previous is 0 (no contact).</a:t>
            </a:r>
            <a:endParaRPr/>
          </a:p>
          <a:p>
            <a:pPr marL="457200" lvl="0" indent="-317500" algn="l" rtl="0">
              <a:spcBef>
                <a:spcPts val="0"/>
              </a:spcBef>
              <a:spcAft>
                <a:spcPts val="0"/>
              </a:spcAft>
              <a:buSzPts val="1400"/>
              <a:buChar char="●"/>
            </a:pPr>
            <a:r>
              <a:rPr lang="en-US"/>
              <a:t>contact and month show moderate correlation — campaign timing and contact method are linked</a:t>
            </a:r>
            <a:endParaRPr/>
          </a:p>
          <a:p>
            <a:pPr marL="457200" lvl="0" indent="-317500" algn="l" rtl="0">
              <a:spcBef>
                <a:spcPts val="0"/>
              </a:spcBef>
              <a:spcAft>
                <a:spcPts val="0"/>
              </a:spcAft>
              <a:buSzPts val="1400"/>
              <a:buChar char="●"/>
            </a:pPr>
            <a:r>
              <a:rPr lang="en-US"/>
              <a:t>No severe multicollinearity issues among the remaining features</a:t>
            </a:r>
            <a:endParaRPr b="1"/>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 correlation findings contribute directly into the 4-method Voting Consensus feature selection (covered in the Bonus slides), where correlation rankings will be combined with features that were determined to be important by the Decision Tree Gini Importance, Naïve Bayes Permutation Importance, and Chi-Square scores to produce the final 13-feature set for our machine learning model.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US" b="1"/>
              <a:t>Figure 7:</a:t>
            </a:r>
            <a:r>
              <a:rPr lang="en-US"/>
              <a:t> a. full heatmap (includes columns created from one-hot encoding of categorical features) b. target correlation bar chart</a:t>
            </a:r>
            <a:endParaRPr/>
          </a:p>
        </p:txBody>
      </p:sp>
      <p:sp>
        <p:nvSpPr>
          <p:cNvPr id="171" name="Google Shape;171;g3d582afb016_0_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1100"/>
              <a:buNone/>
            </a:pPr>
            <a:r>
              <a:rPr lang="en-US"/>
              <a:t>- We chose an 80/20 train-test split over a 70/30 because we needed to maximize our training data while still holding out a robust 900+ record test set.</a:t>
            </a:r>
            <a:br>
              <a:rPr lang="en-US"/>
            </a:br>
            <a:r>
              <a:rPr lang="en-US"/>
              <a:t>- More importantly, we used stratified sampling. Given our severe 88.5% to 11.5% class imbalance, a random split could easily result in a test set with barely any actual subscribers. Stratifying guaranteed that our 11.5% minority class was perfectly preserved across both sets so our evaluations reflect reality</a:t>
            </a:r>
            <a:endParaRPr/>
          </a:p>
        </p:txBody>
      </p:sp>
      <p:sp>
        <p:nvSpPr>
          <p:cNvPr id="179" name="Google Shape;179;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d582afb016_0_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d582afb016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We trained our baseline Decision Tree using all 29 prepared features, balanced class weights, and a max depth of 5 to prevent overfitting. The tree immediately showed us what matters: log_duration is the top feature accounting for 63% of the total information gain.</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Secondary splits branch off contact type and prior campaign success. Just as importantly, the tree ignored features like housing, loans, and age groups entirely—proving they add zero discriminating power once you know how long the call lasted.</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b="1"/>
              <a:t>Model: </a:t>
            </a:r>
            <a:r>
              <a:rPr lang="en-US"/>
              <a:t>DecisionTreeClassifier, max_depth = 5, class_weight = 'balanced', random_state = 42.</a:t>
            </a:r>
            <a:endParaRPr/>
          </a:p>
          <a:p>
            <a:pPr marL="0" lvl="0" indent="0" algn="l" rtl="0">
              <a:spcBef>
                <a:spcPts val="0"/>
              </a:spcBef>
              <a:spcAft>
                <a:spcPts val="0"/>
              </a:spcAft>
              <a:buClr>
                <a:schemeClr val="dk1"/>
              </a:buClr>
              <a:buSzPts val="1100"/>
              <a:buFont typeface="Arial"/>
              <a:buNone/>
            </a:pPr>
            <a:r>
              <a:rPr lang="en-US"/>
              <a:t>Trained on the full prepared feature set of 29 attributes after one-hot encoding, binning, ordinal mapping, and log transformation.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b="1"/>
              <a:t>How the tree makes decisions — key rules (baseline model):</a:t>
            </a:r>
            <a:endParaRPr b="1"/>
          </a:p>
          <a:p>
            <a:pPr marL="0" lvl="0" indent="0" algn="l" rtl="0">
              <a:spcBef>
                <a:spcPts val="0"/>
              </a:spcBef>
              <a:spcAft>
                <a:spcPts val="0"/>
              </a:spcAft>
              <a:buClr>
                <a:schemeClr val="dk1"/>
              </a:buClr>
              <a:buSzPts val="1100"/>
              <a:buFont typeface="Arial"/>
              <a:buNone/>
            </a:pPr>
            <a:r>
              <a:rPr lang="en-US"/>
              <a:t>The root split is on log_duration — </a:t>
            </a:r>
            <a:r>
              <a:rPr lang="en-US" u="sng"/>
              <a:t>the log-transformed call duration is by far the dominant split criterion, accounting for 62.8% of total feature importance.</a:t>
            </a:r>
            <a:r>
              <a:rPr lang="en-US"/>
              <a:t> The second-level splits use contact_unknown (10.9%) and poutcome_success (9.4%) — customers contacted by an unknown method or with a prior successful campaign outcome follow different decision paths. Deeper nodes use month (6.0%), day (3.7%), marital (2.4%), and job_blue-collar (2.0%) as secondary discriminators.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SzPts val="1100"/>
              <a:buNone/>
            </a:pPr>
            <a:r>
              <a:rPr lang="en-US" b="1"/>
              <a:t>Features with zero importance in the baseline tree include: </a:t>
            </a:r>
            <a:r>
              <a:rPr lang="en-US"/>
              <a:t>default, balance_group, age_group, campaign, loan, housing, and several job dummies — confirming these add no discriminating power once log_duration and contact type are known.</a:t>
            </a:r>
            <a:endParaRPr/>
          </a:p>
        </p:txBody>
      </p:sp>
      <p:sp>
        <p:nvSpPr>
          <p:cNvPr id="186" name="Google Shape;186;g3d582afb016_0_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73ee0b74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d73ee0b74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For our Naïve Bayes baseline, we had to address its reliance on Gaussian probability. Naïve Bayes assumes independent, normally distributed features."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 Key Insight: "This is exactly why the log transformations on balance and call duration was necessary. The original right-skewed data would have completely broken the model. After transformation, our permutation importance confirmed the Decision Tree's findings: past campaign success and call duration are our strongest signals</a:t>
            </a:r>
            <a:br>
              <a:rPr lang="en-US"/>
            </a:br>
            <a:br>
              <a:rPr lang="en-US"/>
            </a:br>
            <a:r>
              <a:rPr lang="en-US"/>
              <a:t>The Naïve Bayes model uses Gaussian probability — it models each feature's distribution separately for the "yes" and "no" classes, then combines them using Bayes' theorem. Because the model assumes feature independence, it is sensitive to the shape of each feature's distribution.</a:t>
            </a:r>
            <a:endParaRPr/>
          </a:p>
          <a:p>
            <a:pPr marL="0" lvl="0" indent="0" algn="l" rtl="0">
              <a:spcBef>
                <a:spcPts val="0"/>
              </a:spcBef>
              <a:spcAft>
                <a:spcPts val="0"/>
              </a:spcAft>
              <a:buClr>
                <a:schemeClr val="dk1"/>
              </a:buClr>
              <a:buSzPts val="1100"/>
              <a:buFont typeface="Arial"/>
              <a:buNone/>
            </a:pPr>
            <a:r>
              <a:rPr lang="en-US" b="1"/>
              <a:t>That is why log transformation of balance and duration was critical: </a:t>
            </a:r>
            <a:r>
              <a:rPr lang="en-US"/>
              <a:t>the original distributions were heavily right-skewed, which would cause the Gaussian assumption to fail. After log transformation, the distributions are closer to normal, allowing the NB model to compute meaningful conditional probabilities.</a:t>
            </a:r>
            <a:endParaRPr/>
          </a:p>
          <a:p>
            <a:pPr marL="0" lvl="0" indent="0" algn="l" rtl="0">
              <a:spcBef>
                <a:spcPts val="0"/>
              </a:spcBef>
              <a:spcAft>
                <a:spcPts val="0"/>
              </a:spcAft>
              <a:buClr>
                <a:schemeClr val="dk1"/>
              </a:buClr>
              <a:buSzPts val="1100"/>
              <a:buFont typeface="Arial"/>
              <a:buNone/>
            </a:pPr>
            <a:r>
              <a:rPr lang="en-US" b="1"/>
              <a:t>Class priors learned from training data:</a:t>
            </a:r>
            <a:endParaRPr b="1"/>
          </a:p>
          <a:p>
            <a:pPr marL="0" lvl="0" indent="0" algn="l" rtl="0">
              <a:spcBef>
                <a:spcPts val="0"/>
              </a:spcBef>
              <a:spcAft>
                <a:spcPts val="0"/>
              </a:spcAft>
              <a:buClr>
                <a:schemeClr val="dk1"/>
              </a:buClr>
              <a:buSzPts val="1100"/>
              <a:buFont typeface="Arial"/>
              <a:buNone/>
            </a:pPr>
            <a:r>
              <a:rPr lang="en-US"/>
              <a:t>P(y = no) = 0.8847</a:t>
            </a:r>
            <a:endParaRPr/>
          </a:p>
          <a:p>
            <a:pPr marL="0" lvl="0" indent="0" algn="l" rtl="0">
              <a:spcBef>
                <a:spcPts val="0"/>
              </a:spcBef>
              <a:spcAft>
                <a:spcPts val="0"/>
              </a:spcAft>
              <a:buClr>
                <a:schemeClr val="dk1"/>
              </a:buClr>
              <a:buSzPts val="1100"/>
              <a:buFont typeface="Arial"/>
              <a:buNone/>
            </a:pPr>
            <a:r>
              <a:rPr lang="en-US"/>
              <a:t>P(y = yes) = 0.1153</a:t>
            </a:r>
            <a:endParaRPr/>
          </a:p>
          <a:p>
            <a:pPr marL="0" lvl="0" indent="0" algn="l" rtl="0">
              <a:spcBef>
                <a:spcPts val="0"/>
              </a:spcBef>
              <a:spcAft>
                <a:spcPts val="0"/>
              </a:spcAft>
              <a:buClr>
                <a:schemeClr val="dk1"/>
              </a:buClr>
              <a:buSzPts val="1100"/>
              <a:buFont typeface="Arial"/>
              <a:buNone/>
            </a:pPr>
            <a:r>
              <a:rPr lang="en-US" u="sng"/>
              <a:t>The permutation importance table above shows which features, when shuffled randomly, cause the largest drop in model accuracy — confirming that poutcome_success and log_duration are the two most critical features for the Naive Bayes model, consistent with the Decision Tree findings.</a:t>
            </a:r>
            <a:r>
              <a:rPr lang="en-US"/>
              <a:t> Features with negative permutation importance (contact_unknown, poutcome_unknown, month) actually hurt the Naive Bayes model and are candidates for removal.</a:t>
            </a:r>
            <a:endParaRPr/>
          </a:p>
          <a:p>
            <a:pPr marL="0" lvl="0" indent="0" algn="l" rtl="0">
              <a:spcBef>
                <a:spcPts val="0"/>
              </a:spcBef>
              <a:spcAft>
                <a:spcPts val="0"/>
              </a:spcAft>
              <a:buSzPts val="1100"/>
              <a:buNone/>
            </a:pPr>
            <a:endParaRPr/>
          </a:p>
        </p:txBody>
      </p:sp>
      <p:sp>
        <p:nvSpPr>
          <p:cNvPr id="193" name="Google Shape;193;g3d73ee0b740_0_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75a7bc5b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75a7bc5b2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b="1"/>
              <a:t>Best model depends on priority:</a:t>
            </a:r>
            <a:endParaRPr b="1"/>
          </a:p>
          <a:p>
            <a:pPr marL="0" lvl="0" indent="0" algn="l" rtl="0">
              <a:lnSpc>
                <a:spcPct val="115000"/>
              </a:lnSpc>
              <a:spcBef>
                <a:spcPts val="0"/>
              </a:spcBef>
              <a:spcAft>
                <a:spcPts val="0"/>
              </a:spcAft>
              <a:buClr>
                <a:schemeClr val="dk1"/>
              </a:buClr>
              <a:buSzPts val="1100"/>
              <a:buFont typeface="Arial"/>
              <a:buNone/>
            </a:pPr>
            <a:r>
              <a:rPr lang="en-US" b="1"/>
              <a:t>Highest accuracy: </a:t>
            </a:r>
            <a:r>
              <a:rPr lang="en-US"/>
              <a:t>NB Selected — 87.17%</a:t>
            </a:r>
            <a:endParaRPr/>
          </a:p>
          <a:p>
            <a:pPr marL="0" lvl="0" indent="0" algn="l" rtl="0">
              <a:lnSpc>
                <a:spcPct val="115000"/>
              </a:lnSpc>
              <a:spcBef>
                <a:spcPts val="0"/>
              </a:spcBef>
              <a:spcAft>
                <a:spcPts val="0"/>
              </a:spcAft>
              <a:buClr>
                <a:schemeClr val="dk1"/>
              </a:buClr>
              <a:buSzPts val="1100"/>
              <a:buFont typeface="Arial"/>
              <a:buNone/>
            </a:pPr>
            <a:r>
              <a:rPr lang="en-US" b="1"/>
              <a:t>Highest TPR</a:t>
            </a:r>
            <a:r>
              <a:rPr lang="en-US"/>
              <a:t> — </a:t>
            </a:r>
            <a:r>
              <a:rPr lang="en-US" b="1"/>
              <a:t>best at catching subscribers:</a:t>
            </a:r>
            <a:r>
              <a:rPr lang="en-US"/>
              <a:t> DT Selected — 84.62%, correctly identifies the most actual "yes" customers</a:t>
            </a:r>
            <a:endParaRPr/>
          </a:p>
          <a:p>
            <a:pPr marL="0" lvl="0" indent="0" algn="l" rtl="0">
              <a:lnSpc>
                <a:spcPct val="115000"/>
              </a:lnSpc>
              <a:spcBef>
                <a:spcPts val="0"/>
              </a:spcBef>
              <a:spcAft>
                <a:spcPts val="0"/>
              </a:spcAft>
              <a:buClr>
                <a:schemeClr val="dk1"/>
              </a:buClr>
              <a:buSzPts val="1100"/>
              <a:buFont typeface="Arial"/>
              <a:buNone/>
            </a:pPr>
            <a:r>
              <a:rPr lang="en-US" b="1"/>
              <a:t>Best FPR</a:t>
            </a:r>
            <a:r>
              <a:rPr lang="en-US"/>
              <a:t> — </a:t>
            </a:r>
            <a:r>
              <a:rPr lang="en-US" b="1"/>
              <a:t>fewest wasted calls: </a:t>
            </a:r>
            <a:r>
              <a:rPr lang="en-US"/>
              <a:t>NB Selected — 6.38%</a:t>
            </a:r>
            <a:endParaRPr/>
          </a:p>
          <a:p>
            <a:pPr marL="0" lvl="0" indent="0" algn="l" rtl="0">
              <a:lnSpc>
                <a:spcPct val="115000"/>
              </a:lnSpc>
              <a:spcBef>
                <a:spcPts val="0"/>
              </a:spcBef>
              <a:spcAft>
                <a:spcPts val="0"/>
              </a:spcAft>
              <a:buClr>
                <a:schemeClr val="dk1"/>
              </a:buClr>
              <a:buSzPts val="1100"/>
              <a:buFont typeface="Arial"/>
              <a:buNone/>
            </a:pPr>
            <a:r>
              <a:rPr lang="en-US" b="1"/>
              <a:t>Best F1 balance:</a:t>
            </a:r>
            <a:r>
              <a:rPr lang="en-US"/>
              <a:t> DT Optimized (Consensus) — 0.4518</a:t>
            </a:r>
            <a:endParaRPr/>
          </a:p>
          <a:p>
            <a:pPr marL="0" lvl="0" indent="0" algn="l" rtl="0">
              <a:lnSpc>
                <a:spcPct val="115000"/>
              </a:lnSpc>
              <a:spcBef>
                <a:spcPts val="0"/>
              </a:spcBef>
              <a:spcAft>
                <a:spcPts val="0"/>
              </a:spcAft>
              <a:buNone/>
            </a:pPr>
            <a:r>
              <a:rPr lang="en-US" b="1"/>
              <a:t>Critical note on accuracy: </a:t>
            </a:r>
            <a:r>
              <a:rPr lang="en-US"/>
              <a:t>Given the 88.5% class imbalance, a model that always predicts "no" would achieve 88.5% accuracy without learning anything.</a:t>
            </a:r>
            <a:r>
              <a:rPr lang="en-US" u="sng"/>
              <a:t> Accuracy alone is therefore misleading. </a:t>
            </a:r>
            <a:r>
              <a:rPr lang="en-US"/>
              <a:t>TPR and FPR are the decisive metrics — the bank's goal is to identify as many subscribers as possible (high TPR) while minimising wasted calls to non-subscribers (low FPR). The team produced six trained models in total — two baselines, two on the 13 features from DT importance, and two on the 13 Voting Consensus features — enabling a comprehensive comparison across all strategies.</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US" sz="1100" b="1">
                <a:latin typeface="Arial"/>
                <a:ea typeface="Arial"/>
                <a:cs typeface="Arial"/>
                <a:sym typeface="Arial"/>
              </a:rPr>
              <a:t>What to say:</a:t>
            </a:r>
            <a:r>
              <a:rPr lang="en-US" sz="1100">
                <a:latin typeface="Arial"/>
                <a:ea typeface="Arial"/>
                <a:cs typeface="Arial"/>
                <a:sym typeface="Arial"/>
              </a:rPr>
              <a:t> "Before we compare models, we need to talk about metrics. In a dataset where 88.5% of people say 'no', an accuracy score is a trap. A model that blindly predicts 'no' every time is technically 88.5% accurate, but utterly useless to the bank."</a:t>
            </a:r>
            <a:endParaRPr sz="1100">
              <a:latin typeface="Arial"/>
              <a:ea typeface="Arial"/>
              <a:cs typeface="Arial"/>
              <a:sym typeface="Arial"/>
            </a:endParaRPr>
          </a:p>
          <a:p>
            <a:pPr marL="0" lvl="0" indent="0" algn="l" rtl="0">
              <a:lnSpc>
                <a:spcPct val="115000"/>
              </a:lnSpc>
              <a:spcBef>
                <a:spcPts val="0"/>
              </a:spcBef>
              <a:spcAft>
                <a:spcPts val="0"/>
              </a:spcAft>
              <a:buNone/>
            </a:pPr>
            <a:r>
              <a:rPr lang="en-US" sz="1100" b="1">
                <a:latin typeface="Arial"/>
                <a:ea typeface="Arial"/>
                <a:cs typeface="Arial"/>
                <a:sym typeface="Arial"/>
              </a:rPr>
              <a:t>The Metric Breakdown:</a:t>
            </a:r>
            <a:r>
              <a:rPr lang="en-US" sz="1100">
                <a:latin typeface="Arial"/>
                <a:ea typeface="Arial"/>
                <a:cs typeface="Arial"/>
                <a:sym typeface="Arial"/>
              </a:rPr>
              <a:t> * "</a:t>
            </a:r>
            <a:r>
              <a:rPr lang="en-US" sz="1100" b="1">
                <a:latin typeface="Arial"/>
                <a:ea typeface="Arial"/>
                <a:cs typeface="Arial"/>
                <a:sym typeface="Arial"/>
              </a:rPr>
              <a:t>Recall (or True Positive Rate):</a:t>
            </a:r>
            <a:r>
              <a:rPr lang="en-US" sz="1100">
                <a:latin typeface="Arial"/>
                <a:ea typeface="Arial"/>
                <a:cs typeface="Arial"/>
                <a:sym typeface="Arial"/>
              </a:rPr>
              <a:t> This is our revenue driver. Out of all actual subscribers, how many did we catch?"</a:t>
            </a:r>
            <a:endParaRPr sz="1100">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a:t>
            </a:r>
            <a:r>
              <a:rPr lang="en-US" sz="1100" b="1">
                <a:latin typeface="Arial"/>
                <a:ea typeface="Arial"/>
                <a:cs typeface="Arial"/>
                <a:sym typeface="Arial"/>
              </a:rPr>
              <a:t>False Positive Rate (FPR):</a:t>
            </a:r>
            <a:r>
              <a:rPr lang="en-US" sz="1100">
                <a:latin typeface="Arial"/>
                <a:ea typeface="Arial"/>
                <a:cs typeface="Arial"/>
                <a:sym typeface="Arial"/>
              </a:rPr>
              <a:t> This is our operational cost. How many non-subscribers are we wasting agent time calling?"</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a:t>
            </a:r>
            <a:r>
              <a:rPr lang="en-US" sz="1100" b="1">
                <a:latin typeface="Arial"/>
                <a:ea typeface="Arial"/>
                <a:cs typeface="Arial"/>
                <a:sym typeface="Arial"/>
              </a:rPr>
              <a:t>F1-Score:</a:t>
            </a:r>
            <a:r>
              <a:rPr lang="en-US" sz="1100">
                <a:latin typeface="Arial"/>
                <a:ea typeface="Arial"/>
                <a:cs typeface="Arial"/>
                <a:sym typeface="Arial"/>
              </a:rPr>
              <a:t> This is our primary balance metric, finding the harmonic mean between precision and recall."</a:t>
            </a:r>
            <a:endParaRPr/>
          </a:p>
        </p:txBody>
      </p:sp>
      <p:sp>
        <p:nvSpPr>
          <p:cNvPr id="200" name="Google Shape;200;g3d75a7bc5b2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58b86ffb3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d58b86ffb3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"Looking at the top 20 features across both baselines, you can see the consensus forming. We decided to trim the fat and run models using only the top 13 features identified by the Decision Tree.”</a:t>
            </a:r>
            <a:endParaRPr/>
          </a:p>
          <a:p>
            <a:pPr marL="0" lvl="0" indent="0" algn="l" rtl="0">
              <a:spcBef>
                <a:spcPts val="0"/>
              </a:spcBef>
              <a:spcAft>
                <a:spcPts val="0"/>
              </a:spcAft>
              <a:buClr>
                <a:schemeClr val="dk1"/>
              </a:buClr>
              <a:buSzPts val="1100"/>
              <a:buFont typeface="Arial"/>
              <a:buNone/>
            </a:pPr>
            <a:r>
              <a:rPr lang="en-US" b="1" u="sng"/>
              <a:t>Feature importances — DT Baseline (Gini / Information Gain):</a:t>
            </a:r>
            <a:endParaRPr b="1" u="sng"/>
          </a:p>
          <a:p>
            <a:pPr marL="457200" lvl="0" indent="-317500" algn="l" rtl="0">
              <a:spcBef>
                <a:spcPts val="0"/>
              </a:spcBef>
              <a:spcAft>
                <a:spcPts val="0"/>
              </a:spcAft>
              <a:buSzPts val="1400"/>
              <a:buChar char="-"/>
            </a:pPr>
            <a:r>
              <a:rPr lang="en-US" b="1"/>
              <a:t>log_duration: </a:t>
            </a:r>
            <a:r>
              <a:rPr lang="en-US"/>
              <a:t>62.8% — dominates the tree by a wide margin; the log-transformed call duration is the single most powerful predictor</a:t>
            </a:r>
            <a:endParaRPr/>
          </a:p>
          <a:p>
            <a:pPr marL="457200" lvl="0" indent="-317500" algn="l" rtl="0">
              <a:spcBef>
                <a:spcPts val="0"/>
              </a:spcBef>
              <a:spcAft>
                <a:spcPts val="0"/>
              </a:spcAft>
              <a:buSzPts val="1400"/>
              <a:buChar char="-"/>
            </a:pPr>
            <a:r>
              <a:rPr lang="en-US" b="1"/>
              <a:t>contact_unknown: </a:t>
            </a:r>
            <a:r>
              <a:rPr lang="en-US"/>
              <a:t>10.9% — whether the contact method is unknown is a strong negative signal</a:t>
            </a:r>
            <a:endParaRPr/>
          </a:p>
          <a:p>
            <a:pPr marL="457200" lvl="0" indent="-317500" algn="l" rtl="0">
              <a:spcBef>
                <a:spcPts val="0"/>
              </a:spcBef>
              <a:spcAft>
                <a:spcPts val="0"/>
              </a:spcAft>
              <a:buSzPts val="1400"/>
              <a:buChar char="-"/>
            </a:pPr>
            <a:r>
              <a:rPr lang="en-US" b="1"/>
              <a:t>poutcome_success: </a:t>
            </a:r>
            <a:r>
              <a:rPr lang="en-US"/>
              <a:t>9.4% — prior successful campaign outcome is the strongest categorical predictor</a:t>
            </a:r>
            <a:endParaRPr/>
          </a:p>
          <a:p>
            <a:pPr marL="457200" lvl="0" indent="-317500" algn="l" rtl="0">
              <a:spcBef>
                <a:spcPts val="0"/>
              </a:spcBef>
              <a:spcAft>
                <a:spcPts val="0"/>
              </a:spcAft>
              <a:buSzPts val="1400"/>
              <a:buChar char="-"/>
            </a:pPr>
            <a:r>
              <a:rPr lang="en-US" b="1"/>
              <a:t>month: </a:t>
            </a:r>
            <a:r>
              <a:rPr lang="en-US"/>
              <a:t>6.0% — campaign timing carries meaningful information</a:t>
            </a:r>
            <a:endParaRPr/>
          </a:p>
          <a:p>
            <a:pPr marL="457200" lvl="0" indent="-317500" algn="l" rtl="0">
              <a:spcBef>
                <a:spcPts val="0"/>
              </a:spcBef>
              <a:spcAft>
                <a:spcPts val="0"/>
              </a:spcAft>
              <a:buSzPts val="1400"/>
              <a:buChar char="-"/>
            </a:pPr>
            <a:r>
              <a:rPr lang="en-US" b="1"/>
              <a:t>day: </a:t>
            </a:r>
            <a:r>
              <a:rPr lang="en-US"/>
              <a:t>3.7% — day of the month contributes secondary signal</a:t>
            </a:r>
            <a:endParaRPr/>
          </a:p>
          <a:p>
            <a:pPr marL="457200" lvl="0" indent="-317500" algn="l" rtl="0">
              <a:spcBef>
                <a:spcPts val="0"/>
              </a:spcBef>
              <a:spcAft>
                <a:spcPts val="0"/>
              </a:spcAft>
              <a:buSzPts val="1400"/>
              <a:buChar char="-"/>
            </a:pPr>
            <a:r>
              <a:rPr lang="en-US" b="1"/>
              <a:t>marital: </a:t>
            </a:r>
            <a:r>
              <a:rPr lang="en-US"/>
              <a:t>2.4%</a:t>
            </a:r>
            <a:endParaRPr/>
          </a:p>
          <a:p>
            <a:pPr marL="457200" lvl="0" indent="-317500" algn="l" rtl="0">
              <a:spcBef>
                <a:spcPts val="0"/>
              </a:spcBef>
              <a:spcAft>
                <a:spcPts val="0"/>
              </a:spcAft>
              <a:buSzPts val="1400"/>
              <a:buChar char="-"/>
            </a:pPr>
            <a:r>
              <a:rPr lang="en-US" b="1"/>
              <a:t>job_blue-collar: </a:t>
            </a:r>
            <a:r>
              <a:rPr lang="en-US"/>
              <a:t>2.0%</a:t>
            </a:r>
            <a:endParaRPr/>
          </a:p>
          <a:p>
            <a:pPr marL="457200" lvl="0" indent="-317500" algn="l" rtl="0">
              <a:spcBef>
                <a:spcPts val="0"/>
              </a:spcBef>
              <a:spcAft>
                <a:spcPts val="0"/>
              </a:spcAft>
              <a:buSzPts val="1400"/>
              <a:buChar char="-"/>
            </a:pPr>
            <a:r>
              <a:rPr lang="en-US" b="1"/>
              <a:t>pdays: </a:t>
            </a:r>
            <a:r>
              <a:rPr lang="en-US"/>
              <a:t>1.4%</a:t>
            </a:r>
            <a:endParaRPr/>
          </a:p>
          <a:p>
            <a:pPr marL="457200" lvl="0" indent="-317500" algn="l" rtl="0">
              <a:spcBef>
                <a:spcPts val="0"/>
              </a:spcBef>
              <a:spcAft>
                <a:spcPts val="0"/>
              </a:spcAft>
              <a:buSzPts val="1400"/>
              <a:buChar char="-"/>
            </a:pPr>
            <a:r>
              <a:rPr lang="en-US" b="1"/>
              <a:t>All remaining features (default, balance_group, age_group, campaign, loan, housing, and most job dummies): </a:t>
            </a:r>
            <a:r>
              <a:rPr lang="en-US"/>
              <a:t>0% — contribute no information gain to the baseline tree</a:t>
            </a:r>
            <a:endParaRPr/>
          </a:p>
          <a:p>
            <a:pPr marL="0" lvl="0" indent="0" algn="l" rtl="0">
              <a:spcBef>
                <a:spcPts val="0"/>
              </a:spcBef>
              <a:spcAft>
                <a:spcPts val="0"/>
              </a:spcAft>
              <a:buClr>
                <a:schemeClr val="dk1"/>
              </a:buClr>
              <a:buSzPts val="1100"/>
              <a:buFont typeface="Arial"/>
              <a:buNone/>
            </a:pPr>
            <a:r>
              <a:rPr lang="en-US" b="1" u="sng"/>
              <a:t>Feature importances — DT Optimized (Consensus 13 features, Gini):</a:t>
            </a:r>
            <a:endParaRPr b="1" u="sng"/>
          </a:p>
          <a:p>
            <a:pPr marL="457200" lvl="0" indent="-317500" algn="l" rtl="0">
              <a:spcBef>
                <a:spcPts val="0"/>
              </a:spcBef>
              <a:spcAft>
                <a:spcPts val="0"/>
              </a:spcAft>
              <a:buSzPts val="1400"/>
              <a:buChar char="-"/>
            </a:pPr>
            <a:r>
              <a:rPr lang="en-US" b="1"/>
              <a:t>log_duration: </a:t>
            </a:r>
            <a:r>
              <a:rPr lang="en-US"/>
              <a:t>69.2% — rises further in importance once weak features are removed</a:t>
            </a:r>
            <a:endParaRPr/>
          </a:p>
          <a:p>
            <a:pPr marL="457200" lvl="0" indent="-317500" algn="l" rtl="0">
              <a:spcBef>
                <a:spcPts val="0"/>
              </a:spcBef>
              <a:spcAft>
                <a:spcPts val="0"/>
              </a:spcAft>
              <a:buSzPts val="1400"/>
              <a:buChar char="-"/>
            </a:pPr>
            <a:r>
              <a:rPr lang="en-US" b="1"/>
              <a:t>contact_unknown: </a:t>
            </a:r>
            <a:r>
              <a:rPr lang="en-US"/>
              <a:t>11.8%</a:t>
            </a:r>
            <a:endParaRPr/>
          </a:p>
          <a:p>
            <a:pPr marL="457200" lvl="0" indent="-317500" algn="l" rtl="0">
              <a:spcBef>
                <a:spcPts val="0"/>
              </a:spcBef>
              <a:spcAft>
                <a:spcPts val="0"/>
              </a:spcAft>
              <a:buSzPts val="1400"/>
              <a:buChar char="-"/>
            </a:pPr>
            <a:r>
              <a:rPr lang="en-US" b="1"/>
              <a:t>poutcome_success: </a:t>
            </a:r>
            <a:r>
              <a:rPr lang="en-US"/>
              <a:t>10.2%</a:t>
            </a:r>
            <a:endParaRPr/>
          </a:p>
          <a:p>
            <a:pPr marL="457200" lvl="0" indent="-317500" algn="l" rtl="0">
              <a:spcBef>
                <a:spcPts val="0"/>
              </a:spcBef>
              <a:spcAft>
                <a:spcPts val="0"/>
              </a:spcAft>
              <a:buSzPts val="1400"/>
              <a:buChar char="-"/>
            </a:pPr>
            <a:r>
              <a:rPr lang="en-US" b="1"/>
              <a:t>job_blue-collar: </a:t>
            </a:r>
            <a:r>
              <a:rPr lang="en-US"/>
              <a:t>2.1%</a:t>
            </a:r>
            <a:endParaRPr/>
          </a:p>
          <a:p>
            <a:pPr marL="457200" lvl="0" indent="-317500" algn="l" rtl="0">
              <a:spcBef>
                <a:spcPts val="0"/>
              </a:spcBef>
              <a:spcAft>
                <a:spcPts val="0"/>
              </a:spcAft>
              <a:buSzPts val="1400"/>
              <a:buChar char="-"/>
            </a:pPr>
            <a:r>
              <a:rPr lang="en-US" b="1"/>
              <a:t>campaign: </a:t>
            </a:r>
            <a:r>
              <a:rPr lang="en-US"/>
              <a:t>2.1%</a:t>
            </a:r>
            <a:endParaRPr/>
          </a:p>
          <a:p>
            <a:pPr marL="457200" lvl="0" indent="-317500" algn="l" rtl="0">
              <a:spcBef>
                <a:spcPts val="0"/>
              </a:spcBef>
              <a:spcAft>
                <a:spcPts val="0"/>
              </a:spcAft>
              <a:buSzPts val="1400"/>
              <a:buChar char="-"/>
            </a:pPr>
            <a:r>
              <a:rPr lang="en-US" b="1"/>
              <a:t>housing: </a:t>
            </a:r>
            <a:r>
              <a:rPr lang="en-US"/>
              <a:t>1.8%</a:t>
            </a:r>
            <a:endParaRPr/>
          </a:p>
          <a:p>
            <a:pPr marL="457200" lvl="0" indent="-317500" algn="l" rtl="0">
              <a:spcBef>
                <a:spcPts val="0"/>
              </a:spcBef>
              <a:spcAft>
                <a:spcPts val="0"/>
              </a:spcAft>
              <a:buSzPts val="1400"/>
              <a:buChar char="-"/>
            </a:pPr>
            <a:r>
              <a:rPr lang="en-US" b="1"/>
              <a:t>pdays: </a:t>
            </a:r>
            <a:r>
              <a:rPr lang="en-US"/>
              <a:t>1.7%</a:t>
            </a:r>
            <a:endParaRPr/>
          </a:p>
          <a:p>
            <a:pPr marL="0" lvl="0" indent="0" algn="l" rtl="0">
              <a:spcBef>
                <a:spcPts val="0"/>
              </a:spcBef>
              <a:spcAft>
                <a:spcPts val="0"/>
              </a:spcAft>
              <a:buClr>
                <a:schemeClr val="dk1"/>
              </a:buClr>
              <a:buSzPts val="1100"/>
              <a:buFont typeface="Arial"/>
              <a:buNone/>
            </a:pPr>
            <a:r>
              <a:rPr lang="en-US" b="1" u="sng"/>
              <a:t>Feature importances — NB Baseline (Permutation Importance):</a:t>
            </a:r>
            <a:endParaRPr b="1" u="sng"/>
          </a:p>
          <a:p>
            <a:pPr marL="457200" lvl="0" indent="-317500" algn="l" rtl="0">
              <a:spcBef>
                <a:spcPts val="0"/>
              </a:spcBef>
              <a:spcAft>
                <a:spcPts val="0"/>
              </a:spcAft>
              <a:buSzPts val="1400"/>
              <a:buChar char="-"/>
            </a:pPr>
            <a:r>
              <a:rPr lang="en-US" b="1"/>
              <a:t>poutcome_success: </a:t>
            </a:r>
            <a:r>
              <a:rPr lang="en-US"/>
              <a:t>0.0279 — highest permutation importance; shuffling this feature causes the largest accuracy drop</a:t>
            </a:r>
            <a:endParaRPr/>
          </a:p>
          <a:p>
            <a:pPr marL="457200" lvl="0" indent="-317500" algn="l" rtl="0">
              <a:spcBef>
                <a:spcPts val="0"/>
              </a:spcBef>
              <a:spcAft>
                <a:spcPts val="0"/>
              </a:spcAft>
              <a:buSzPts val="1400"/>
              <a:buChar char="-"/>
            </a:pPr>
            <a:r>
              <a:rPr lang="en-US" b="1"/>
              <a:t>log_duration: </a:t>
            </a:r>
            <a:r>
              <a:rPr lang="en-US"/>
              <a:t>0.0152</a:t>
            </a:r>
            <a:endParaRPr/>
          </a:p>
          <a:p>
            <a:pPr marL="457200" lvl="0" indent="-317500" algn="l" rtl="0">
              <a:spcBef>
                <a:spcPts val="0"/>
              </a:spcBef>
              <a:spcAft>
                <a:spcPts val="0"/>
              </a:spcAft>
              <a:buSzPts val="1400"/>
              <a:buChar char="-"/>
            </a:pPr>
            <a:r>
              <a:rPr lang="en-US" b="1"/>
              <a:t>job_retired: </a:t>
            </a:r>
            <a:r>
              <a:rPr lang="en-US"/>
              <a:t>0.0038</a:t>
            </a:r>
            <a:endParaRPr/>
          </a:p>
          <a:p>
            <a:pPr marL="457200" lvl="0" indent="-317500" algn="l" rtl="0">
              <a:spcBef>
                <a:spcPts val="0"/>
              </a:spcBef>
              <a:spcAft>
                <a:spcPts val="0"/>
              </a:spcAft>
              <a:buSzPts val="1400"/>
              <a:buChar char="-"/>
            </a:pPr>
            <a:r>
              <a:rPr lang="en-US" b="1"/>
              <a:t>housing: </a:t>
            </a:r>
            <a:r>
              <a:rPr lang="en-US"/>
              <a:t>0.0034</a:t>
            </a:r>
            <a:endParaRPr/>
          </a:p>
          <a:p>
            <a:pPr marL="457200" lvl="0" indent="-317500" algn="l" rtl="0">
              <a:spcBef>
                <a:spcPts val="0"/>
              </a:spcBef>
              <a:spcAft>
                <a:spcPts val="0"/>
              </a:spcAft>
              <a:buSzPts val="1400"/>
              <a:buChar char="-"/>
            </a:pPr>
            <a:r>
              <a:rPr lang="en-US" b="1"/>
              <a:t>loan: </a:t>
            </a:r>
            <a:r>
              <a:rPr lang="en-US"/>
              <a:t>0.0031</a:t>
            </a:r>
            <a:endParaRPr/>
          </a:p>
          <a:p>
            <a:pPr marL="457200" lvl="0" indent="-317500" algn="l" rtl="0">
              <a:spcBef>
                <a:spcPts val="0"/>
              </a:spcBef>
              <a:spcAft>
                <a:spcPts val="0"/>
              </a:spcAft>
              <a:buSzPts val="1400"/>
              <a:buChar char="-"/>
            </a:pPr>
            <a:r>
              <a:rPr lang="en-US" b="1"/>
              <a:t>job_student: </a:t>
            </a:r>
            <a:r>
              <a:rPr lang="en-US"/>
              <a:t>0.0019</a:t>
            </a:r>
            <a:endParaRPr/>
          </a:p>
        </p:txBody>
      </p:sp>
      <p:sp>
        <p:nvSpPr>
          <p:cNvPr id="208" name="Google Shape;208;g3d58b86ffb3_0_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d75a7bc5b2_0_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d75a7bc5b2_0_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We re-ran the Decision Tree and Naive Bayes models with only the 13 features indicated as important by the baseline Decision Tree model.</a:t>
            </a:r>
            <a:endParaRPr/>
          </a:p>
          <a:p>
            <a:pPr marL="0" lvl="0" indent="0" algn="l" rtl="0">
              <a:spcBef>
                <a:spcPts val="0"/>
              </a:spcBef>
              <a:spcAft>
                <a:spcPts val="0"/>
              </a:spcAft>
              <a:buClr>
                <a:schemeClr val="dk1"/>
              </a:buClr>
              <a:buSzPts val="1100"/>
              <a:buFont typeface="Arial"/>
              <a:buNone/>
            </a:pPr>
            <a:r>
              <a:rPr lang="en-US"/>
              <a:t>This figure shows the Confusion Matrix of the two new models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Stripping the data down to 13 features made a massive difference. Our 'Selected' Decision Tree achieved an incredible 84.62% True Positive Rate—it became hyper-aggressive at catching subscribers. However, it cost us in False Positives. We needed a smarter way to select features</a:t>
            </a:r>
            <a:endParaRPr/>
          </a:p>
        </p:txBody>
      </p:sp>
      <p:sp>
        <p:nvSpPr>
          <p:cNvPr id="215" name="Google Shape;215;g3d75a7bc5b2_0_2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d582afb016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d582afb016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b="1"/>
              <a:t>BONUS — Chi-Square Feature Selection (Notebook Implementation)</a:t>
            </a:r>
            <a:endParaRPr b="1"/>
          </a:p>
          <a:p>
            <a:pPr marL="0" lvl="0" indent="0" algn="l" rtl="0">
              <a:spcBef>
                <a:spcPts val="0"/>
              </a:spcBef>
              <a:spcAft>
                <a:spcPts val="0"/>
              </a:spcAft>
              <a:buClr>
                <a:schemeClr val="dk1"/>
              </a:buClr>
              <a:buSzPts val="1100"/>
              <a:buFont typeface="Arial"/>
              <a:buNone/>
            </a:pPr>
            <a:r>
              <a:rPr lang="en-US"/>
              <a:t>In the notebook, the chi-square (χ²) test is applied to the fully prepared df_model — the same 29-feature encoded dataset used for model training. Because chi-square requires non-negative values, all features are shifted by subtracting their minimum value before the test is run. The chi-square results are not used in isolation — they form one of four inputs to the Voting Consensus (see next slide). Features that score highly on chi-square receive a vote in the consensus, alongside rankings from Pearson Correlation, Decision Tree Gini Importance, and Naïve Bayes Permutation Importance. The top 13 features from chi-square are passed to the consensus scoreboard.</a:t>
            </a:r>
            <a:endParaRPr/>
          </a:p>
          <a:p>
            <a:pPr marL="0" lvl="0" indent="0" algn="l" rtl="0">
              <a:spcBef>
                <a:spcPts val="0"/>
              </a:spcBef>
              <a:spcAft>
                <a:spcPts val="0"/>
              </a:spcAft>
              <a:buSzPts val="1100"/>
              <a:buNone/>
            </a:pPr>
            <a:endParaRPr b="1"/>
          </a:p>
          <a:p>
            <a:pPr marL="0" lvl="0" indent="0" algn="l" rtl="0">
              <a:spcBef>
                <a:spcPts val="0"/>
              </a:spcBef>
              <a:spcAft>
                <a:spcPts val="0"/>
              </a:spcAft>
              <a:buSzPts val="1100"/>
              <a:buNone/>
            </a:pPr>
            <a:r>
              <a:rPr lang="en-US" b="1"/>
              <a:t>Key findings from the chi-square on the prepared dataset:</a:t>
            </a:r>
            <a:endParaRPr b="1"/>
          </a:p>
          <a:p>
            <a:pPr marL="0" lvl="0" indent="0" algn="l" rtl="0">
              <a:spcBef>
                <a:spcPts val="0"/>
              </a:spcBef>
              <a:spcAft>
                <a:spcPts val="0"/>
              </a:spcAft>
              <a:buSzPts val="1100"/>
              <a:buNone/>
            </a:pPr>
            <a:r>
              <a:rPr lang="en-US"/>
              <a:t>log_duration and poutcome_success score highest, consistent with all other selection methods.</a:t>
            </a:r>
            <a:endParaRPr/>
          </a:p>
          <a:p>
            <a:pPr marL="0" lvl="0" indent="0" algn="l" rtl="0">
              <a:spcBef>
                <a:spcPts val="0"/>
              </a:spcBef>
              <a:spcAft>
                <a:spcPts val="0"/>
              </a:spcAft>
              <a:buSzPts val="1100"/>
              <a:buNone/>
            </a:pPr>
            <a:r>
              <a:rPr lang="en-US"/>
              <a:t>contact_unknown, pdays, and previous also rank strongly.</a:t>
            </a:r>
            <a:endParaRPr/>
          </a:p>
          <a:p>
            <a:pPr marL="0" lvl="0" indent="0" algn="l" rtl="0">
              <a:spcBef>
                <a:spcPts val="0"/>
              </a:spcBef>
              <a:spcAft>
                <a:spcPts val="0"/>
              </a:spcAft>
              <a:buSzPts val="1100"/>
              <a:buNone/>
            </a:pPr>
            <a:r>
              <a:rPr lang="en-US"/>
              <a:t>Features like default and balance_group score near zero, confirming they carry no statistical association with the subscription outcome.</a:t>
            </a:r>
            <a:endParaRPr/>
          </a:p>
        </p:txBody>
      </p:sp>
      <p:sp>
        <p:nvSpPr>
          <p:cNvPr id="223" name="Google Shape;223;g3d582afb016_0_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73ee0b740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d73ee0b740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We compared all top 20 feature lists from the Pearson Correlation, DecisionTree, Naive Bayes and Chi-Square analyses, and we combined them to select the features for the filtered model.</a:t>
            </a:r>
            <a:endParaRPr/>
          </a:p>
          <a:p>
            <a:pPr marL="0" lvl="0" indent="0" algn="l" rtl="0">
              <a:spcBef>
                <a:spcPts val="0"/>
              </a:spcBef>
              <a:spcAft>
                <a:spcPts val="0"/>
              </a:spcAft>
              <a:buSzPts val="1100"/>
              <a:buNone/>
            </a:pPr>
            <a:r>
              <a:rPr lang="en-US"/>
              <a:t>We ensured the top 3 features of each individual method were always included in the final selection, regardless of their total vote count across all methods. This "Golden Ticket" rule prevents strong single-method signals from being lost in the consensus averaging.</a:t>
            </a:r>
            <a:endParaRPr/>
          </a:p>
        </p:txBody>
      </p:sp>
      <p:sp>
        <p:nvSpPr>
          <p:cNvPr id="230" name="Google Shape;230;g3d73ee0b740_0_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73ee0b740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3d73ee0b740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This diagram shows the Final Optimized Decision Tree trained on the 13 Voting Consensus features (dt_model_v2), visualised at max_depth = 3 for readability.</a:t>
            </a:r>
            <a:endParaRPr/>
          </a:p>
          <a:p>
            <a:pPr marL="0" lvl="0" indent="0" algn="l" rtl="0">
              <a:spcBef>
                <a:spcPts val="0"/>
              </a:spcBef>
              <a:spcAft>
                <a:spcPts val="0"/>
              </a:spcAft>
              <a:buSzPts val="1100"/>
              <a:buNone/>
            </a:pPr>
            <a:r>
              <a:rPr lang="en-US"/>
              <a:t>The root split confirms log_duration as the primary decision criterion.</a:t>
            </a:r>
            <a:endParaRPr/>
          </a:p>
          <a:p>
            <a:pPr marL="0" lvl="0" indent="0" algn="l" rtl="0">
              <a:spcBef>
                <a:spcPts val="0"/>
              </a:spcBef>
              <a:spcAft>
                <a:spcPts val="0"/>
              </a:spcAft>
              <a:buSzPts val="1100"/>
              <a:buNone/>
            </a:pPr>
            <a:r>
              <a:rPr lang="en-US"/>
              <a:t>Second-level splits use contact_unknown and poutcome_success — customers with a prior successful outcome and longer calls are routed toward the "yes" class early in the tree.</a:t>
            </a:r>
            <a:endParaRPr/>
          </a:p>
          <a:p>
            <a:pPr marL="0" lvl="0" indent="0" algn="l" rtl="0">
              <a:spcBef>
                <a:spcPts val="0"/>
              </a:spcBef>
              <a:spcAft>
                <a:spcPts val="0"/>
              </a:spcAft>
              <a:buClr>
                <a:schemeClr val="dk1"/>
              </a:buClr>
              <a:buSzPts val="1100"/>
              <a:buFont typeface="Arial"/>
              <a:buNone/>
            </a:pPr>
            <a:r>
              <a:rPr lang="en-US"/>
              <a:t>The balanced class_weight parameter ensures the tree does not simply default to predicting "no" due to the 88.5%/11.5% class imbalance.</a:t>
            </a:r>
            <a:endParaRPr/>
          </a:p>
          <a:p>
            <a:pPr marL="0" lvl="0" indent="0" algn="l" rtl="0">
              <a:spcBef>
                <a:spcPts val="0"/>
              </a:spcBef>
              <a:spcAft>
                <a:spcPts val="0"/>
              </a:spcAft>
              <a:buSzPts val="1100"/>
              <a:buNone/>
            </a:pPr>
            <a:endParaRPr b="1"/>
          </a:p>
        </p:txBody>
      </p:sp>
      <p:sp>
        <p:nvSpPr>
          <p:cNvPr id="237" name="Google Shape;237;g3d73ee0b740_0_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58b86ffb3_0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d58b86ffb3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This table presents the performance of both models trained on the 13 Voting Consensus features (dt_model_v2 and nb_model_v2).</a:t>
            </a:r>
            <a:endParaRPr/>
          </a:p>
          <a:p>
            <a:pPr marL="0" lvl="0" indent="0" algn="l" rtl="0">
              <a:spcBef>
                <a:spcPts val="0"/>
              </a:spcBef>
              <a:spcAft>
                <a:spcPts val="0"/>
              </a:spcAft>
              <a:buSzPts val="1100"/>
              <a:buNone/>
            </a:pPr>
            <a:r>
              <a:rPr lang="en-US"/>
              <a:t>Compared to their respective baselines: DT Optimized improves on accuracy (+1.77%), maintains the same TPR, and reduces FPR by 1.99% — a strictly better result than the baseline with no trade-offs.</a:t>
            </a:r>
            <a:endParaRPr/>
          </a:p>
          <a:p>
            <a:pPr marL="0" lvl="0" indent="0" algn="l" rtl="0">
              <a:spcBef>
                <a:spcPts val="0"/>
              </a:spcBef>
              <a:spcAft>
                <a:spcPts val="0"/>
              </a:spcAft>
              <a:buSzPts val="1100"/>
              <a:buNone/>
            </a:pPr>
            <a:r>
              <a:rPr lang="en-US"/>
              <a:t>NB Optimized improves accuracy (+0.88%) and FPR (−1.25%) at the cost of a slight TPR reduction (−1.92%).</a:t>
            </a:r>
            <a:endParaRPr/>
          </a:p>
          <a:p>
            <a:pPr marL="0" lvl="0" indent="0" algn="l" rtl="0">
              <a:spcBef>
                <a:spcPts val="0"/>
              </a:spcBef>
              <a:spcAft>
                <a:spcPts val="0"/>
              </a:spcAft>
              <a:buSzPts val="1100"/>
              <a:buNone/>
            </a:pPr>
            <a:r>
              <a:rPr lang="en-US"/>
              <a:t>The Voting Consensus feature set produces reliable, consistent improvements for both model types.</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And the metrics prove the strategy worked. Our Consensus Decision Tree hit the highest F1-score of the entire project at 0.4518. It maintained a near 79% True Positive Rate while dropping the False Positive Rate down to 22%</a:t>
            </a:r>
            <a:endParaRPr/>
          </a:p>
        </p:txBody>
      </p:sp>
      <p:sp>
        <p:nvSpPr>
          <p:cNvPr id="244" name="Google Shape;244;g3d58b86ffb3_0_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d73ee0b740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d73ee0b740_0_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Here is the final feature ranking for those optimized models, proving a much more balanced reliance on our core signals.</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This diagram shows the Decision Tree trained exclusively on the 13 features selected by the DT baseline's own importance scores (dt_model_v3), visualised at max_depth = 3.</a:t>
            </a:r>
            <a:endParaRPr/>
          </a:p>
          <a:p>
            <a:pPr marL="0" lvl="0" indent="0" algn="l" rtl="0">
              <a:spcBef>
                <a:spcPts val="0"/>
              </a:spcBef>
              <a:spcAft>
                <a:spcPts val="0"/>
              </a:spcAft>
              <a:buSzPts val="1100"/>
              <a:buNone/>
            </a:pPr>
            <a:r>
              <a:rPr lang="en-US"/>
              <a:t>Compared to the Consensus DT (Slide 20), the structure is similar at the top — log_duration remains the dominant root split — but deeper nodes differ as some features present in the consensus set (e.g., pdays, previous) are absent here. This model achieves the highest TPR of all six models (84.62%) but at the cost of a higher FPR (29.38%), making it the best choice when maximising subscriber capture is the priority over operational efficiency.</a:t>
            </a:r>
            <a:endParaRPr/>
          </a:p>
        </p:txBody>
      </p:sp>
      <p:sp>
        <p:nvSpPr>
          <p:cNvPr id="252" name="Google Shape;252;g3d73ee0b740_0_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The team trained six models in total, enabling three distinct comparisons:</a:t>
            </a:r>
            <a:endParaRPr b="1"/>
          </a:p>
          <a:p>
            <a:pPr marL="457200" lvl="0" indent="-317500" algn="l" rtl="0">
              <a:spcBef>
                <a:spcPts val="0"/>
              </a:spcBef>
              <a:spcAft>
                <a:spcPts val="0"/>
              </a:spcAft>
              <a:buSzPts val="1400"/>
              <a:buChar char="●"/>
            </a:pPr>
            <a:r>
              <a:rPr lang="en-US" b="1"/>
              <a:t>Baseline → DT Selected (13 features from DT importance):</a:t>
            </a:r>
            <a:r>
              <a:rPr lang="en-US"/>
              <a:t> Accuracy drops (76.22% → 72.23%, −3.99%) but TPR increases significantly (78.85% → 84.62%, +5.77%), at the cost of a higher FPR (24.12% → 29.38%, +5.26%). The tree trades overall accuracy for better subscriber detection.</a:t>
            </a:r>
            <a:endParaRPr/>
          </a:p>
          <a:p>
            <a:pPr marL="457200" lvl="0" indent="-317500" algn="l" rtl="0">
              <a:spcBef>
                <a:spcPts val="0"/>
              </a:spcBef>
              <a:spcAft>
                <a:spcPts val="0"/>
              </a:spcAft>
              <a:buSzPts val="1400"/>
              <a:buChar char="●"/>
            </a:pPr>
            <a:r>
              <a:rPr lang="en-US" b="1"/>
              <a:t>Baseline → DT Optimized (13 Voting Consensus features):</a:t>
            </a:r>
            <a:r>
              <a:rPr lang="en-US"/>
              <a:t> Accuracy improves slightly (76.22% → 77.99%, +1.77%), TPR is unchanged (78.85%), and FPR improves (24.12% → 22.13%, −1.99%). The consensus feature set produces a cleaner, more efficient tree with no trade-off.</a:t>
            </a:r>
            <a:endParaRPr/>
          </a:p>
          <a:p>
            <a:pPr marL="457200" lvl="0" indent="-317500" algn="l" rtl="0">
              <a:spcBef>
                <a:spcPts val="0"/>
              </a:spcBef>
              <a:spcAft>
                <a:spcPts val="0"/>
              </a:spcAft>
              <a:buSzPts val="1400"/>
              <a:buChar char="●"/>
            </a:pPr>
            <a:r>
              <a:rPr lang="en-US" b="1"/>
              <a:t>Baseline → NB Optimized (13 Voting Consensus features):</a:t>
            </a:r>
            <a:r>
              <a:rPr lang="en-US"/>
              <a:t> Accuracy improves (85.29% → 86.17%, +0.88%), TPR decreases slightly (44.23% → 42.31%, −1.92%), FPR improves (9.38% → 8.13%, −1.25%).</a:t>
            </a:r>
            <a:endParaRPr/>
          </a:p>
          <a:p>
            <a:pPr marL="457200" lvl="0" indent="-317500" algn="l" rtl="0">
              <a:spcBef>
                <a:spcPts val="0"/>
              </a:spcBef>
              <a:spcAft>
                <a:spcPts val="0"/>
              </a:spcAft>
              <a:buSzPts val="1400"/>
              <a:buChar char="●"/>
            </a:pPr>
            <a:r>
              <a:rPr lang="en-US" b="1"/>
              <a:t>Baseline → NB Selected (13 from DT importance):</a:t>
            </a:r>
            <a:r>
              <a:rPr lang="en-US"/>
              <a:t> Accuracy improves (85.29% → 87.17%, +1.88%), TPR decreases (44.23% → 37.50%, −6.73%), but FPR drops significantly (9.38% → 6.38%, −3.00%). NB gains precision at the cost of some recall.</a:t>
            </a:r>
            <a:endParaRPr/>
          </a:p>
          <a:p>
            <a:pPr marL="457200" lvl="0" indent="-317500" algn="l" rtl="0">
              <a:spcBef>
                <a:spcPts val="0"/>
              </a:spcBef>
              <a:spcAft>
                <a:spcPts val="0"/>
              </a:spcAft>
              <a:buSzPts val="1400"/>
              <a:buChar char="●"/>
            </a:pPr>
            <a:r>
              <a:rPr lang="en-US" b="1"/>
              <a:t>Feature selection method: 4-method Voting Consensus</a:t>
            </a:r>
            <a:r>
              <a:rPr lang="en-US"/>
              <a:t> — Pearson Correlation, Decision Tree Gini Importance, Naïve Bayes Permutation Importance, and Chi-Square — each nominating their top 13 features. A Golden Ticket rule protects the top 3 of each method. 13 features were selected unanimously or by majority.</a:t>
            </a:r>
            <a:endParaRPr/>
          </a:p>
          <a:p>
            <a:pPr marL="0" lvl="0" indent="0" algn="l" rtl="0">
              <a:spcBef>
                <a:spcPts val="0"/>
              </a:spcBef>
              <a:spcAft>
                <a:spcPts val="0"/>
              </a:spcAft>
              <a:buNone/>
            </a:pPr>
            <a:endParaRPr/>
          </a:p>
          <a:p>
            <a:pPr marL="0" lvl="0" indent="0" algn="l" rtl="0">
              <a:spcBef>
                <a:spcPts val="0"/>
              </a:spcBef>
              <a:spcAft>
                <a:spcPts val="0"/>
              </a:spcAft>
              <a:buNone/>
            </a:pPr>
            <a:r>
              <a:rPr lang="en-US" b="1"/>
              <a:t>Accuracy</a:t>
            </a:r>
            <a:r>
              <a:rPr lang="en-US"/>
              <a:t>: If the model correctly classifies 877 out of 1,000 customers, accuracy is 87.7%. Since 88.5% of customers did not subscribe, a model that always predicts "no" would score 88.5% accuracy without learning anything useful. </a:t>
            </a:r>
            <a:endParaRPr/>
          </a:p>
          <a:p>
            <a:pPr marL="0" lvl="0" indent="0" algn="l" rtl="0">
              <a:spcBef>
                <a:spcPts val="0"/>
              </a:spcBef>
              <a:spcAft>
                <a:spcPts val="0"/>
              </a:spcAft>
              <a:buNone/>
            </a:pPr>
            <a:r>
              <a:rPr lang="en-US" b="1"/>
              <a:t>Precision: </a:t>
            </a:r>
            <a:r>
              <a:rPr lang="en-US"/>
              <a:t>"Of all the customers the model predicted would subscribe, how many actually did?"</a:t>
            </a:r>
            <a:endParaRPr/>
          </a:p>
          <a:p>
            <a:pPr marL="0" lvl="0" indent="0" algn="l" rtl="0">
              <a:spcBef>
                <a:spcPts val="0"/>
              </a:spcBef>
              <a:spcAft>
                <a:spcPts val="0"/>
              </a:spcAft>
              <a:buNone/>
            </a:pPr>
            <a:r>
              <a:rPr lang="en-US" b="1"/>
              <a:t>Recall: </a:t>
            </a:r>
            <a:r>
              <a:rPr lang="en-US"/>
              <a:t>"Of all the customers who actually subscribed, how many did the model correctly identify?"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b="1"/>
              <a:t>The Decision Tree responds differently to feature reduction depending on the method:</a:t>
            </a:r>
            <a:endParaRPr b="1"/>
          </a:p>
          <a:p>
            <a:pPr marL="0" lvl="0" indent="0" algn="l" rtl="0">
              <a:spcBef>
                <a:spcPts val="0"/>
              </a:spcBef>
              <a:spcAft>
                <a:spcPts val="0"/>
              </a:spcAft>
              <a:buNone/>
            </a:pPr>
            <a:r>
              <a:rPr lang="en-US"/>
              <a:t>Removing features based on the DT's own importance scores (DT Selected) increases recall dramatically (+5.77%) — the tree becomes more aggressive in flagging subscribers — but at the cost of more false positives (FPR +5.26%) and lower overall accuracy (−3.99%).</a:t>
            </a:r>
            <a:endParaRPr/>
          </a:p>
          <a:p>
            <a:pPr marL="0" lvl="0" indent="0" algn="l" rtl="0">
              <a:spcBef>
                <a:spcPts val="0"/>
              </a:spcBef>
              <a:spcAft>
                <a:spcPts val="0"/>
              </a:spcAft>
              <a:buClr>
                <a:schemeClr val="dk1"/>
              </a:buClr>
              <a:buSzPts val="1100"/>
              <a:buFont typeface="Arial"/>
              <a:buNone/>
            </a:pPr>
            <a:r>
              <a:rPr lang="en-US"/>
              <a:t>Using the Voting Consensus features (DT Optimized) produces a strictly better result: higher accuracy, same TPR, and lower FPR — confirming that consensus-based selection is more robust than single-method selection.</a:t>
            </a:r>
            <a:endParaRPr/>
          </a:p>
          <a:p>
            <a:pPr marL="0" lvl="0" indent="0" algn="l" rtl="0">
              <a:spcBef>
                <a:spcPts val="0"/>
              </a:spcBef>
              <a:spcAft>
                <a:spcPts val="0"/>
              </a:spcAft>
              <a:buNone/>
            </a:pPr>
            <a:r>
              <a:rPr lang="en-US"/>
              <a:t>For Naïve Bayes, feature selection consistently improves performance across the board. Both NB Selected and NB Optimized outperform the baseline on accuracy and FPR. The trade-off is a reduction in TPR, as NB becomes more conservative in its "yes" predictions. </a:t>
            </a:r>
            <a:endParaRPr/>
          </a:p>
          <a:p>
            <a:pPr marL="0" lvl="0" indent="0" algn="l" rtl="0">
              <a:spcBef>
                <a:spcPts val="0"/>
              </a:spcBef>
              <a:spcAft>
                <a:spcPts val="0"/>
              </a:spcAft>
              <a:buClr>
                <a:schemeClr val="dk1"/>
              </a:buClr>
              <a:buSzPts val="1100"/>
              <a:buFont typeface="Arial"/>
              <a:buNone/>
            </a:pPr>
            <a:r>
              <a:rPr lang="en-US"/>
              <a:t>For a telemarketing use case where agent time is the primary cost, the FPR reduction is the most operationally valuable improvement.</a:t>
            </a:r>
            <a:endParaRPr/>
          </a:p>
          <a:p>
            <a:pPr marL="0" lvl="0" indent="0" algn="l" rtl="0">
              <a:spcBef>
                <a:spcPts val="0"/>
              </a:spcBef>
              <a:spcAft>
                <a:spcPts val="0"/>
              </a:spcAft>
              <a:buClr>
                <a:schemeClr val="dk1"/>
              </a:buClr>
              <a:buSzPts val="1100"/>
              <a:buFont typeface="Arial"/>
              <a:buNone/>
            </a:pPr>
            <a:r>
              <a:rPr lang="en-US" b="1"/>
              <a:t>The 4-method Voting Consensus proved to be the most reliable selection strategy — features endorsed by multiple independent methods are more likely to represent genuine signal rather than noise.</a:t>
            </a:r>
            <a:endParaRPr b="1"/>
          </a:p>
          <a:p>
            <a:pPr marL="0" lvl="0" indent="0" algn="l" rtl="0">
              <a:spcBef>
                <a:spcPts val="0"/>
              </a:spcBef>
              <a:spcAft>
                <a:spcPts val="0"/>
              </a:spcAft>
              <a:buNone/>
            </a:pPr>
            <a:endParaRPr/>
          </a:p>
        </p:txBody>
      </p:sp>
      <p:sp>
        <p:nvSpPr>
          <p:cNvPr id="259" name="Google Shape;25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d8c26e8cbf_1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d8c26e8cbf_1_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b="1"/>
              <a:t>The team trained six models in total, enabling three distinct comparisons:</a:t>
            </a:r>
            <a:endParaRPr b="1"/>
          </a:p>
          <a:p>
            <a:pPr marL="457200" lvl="0" indent="-317500" algn="l" rtl="0">
              <a:spcBef>
                <a:spcPts val="0"/>
              </a:spcBef>
              <a:spcAft>
                <a:spcPts val="0"/>
              </a:spcAft>
              <a:buSzPts val="1400"/>
              <a:buChar char="●"/>
            </a:pPr>
            <a:r>
              <a:rPr lang="en-US" b="1"/>
              <a:t>Baseline → DT Selected (13 features from DT importance):</a:t>
            </a:r>
            <a:r>
              <a:rPr lang="en-US"/>
              <a:t> Accuracy drops (76.22% → 72.23%, −3.99%) but TPR increases significantly (78.85% → 84.62%, +5.77%), at the cost of a higher FPR (24.12% → 29.38%, +5.26%). The tree trades overall accuracy for better subscriber detection.</a:t>
            </a:r>
            <a:endParaRPr/>
          </a:p>
          <a:p>
            <a:pPr marL="457200" lvl="0" indent="-317500" algn="l" rtl="0">
              <a:spcBef>
                <a:spcPts val="0"/>
              </a:spcBef>
              <a:spcAft>
                <a:spcPts val="0"/>
              </a:spcAft>
              <a:buSzPts val="1400"/>
              <a:buChar char="●"/>
            </a:pPr>
            <a:r>
              <a:rPr lang="en-US" b="1"/>
              <a:t>Baseline → DT Optimized (13 Voting Consensus features):</a:t>
            </a:r>
            <a:r>
              <a:rPr lang="en-US"/>
              <a:t> Accuracy improves slightly (76.22% → 77.99%, +1.77%), TPR is unchanged (78.85%), and FPR improves (24.12% → 22.13%, −1.99%). The consensus feature set produces a cleaner, more efficient tree with no trade-off.</a:t>
            </a:r>
            <a:endParaRPr/>
          </a:p>
          <a:p>
            <a:pPr marL="457200" lvl="0" indent="-317500" algn="l" rtl="0">
              <a:spcBef>
                <a:spcPts val="0"/>
              </a:spcBef>
              <a:spcAft>
                <a:spcPts val="0"/>
              </a:spcAft>
              <a:buSzPts val="1400"/>
              <a:buChar char="●"/>
            </a:pPr>
            <a:r>
              <a:rPr lang="en-US" b="1"/>
              <a:t>Baseline → NB Optimized (13 Voting Consensus features):</a:t>
            </a:r>
            <a:r>
              <a:rPr lang="en-US"/>
              <a:t> Accuracy improves (85.29% → 86.17%, +0.88%), TPR decreases slightly (44.23% → 42.31%, −1.92%), FPR improves (9.38% → 8.13%, −1.25%).</a:t>
            </a:r>
            <a:endParaRPr/>
          </a:p>
          <a:p>
            <a:pPr marL="457200" lvl="0" indent="-317500" algn="l" rtl="0">
              <a:spcBef>
                <a:spcPts val="0"/>
              </a:spcBef>
              <a:spcAft>
                <a:spcPts val="0"/>
              </a:spcAft>
              <a:buSzPts val="1400"/>
              <a:buChar char="●"/>
            </a:pPr>
            <a:r>
              <a:rPr lang="en-US" b="1"/>
              <a:t>Baseline → NB Selected (13 from DT importance):</a:t>
            </a:r>
            <a:r>
              <a:rPr lang="en-US"/>
              <a:t> Accuracy improves (85.29% → 87.17%, +1.88%), TPR decreases (44.23% → 37.50%, −6.73%), but FPR drops significantly (9.38% → 6.38%, −3.00%). NB gains precision at the cost of some recall.</a:t>
            </a:r>
            <a:endParaRPr/>
          </a:p>
          <a:p>
            <a:pPr marL="457200" lvl="0" indent="-317500" algn="l" rtl="0">
              <a:spcBef>
                <a:spcPts val="0"/>
              </a:spcBef>
              <a:spcAft>
                <a:spcPts val="0"/>
              </a:spcAft>
              <a:buSzPts val="1400"/>
              <a:buChar char="●"/>
            </a:pPr>
            <a:r>
              <a:rPr lang="en-US" b="1"/>
              <a:t>Feature selection method: 4-method Voting Consensus</a:t>
            </a:r>
            <a:r>
              <a:rPr lang="en-US"/>
              <a:t> — Pearson Correlation, Decision Tree Gini Importance, Naïve Bayes Permutation Importance, and Chi-Square — each nominating their top 13 features. A Golden Ticket rule protects the top 3 of each method. 13 features were selected unanimously or by majority.</a:t>
            </a:r>
            <a:endParaRPr/>
          </a:p>
          <a:p>
            <a:pPr marL="0" lvl="0" indent="0" algn="l" rtl="0">
              <a:spcBef>
                <a:spcPts val="0"/>
              </a:spcBef>
              <a:spcAft>
                <a:spcPts val="0"/>
              </a:spcAft>
              <a:buNone/>
            </a:pPr>
            <a:endParaRPr/>
          </a:p>
          <a:p>
            <a:pPr marL="0" lvl="0" indent="0" algn="l" rtl="0">
              <a:spcBef>
                <a:spcPts val="0"/>
              </a:spcBef>
              <a:spcAft>
                <a:spcPts val="0"/>
              </a:spcAft>
              <a:buNone/>
            </a:pPr>
            <a:r>
              <a:rPr lang="en-US" b="1"/>
              <a:t>Accuracy</a:t>
            </a:r>
            <a:r>
              <a:rPr lang="en-US"/>
              <a:t>: If the model correctly classifies 877 out of 1,000 customers, accuracy is 87.7%. Since 88.5% of customers did not subscribe, a model that always predicts "no" would score 88.5% accuracy without learning anything useful. </a:t>
            </a:r>
            <a:endParaRPr/>
          </a:p>
          <a:p>
            <a:pPr marL="0" lvl="0" indent="0" algn="l" rtl="0">
              <a:spcBef>
                <a:spcPts val="0"/>
              </a:spcBef>
              <a:spcAft>
                <a:spcPts val="0"/>
              </a:spcAft>
              <a:buNone/>
            </a:pPr>
            <a:r>
              <a:rPr lang="en-US" b="1"/>
              <a:t>Precision: </a:t>
            </a:r>
            <a:r>
              <a:rPr lang="en-US"/>
              <a:t>"Of all the customers the model predicted would subscribe, how many actually did?"</a:t>
            </a:r>
            <a:endParaRPr/>
          </a:p>
          <a:p>
            <a:pPr marL="0" lvl="0" indent="0" algn="l" rtl="0">
              <a:spcBef>
                <a:spcPts val="0"/>
              </a:spcBef>
              <a:spcAft>
                <a:spcPts val="0"/>
              </a:spcAft>
              <a:buNone/>
            </a:pPr>
            <a:r>
              <a:rPr lang="en-US" b="1"/>
              <a:t>Recall: </a:t>
            </a:r>
            <a:r>
              <a:rPr lang="en-US"/>
              <a:t>"Of all the customers who actually subscribed, how many did the model correctly identify?"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b="1"/>
              <a:t>The Decision Tree responds differently to feature reduction depending on the method:</a:t>
            </a:r>
            <a:endParaRPr b="1"/>
          </a:p>
          <a:p>
            <a:pPr marL="0" lvl="0" indent="0" algn="l" rtl="0">
              <a:spcBef>
                <a:spcPts val="0"/>
              </a:spcBef>
              <a:spcAft>
                <a:spcPts val="0"/>
              </a:spcAft>
              <a:buNone/>
            </a:pPr>
            <a:r>
              <a:rPr lang="en-US"/>
              <a:t>Removing features based on the DT's own importance scores (DT Selected) increases recall dramatically (+5.77%) — the tree becomes more aggressive in flagging subscribers — but at the cost of more false positives (FPR +5.26%) and lower overall accuracy (−3.99%).</a:t>
            </a:r>
            <a:endParaRPr/>
          </a:p>
          <a:p>
            <a:pPr marL="0" lvl="0" indent="0" algn="l" rtl="0">
              <a:spcBef>
                <a:spcPts val="0"/>
              </a:spcBef>
              <a:spcAft>
                <a:spcPts val="0"/>
              </a:spcAft>
              <a:buClr>
                <a:schemeClr val="dk1"/>
              </a:buClr>
              <a:buSzPts val="1100"/>
              <a:buFont typeface="Arial"/>
              <a:buNone/>
            </a:pPr>
            <a:r>
              <a:rPr lang="en-US"/>
              <a:t>Using the Voting Consensus features (DT Optimized) produces a strictly better result: higher accuracy, same TPR, and lower FPR — confirming that consensus-based selection is more robust than single-method selection.</a:t>
            </a:r>
            <a:endParaRPr/>
          </a:p>
          <a:p>
            <a:pPr marL="0" lvl="0" indent="0" algn="l" rtl="0">
              <a:spcBef>
                <a:spcPts val="0"/>
              </a:spcBef>
              <a:spcAft>
                <a:spcPts val="0"/>
              </a:spcAft>
              <a:buNone/>
            </a:pPr>
            <a:r>
              <a:rPr lang="en-US"/>
              <a:t>For Naïve Bayes, feature selection consistently improves performance across the board. Both NB Selected and NB Optimized outperform the baseline on accuracy and FPR. The trade-off is a reduction in TPR, as NB becomes more conservative in its "yes" predictions. </a:t>
            </a:r>
            <a:endParaRPr/>
          </a:p>
          <a:p>
            <a:pPr marL="0" lvl="0" indent="0" algn="l" rtl="0">
              <a:spcBef>
                <a:spcPts val="0"/>
              </a:spcBef>
              <a:spcAft>
                <a:spcPts val="0"/>
              </a:spcAft>
              <a:buClr>
                <a:schemeClr val="dk1"/>
              </a:buClr>
              <a:buSzPts val="1100"/>
              <a:buFont typeface="Arial"/>
              <a:buNone/>
            </a:pPr>
            <a:r>
              <a:rPr lang="en-US"/>
              <a:t>For a telemarketing use case where agent time is the primary cost, the FPR reduction is the most operationally valuable improvement.</a:t>
            </a:r>
            <a:endParaRPr/>
          </a:p>
          <a:p>
            <a:pPr marL="0" lvl="0" indent="0" algn="l" rtl="0">
              <a:spcBef>
                <a:spcPts val="0"/>
              </a:spcBef>
              <a:spcAft>
                <a:spcPts val="0"/>
              </a:spcAft>
              <a:buClr>
                <a:schemeClr val="dk1"/>
              </a:buClr>
              <a:buSzPts val="1100"/>
              <a:buFont typeface="Arial"/>
              <a:buNone/>
            </a:pPr>
            <a:r>
              <a:rPr lang="en-US" b="1"/>
              <a:t>The 4-method Voting Consensus proved to be the most reliable selection strategy — features endorsed by multiple independent methods are more likely to represent genuine signal rather than noise.</a:t>
            </a:r>
            <a:endParaRPr b="1"/>
          </a:p>
          <a:p>
            <a:pPr marL="0" lvl="0" indent="0" algn="l" rtl="0">
              <a:spcBef>
                <a:spcPts val="0"/>
              </a:spcBef>
              <a:spcAft>
                <a:spcPts val="0"/>
              </a:spcAft>
              <a:buNone/>
            </a:pPr>
            <a:endParaRPr/>
          </a:p>
        </p:txBody>
      </p:sp>
      <p:sp>
        <p:nvSpPr>
          <p:cNvPr id="266" name="Google Shape;266;g3d8c26e8cbf_1_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d58b86ffb3_0_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d58b86ffb3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Summary of Major Findings: Data Preparation:</a:t>
            </a:r>
            <a:endParaRPr b="1"/>
          </a:p>
          <a:p>
            <a:pPr marL="457200" lvl="0" indent="-317500" algn="l" rtl="0">
              <a:spcBef>
                <a:spcPts val="0"/>
              </a:spcBef>
              <a:spcAft>
                <a:spcPts val="0"/>
              </a:spcAft>
              <a:buSzPts val="1400"/>
              <a:buChar char="-"/>
            </a:pPr>
            <a:r>
              <a:rPr lang="en-US" b="1"/>
              <a:t>Dataset was significantly imbalanced: </a:t>
            </a:r>
            <a:r>
              <a:rPr lang="en-US"/>
              <a:t>88.5% of customers did not subscribe, only 11.5% did. This makes accuracy a misleading metric and elevates TPR and FPR as the decisive evaluation criteria throughout the project.</a:t>
            </a:r>
            <a:endParaRPr/>
          </a:p>
          <a:p>
            <a:pPr marL="457200" lvl="0" indent="-317500" algn="l" rtl="0">
              <a:spcBef>
                <a:spcPts val="0"/>
              </a:spcBef>
              <a:spcAft>
                <a:spcPts val="0"/>
              </a:spcAft>
              <a:buSzPts val="1400"/>
              <a:buChar char="-"/>
            </a:pPr>
            <a:r>
              <a:rPr lang="en-US" b="1"/>
              <a:t>Outlier Analysis: </a:t>
            </a:r>
            <a:r>
              <a:rPr lang="en-US"/>
              <a:t>balance, pdays, previous, duration, and campaign all contain substantial outliers — these reflect real customer behaviour (e.g., high-balance clients, heavily contacted customers) and were deliberately retained as meaningful signals rather than noise.</a:t>
            </a:r>
            <a:endParaRPr/>
          </a:p>
          <a:p>
            <a:pPr marL="457200" lvl="0" indent="-317500" algn="l" rtl="0">
              <a:spcBef>
                <a:spcPts val="0"/>
              </a:spcBef>
              <a:spcAft>
                <a:spcPts val="0"/>
              </a:spcAft>
              <a:buSzPts val="1400"/>
              <a:buChar char="-"/>
            </a:pPr>
            <a:r>
              <a:rPr lang="en-US" b="1"/>
              <a:t>For Chi-Square: </a:t>
            </a:r>
            <a:r>
              <a:rPr lang="en-US"/>
              <a:t>The Chi-square analysis was applied to the fully prepared df_model (29 features after encoding, binning, and log transformation), not the original raw attributes. Its results were combined with three other selection methods — Pearson Correlation, Decision Tree Gini Importance, and Naïve Bayes Permutation Importance — into a 4-method Voting Consensus. Features endorsed by multiple methods were retained; 13 features were selected for the optimized models. A Golden Ticket rule ensured the top 3 features from each individual method were always protected. The top features confirmed by chi-square include log_duration, poutcome_success, pdays, and contact_unknown — consistent with all other selection methods.</a:t>
            </a:r>
            <a:endParaRPr/>
          </a:p>
          <a:p>
            <a:pPr marL="457200" lvl="0" indent="-317500" algn="l" rtl="0">
              <a:spcBef>
                <a:spcPts val="0"/>
              </a:spcBef>
              <a:spcAft>
                <a:spcPts val="0"/>
              </a:spcAft>
              <a:buSzPts val="1400"/>
              <a:buChar char="-"/>
            </a:pPr>
            <a:r>
              <a:rPr lang="en-US" b="1"/>
              <a:t>Log_duration: </a:t>
            </a:r>
            <a:r>
              <a:rPr lang="en-US"/>
              <a:t>was our strongest predictor across every analysis method and was our most reliable signal in the dataset. </a:t>
            </a:r>
            <a:endParaRPr/>
          </a:p>
          <a:p>
            <a:pPr marL="0" lvl="0" indent="0" algn="l" rtl="0">
              <a:spcBef>
                <a:spcPts val="0"/>
              </a:spcBef>
              <a:spcAft>
                <a:spcPts val="0"/>
              </a:spcAft>
              <a:buNone/>
            </a:pPr>
            <a:endParaRPr/>
          </a:p>
        </p:txBody>
      </p:sp>
      <p:sp>
        <p:nvSpPr>
          <p:cNvPr id="274" name="Google Shape;274;g3d58b86ffb3_0_1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b="1"/>
              <a:t>Major Findings: Predictive Modeling</a:t>
            </a:r>
            <a:endParaRPr b="1"/>
          </a:p>
          <a:p>
            <a:pPr marL="0" lvl="0" indent="0" algn="l" rtl="0">
              <a:spcBef>
                <a:spcPts val="0"/>
              </a:spcBef>
              <a:spcAft>
                <a:spcPts val="0"/>
              </a:spcAft>
              <a:buClr>
                <a:schemeClr val="dk1"/>
              </a:buClr>
              <a:buSzPts val="1100"/>
              <a:buFont typeface="Arial"/>
              <a:buNone/>
            </a:pPr>
            <a:r>
              <a:rPr lang="en-US"/>
              <a:t>The six-model comparison reveals a fundamental trade-off in this dataset: models that catch more subscribers (high TPR) tend to also generate more false positives (high FPR), and vice versa. </a:t>
            </a:r>
            <a:endParaRPr/>
          </a:p>
          <a:p>
            <a:pPr marL="0" lvl="0" indent="0" algn="l" rtl="0">
              <a:spcBef>
                <a:spcPts val="0"/>
              </a:spcBef>
              <a:spcAft>
                <a:spcPts val="0"/>
              </a:spcAft>
              <a:buClr>
                <a:schemeClr val="dk1"/>
              </a:buClr>
              <a:buSzPts val="1100"/>
              <a:buFont typeface="Arial"/>
              <a:buNone/>
            </a:pPr>
            <a:r>
              <a:rPr lang="en-US"/>
              <a:t>The optimal choice depends on the bank's operational priority:</a:t>
            </a:r>
            <a:endParaRPr/>
          </a:p>
          <a:p>
            <a:pPr marL="457200" lvl="0" indent="-317500" algn="l" rtl="0">
              <a:spcBef>
                <a:spcPts val="0"/>
              </a:spcBef>
              <a:spcAft>
                <a:spcPts val="0"/>
              </a:spcAft>
              <a:buSzPts val="1400"/>
              <a:buChar char="●"/>
            </a:pPr>
            <a:r>
              <a:rPr lang="en-US"/>
              <a:t>If the goal is to maximise subscriber detection (capture every potential "yes"): DT Selected is best — TPR 84.62%, but FPR 29.38%</a:t>
            </a:r>
            <a:endParaRPr/>
          </a:p>
          <a:p>
            <a:pPr marL="457200" lvl="0" indent="-317500" algn="l" rtl="0">
              <a:spcBef>
                <a:spcPts val="0"/>
              </a:spcBef>
              <a:spcAft>
                <a:spcPts val="0"/>
              </a:spcAft>
              <a:buSzPts val="1400"/>
              <a:buChar char="●"/>
            </a:pPr>
            <a:r>
              <a:rPr lang="en-US"/>
              <a:t>If the goal is to minimise wasted agent calls (operational efficiency): NB Selected is best — FPR 6.38%, but TPR 37.50%</a:t>
            </a:r>
            <a:endParaRPr/>
          </a:p>
          <a:p>
            <a:pPr marL="457200" lvl="0" indent="-317500" algn="l" rtl="0">
              <a:spcBef>
                <a:spcPts val="0"/>
              </a:spcBef>
              <a:spcAft>
                <a:spcPts val="0"/>
              </a:spcAft>
              <a:buSzPts val="1400"/>
              <a:buChar char="●"/>
            </a:pPr>
            <a:r>
              <a:rPr lang="en-US"/>
              <a:t>If the goal is a balanced performance across all metrics: DT Optimized (Consensus) is best — F1 0.4518, TPR 78.85%, FPR 22.13%</a:t>
            </a:r>
            <a:endParaRPr/>
          </a:p>
          <a:p>
            <a:pPr marL="0" lvl="0" indent="0" algn="l" rtl="0">
              <a:spcBef>
                <a:spcPts val="0"/>
              </a:spcBef>
              <a:spcAft>
                <a:spcPts val="0"/>
              </a:spcAft>
              <a:buSzPts val="1100"/>
              <a:buNone/>
            </a:pPr>
            <a:r>
              <a:rPr lang="en-US"/>
              <a:t>Feature selection consistently improved Naïve Bayes across accuracy and FPR. For the Decision Tree, the Voting Consensus features (DT Optimized) produced better results than the DT's own importance-based selection (DT Selected), confirming that multi-method consensus is a more robust selection strategy than single-model self-selection.</a:t>
            </a:r>
            <a:endParaRPr/>
          </a:p>
        </p:txBody>
      </p:sp>
      <p:sp>
        <p:nvSpPr>
          <p:cNvPr id="281" name="Google Shape;281;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dff56829e4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dff56829e4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b="1"/>
              <a:t>Conclusions:</a:t>
            </a:r>
            <a:endParaRPr b="1"/>
          </a:p>
          <a:p>
            <a:pPr marL="0" lvl="0" indent="0" algn="l" rtl="0">
              <a:spcBef>
                <a:spcPts val="0"/>
              </a:spcBef>
              <a:spcAft>
                <a:spcPts val="0"/>
              </a:spcAft>
              <a:buClr>
                <a:schemeClr val="dk1"/>
              </a:buClr>
              <a:buSzPts val="1100"/>
              <a:buFont typeface="Arial"/>
              <a:buNone/>
            </a:pPr>
            <a:r>
              <a:rPr lang="en-US"/>
              <a:t>In a telemarketing context, there is no single "best" model — the choice depends on what the bank values more: catching every possible subscriber (high TPR) or avoiding wasted agent hours (low FPR). Both are legitimate business objectives.</a:t>
            </a:r>
            <a:endParaRPr/>
          </a:p>
          <a:p>
            <a:pPr marL="0" lvl="0" indent="0" algn="l" rtl="0">
              <a:spcBef>
                <a:spcPts val="0"/>
              </a:spcBef>
              <a:spcAft>
                <a:spcPts val="0"/>
              </a:spcAft>
              <a:buClr>
                <a:schemeClr val="dk1"/>
              </a:buClr>
              <a:buSzPts val="1100"/>
              <a:buFont typeface="Arial"/>
              <a:buNone/>
            </a:pPr>
            <a:r>
              <a:rPr lang="en-US"/>
              <a:t>For a campaign in a period of low capacity (few agents available), NB Selected minimises false positives and ensures that every call placed has the highest possible chance of success (FPR 6.38%, Precision 43.33%).</a:t>
            </a:r>
            <a:endParaRPr/>
          </a:p>
          <a:p>
            <a:pPr marL="0" lvl="0" indent="0" algn="l" rtl="0">
              <a:spcBef>
                <a:spcPts val="0"/>
              </a:spcBef>
              <a:spcAft>
                <a:spcPts val="0"/>
              </a:spcAft>
              <a:buClr>
                <a:schemeClr val="dk1"/>
              </a:buClr>
              <a:buSzPts val="1100"/>
              <a:buFont typeface="Arial"/>
              <a:buNone/>
            </a:pPr>
            <a:r>
              <a:rPr lang="en-US"/>
              <a:t>For a campaign in a period of high capacity (many agents, broad outreach), DT Optimized maximises the number of subscribers captured (TPR 78.85%) while still improving on the baseline FPR.</a:t>
            </a:r>
            <a:endParaRPr/>
          </a:p>
          <a:p>
            <a:pPr marL="0" lvl="0" indent="0" algn="l" rtl="0">
              <a:spcBef>
                <a:spcPts val="0"/>
              </a:spcBef>
              <a:spcAft>
                <a:spcPts val="0"/>
              </a:spcAft>
              <a:buNone/>
            </a:pPr>
            <a:r>
              <a:rPr lang="en-US"/>
              <a:t>The DT Optimized is the primary recommendation because it is the only model that improves simultaneously on Accuracy, FPR, and F1-Score compared to the baseline — making it the most defensible choice regardless of the specific operational context.</a:t>
            </a:r>
            <a:endParaRPr/>
          </a:p>
        </p:txBody>
      </p:sp>
      <p:sp>
        <p:nvSpPr>
          <p:cNvPr id="288" name="Google Shape;288;g3dff56829e4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58b86ffb3_0_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g3d58b86ffb3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b="1"/>
              <a:t>Prioritise call duration as the primary campaign signal. </a:t>
            </a:r>
            <a:endParaRPr b="1"/>
          </a:p>
          <a:p>
            <a:pPr marL="457200" lvl="0" indent="-317500" algn="l" rtl="0">
              <a:lnSpc>
                <a:spcPct val="90000"/>
              </a:lnSpc>
              <a:spcBef>
                <a:spcPts val="0"/>
              </a:spcBef>
              <a:spcAft>
                <a:spcPts val="0"/>
              </a:spcAft>
              <a:buSzPts val="1400"/>
              <a:buChar char="-"/>
            </a:pPr>
            <a:r>
              <a:rPr lang="en-US"/>
              <a:t>Aim to engage customers longer during calls.</a:t>
            </a:r>
            <a:endParaRPr/>
          </a:p>
          <a:p>
            <a:pPr marL="457200" lvl="0" indent="-317500" algn="l" rtl="0">
              <a:lnSpc>
                <a:spcPct val="90000"/>
              </a:lnSpc>
              <a:spcBef>
                <a:spcPts val="0"/>
              </a:spcBef>
              <a:spcAft>
                <a:spcPts val="0"/>
              </a:spcAft>
              <a:buSzPts val="1400"/>
              <a:buChar char="-"/>
            </a:pPr>
            <a:r>
              <a:rPr lang="en-US"/>
              <a:t>Calls that reach up to 645 seconds (apprx. 10 mins) are more likely to be successful.</a:t>
            </a:r>
            <a:endParaRPr/>
          </a:p>
          <a:p>
            <a:pPr marL="0" lvl="0" indent="0" algn="l" rtl="0">
              <a:lnSpc>
                <a:spcPct val="90000"/>
              </a:lnSpc>
              <a:spcBef>
                <a:spcPts val="0"/>
              </a:spcBef>
              <a:spcAft>
                <a:spcPts val="0"/>
              </a:spcAft>
              <a:buNone/>
            </a:pPr>
            <a:endParaRPr b="1"/>
          </a:p>
          <a:p>
            <a:pPr marL="0" lvl="0" indent="0" algn="l" rtl="0">
              <a:lnSpc>
                <a:spcPct val="90000"/>
              </a:lnSpc>
              <a:spcBef>
                <a:spcPts val="0"/>
              </a:spcBef>
              <a:spcAft>
                <a:spcPts val="0"/>
              </a:spcAft>
              <a:buNone/>
            </a:pPr>
            <a:r>
              <a:rPr lang="en-US" b="1"/>
              <a:t>Target customers with a prior successful campaign outcome first. </a:t>
            </a:r>
            <a:endParaRPr b="1"/>
          </a:p>
          <a:p>
            <a:pPr marL="457200" lvl="0" indent="-317500" algn="l" rtl="0">
              <a:lnSpc>
                <a:spcPct val="90000"/>
              </a:lnSpc>
              <a:spcBef>
                <a:spcPts val="0"/>
              </a:spcBef>
              <a:spcAft>
                <a:spcPts val="0"/>
              </a:spcAft>
              <a:buSzPts val="1400"/>
              <a:buChar char="-"/>
            </a:pPr>
            <a:r>
              <a:rPr lang="en-US"/>
              <a:t>Customers with poutcome = success converted at 64.3%</a:t>
            </a:r>
            <a:endParaRPr/>
          </a:p>
          <a:p>
            <a:pPr marL="0" lvl="0" indent="0" algn="l" rtl="0">
              <a:lnSpc>
                <a:spcPct val="90000"/>
              </a:lnSpc>
              <a:spcBef>
                <a:spcPts val="0"/>
              </a:spcBef>
              <a:spcAft>
                <a:spcPts val="0"/>
              </a:spcAft>
              <a:buNone/>
            </a:pPr>
            <a:endParaRPr b="1"/>
          </a:p>
          <a:p>
            <a:pPr marL="0" lvl="0" indent="0" algn="l" rtl="0">
              <a:lnSpc>
                <a:spcPct val="90000"/>
              </a:lnSpc>
              <a:spcBef>
                <a:spcPts val="0"/>
              </a:spcBef>
              <a:spcAft>
                <a:spcPts val="0"/>
              </a:spcAft>
              <a:buNone/>
            </a:pPr>
            <a:r>
              <a:rPr lang="en-US" b="1"/>
              <a:t>Address class imbalance in future modelling cycles.</a:t>
            </a:r>
            <a:endParaRPr b="1"/>
          </a:p>
          <a:p>
            <a:pPr marL="457200" lvl="0" indent="-317500" algn="l" rtl="0">
              <a:lnSpc>
                <a:spcPct val="90000"/>
              </a:lnSpc>
              <a:spcBef>
                <a:spcPts val="0"/>
              </a:spcBef>
              <a:spcAft>
                <a:spcPts val="0"/>
              </a:spcAft>
              <a:buSzPts val="1400"/>
              <a:buChar char="-"/>
            </a:pPr>
            <a:r>
              <a:rPr lang="en-US"/>
              <a:t>With 88.5% negative cases, all six models are structurally biased toward predicting "no." </a:t>
            </a:r>
            <a:endParaRPr/>
          </a:p>
          <a:p>
            <a:pPr marL="457200" lvl="0" indent="-317500" algn="l" rtl="0">
              <a:lnSpc>
                <a:spcPct val="90000"/>
              </a:lnSpc>
              <a:spcBef>
                <a:spcPts val="0"/>
              </a:spcBef>
              <a:spcAft>
                <a:spcPts val="0"/>
              </a:spcAft>
              <a:buSzPts val="1400"/>
              <a:buChar char="-"/>
            </a:pPr>
            <a:r>
              <a:rPr lang="en-US"/>
              <a:t>Exploring oversampling techniques such as SMOTE is the single highest-impact technical improvement available for future iterations, with the potential to significantly improve TPR without sacrificing FPR.</a:t>
            </a:r>
            <a:endParaRPr b="1"/>
          </a:p>
        </p:txBody>
      </p:sp>
      <p:sp>
        <p:nvSpPr>
          <p:cNvPr id="295" name="Google Shape;295;g3d58b86ffb3_0_1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76b511108_1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3d76b511108_1_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K-Means clustering was applied to the prepared df_model using 9 features: age_group, education, log_balance, log_duration, campaign, pdays, previous, day, and month. Features were standardised using StandardScaler before clustering. The resulting four clusters were synced back to df_prep to enable interpretation using the original readable attribute values.</a:t>
            </a:r>
            <a:endParaRPr/>
          </a:p>
          <a:p>
            <a:pPr marL="457200" lvl="0" indent="-317500" algn="l" rtl="0">
              <a:spcBef>
                <a:spcPts val="0"/>
              </a:spcBef>
              <a:spcAft>
                <a:spcPts val="0"/>
              </a:spcAft>
              <a:buSzPts val="1400"/>
              <a:buChar char="-"/>
            </a:pPr>
            <a:r>
              <a:rPr lang="en-US" b="1"/>
              <a:t>Cluster 2</a:t>
            </a:r>
            <a:r>
              <a:rPr lang="en-US"/>
              <a:t> is the most actionable finding from this analysis. These are Early Mid-Age (30–45) Blue-Collar customers who were contacted approximately 9 months ago (272 days). Their 19.6% conversion rate is nearly double the dataset average and nearly 7× the rate of Cluster 3. The common factor is prior engagement — they have been in the bank's pipeline before and have not yet converted, making them warm leads rather than cold contacts.</a:t>
            </a:r>
            <a:endParaRPr/>
          </a:p>
          <a:p>
            <a:pPr marL="457200" lvl="0" indent="-317500" algn="l" rtl="0">
              <a:spcBef>
                <a:spcPts val="0"/>
              </a:spcBef>
              <a:spcAft>
                <a:spcPts val="0"/>
              </a:spcAft>
              <a:buSzPts val="1400"/>
              <a:buChar char="-"/>
            </a:pPr>
            <a:r>
              <a:rPr lang="en-US" b="1"/>
              <a:t>Cluster 3 </a:t>
            </a:r>
            <a:r>
              <a:rPr lang="en-US"/>
              <a:t>is the most important negative finding. At 12.8 average contacts and a 3.0% conversion rate, these customers are the definition of campaign fatigue. Every additional call to this segment costs agent time and risks brand damage. They should be automatically flagged in the CRM and excluded from active campaign lists for at least two campaign cycles.</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The radar chart (9-dimension customer DNA) visualises all four clusters across the full feature space simultaneously, confirming that Cluster 2's differentiating characteristic is its pdays value (prior contact recency) and that Cluster 3 is uniquely high on campaign (contact frequency).</a:t>
            </a:r>
            <a:endParaRPr/>
          </a:p>
        </p:txBody>
      </p:sp>
      <p:sp>
        <p:nvSpPr>
          <p:cNvPr id="302" name="Google Shape;302;g3d76b511108_1_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d8bdde6e75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g3d8bdde6e75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US"/>
              <a:t>The radar chart (9-dimension customer DNA) visualises all four clusters across the full feature space simultaneously, confirming that Cluster 2's differentiating characteristic is its pdays value (prior contact recency) and that Cluster 3 is uniquely high on campaign (contact frequency).</a:t>
            </a:r>
            <a:endParaRPr/>
          </a:p>
        </p:txBody>
      </p:sp>
      <p:sp>
        <p:nvSpPr>
          <p:cNvPr id="312" name="Google Shape;312;g3d8bdde6e75_0_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d58b86ffb3_0_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3d58b86ffb3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K-Means cluster analysis (Bonus 2) identified four distinct customer personas from the data:</a:t>
            </a:r>
            <a:endParaRPr/>
          </a:p>
          <a:p>
            <a:pPr marL="0" lvl="0" indent="0" algn="l" rtl="0">
              <a:spcBef>
                <a:spcPts val="0"/>
              </a:spcBef>
              <a:spcAft>
                <a:spcPts val="0"/>
              </a:spcAft>
              <a:buNone/>
            </a:pPr>
            <a:r>
              <a:rPr lang="en-US" b="1"/>
              <a:t>Target secondary segments strategically based on cluster profiles.</a:t>
            </a:r>
            <a:endParaRPr b="1"/>
          </a:p>
          <a:p>
            <a:pPr marL="457200" lvl="0" indent="-317500" algn="l" rtl="0">
              <a:spcBef>
                <a:spcPts val="0"/>
              </a:spcBef>
              <a:spcAft>
                <a:spcPts val="0"/>
              </a:spcAft>
              <a:buSzPts val="1400"/>
              <a:buChar char="-"/>
            </a:pPr>
            <a:r>
              <a:rPr lang="en-US" b="1"/>
              <a:t>Cluster 0 </a:t>
            </a:r>
            <a:r>
              <a:rPr lang="en-US"/>
              <a:t>customers (Blue-Collar, avg. age 35, 10.1% success rate) represent the largest volume group and long-term pipeline potential. Maintain low-cost automated engagement.</a:t>
            </a:r>
            <a:endParaRPr/>
          </a:p>
          <a:p>
            <a:pPr marL="457200" lvl="0" indent="-317500" algn="l" rtl="0">
              <a:spcBef>
                <a:spcPts val="0"/>
              </a:spcBef>
              <a:spcAft>
                <a:spcPts val="0"/>
              </a:spcAft>
              <a:buSzPts val="1400"/>
              <a:buChar char="-"/>
            </a:pPr>
            <a:r>
              <a:rPr lang="en-US" b="1"/>
              <a:t>Cluster 1</a:t>
            </a:r>
            <a:r>
              <a:rPr lang="en-US"/>
              <a:t> customers (Management, avg. age 50, 11.8% success rate) represent the most financially stable segment with the highest median balances ($693) and lower housing debt (43.4%) — ideal for "wealth preservation" deposit messaging.</a:t>
            </a:r>
            <a:endParaRPr/>
          </a:p>
          <a:p>
            <a:pPr marL="457200" lvl="0" indent="-317500" algn="l" rtl="0">
              <a:spcBef>
                <a:spcPts val="0"/>
              </a:spcBef>
              <a:spcAft>
                <a:spcPts val="0"/>
              </a:spcAft>
              <a:buSzPts val="1400"/>
              <a:buChar char="-"/>
            </a:pPr>
            <a:r>
              <a:rPr lang="en-US" b="1"/>
              <a:t>Cluster 2 is the "Gold Mine" — despite being Blue-Collar workers with moderate balances, they have a prior engagement history (272 days since last contact) and convert at 19.6%, nearly double the overall rate. </a:t>
            </a:r>
            <a:r>
              <a:rPr lang="en-US"/>
              <a:t>Prior contact is the key differentiator for this cluster.</a:t>
            </a:r>
            <a:endParaRPr/>
          </a:p>
          <a:p>
            <a:pPr marL="457200" lvl="0" indent="-317500" algn="l" rtl="0">
              <a:spcBef>
                <a:spcPts val="0"/>
              </a:spcBef>
              <a:spcAft>
                <a:spcPts val="0"/>
              </a:spcAft>
              <a:buSzPts val="1400"/>
              <a:buChar char="-"/>
            </a:pPr>
            <a:r>
              <a:rPr lang="en-US" b="1"/>
              <a:t>Cluster 3 is the inverse — these are over-contacted customers who have tuned out. </a:t>
            </a:r>
            <a:r>
              <a:rPr lang="en-US"/>
              <a:t>Their 3.0% conversion rate combined with 12.8 average contacts represents a negative ROI per call and should trigger an automatic exclusion rule in the bank's CRM system.</a:t>
            </a:r>
            <a:endParaRPr/>
          </a:p>
          <a:p>
            <a:pPr marL="0" lvl="0" indent="0" algn="l" rtl="0">
              <a:spcBef>
                <a:spcPts val="0"/>
              </a:spcBef>
              <a:spcAft>
                <a:spcPts val="0"/>
              </a:spcAft>
              <a:buNone/>
            </a:pPr>
            <a:endParaRPr/>
          </a:p>
          <a:p>
            <a:pPr marL="0" lvl="0" indent="0" algn="l" rtl="0">
              <a:lnSpc>
                <a:spcPct val="90000"/>
              </a:lnSpc>
              <a:spcBef>
                <a:spcPts val="0"/>
              </a:spcBef>
              <a:spcAft>
                <a:spcPts val="0"/>
              </a:spcAft>
              <a:buClr>
                <a:schemeClr val="dk1"/>
              </a:buClr>
              <a:buSzPts val="1100"/>
              <a:buFont typeface="Arial"/>
              <a:buNone/>
            </a:pPr>
            <a:r>
              <a:rPr lang="en-US" b="1"/>
              <a:t>Recommendations based on the bonus K-means Clustering Analysis:</a:t>
            </a:r>
            <a:endParaRPr b="1"/>
          </a:p>
          <a:p>
            <a:pPr marL="342900" lvl="0" indent="-304800" algn="l" rtl="0">
              <a:lnSpc>
                <a:spcPct val="90000"/>
              </a:lnSpc>
              <a:spcBef>
                <a:spcPts val="0"/>
              </a:spcBef>
              <a:spcAft>
                <a:spcPts val="0"/>
              </a:spcAft>
              <a:buClr>
                <a:schemeClr val="dk1"/>
              </a:buClr>
              <a:buSzPts val="1200"/>
              <a:buChar char="•"/>
            </a:pPr>
            <a:r>
              <a:rPr lang="en-US" b="1"/>
              <a:t>Prioritise Cluster 2 customers as the primary contact list.</a:t>
            </a:r>
            <a:endParaRPr b="1"/>
          </a:p>
          <a:p>
            <a:pPr marL="742950" lvl="1" indent="-247650" algn="l" rtl="0">
              <a:lnSpc>
                <a:spcPct val="90000"/>
              </a:lnSpc>
              <a:spcBef>
                <a:spcPts val="0"/>
              </a:spcBef>
              <a:spcAft>
                <a:spcPts val="0"/>
              </a:spcAft>
              <a:buClr>
                <a:schemeClr val="dk1"/>
              </a:buClr>
              <a:buSzPts val="1200"/>
              <a:buChar char="–"/>
            </a:pPr>
            <a:r>
              <a:rPr lang="en-US"/>
              <a:t>K-Means clustering identified Cluster 2 — Early Mid-Age (avg. 38), Blue-Collar, with a prior contact 272 days ago — as the highest-conversion segment at 19.6% subscription rate. These customers have demonstrated prior engagement and should be exhausted before any cold outreach begins.</a:t>
            </a:r>
            <a:endParaRPr/>
          </a:p>
          <a:p>
            <a:pPr marL="342900" lvl="0" indent="-304800" algn="l" rtl="0">
              <a:lnSpc>
                <a:spcPct val="90000"/>
              </a:lnSpc>
              <a:spcBef>
                <a:spcPts val="0"/>
              </a:spcBef>
              <a:spcAft>
                <a:spcPts val="0"/>
              </a:spcAft>
              <a:buClr>
                <a:schemeClr val="dk1"/>
              </a:buClr>
              <a:buSzPts val="1200"/>
              <a:buChar char="•"/>
            </a:pPr>
            <a:r>
              <a:rPr lang="en-US" b="1"/>
              <a:t>Cease contact with Cluster 3 customers immediately.</a:t>
            </a:r>
            <a:endParaRPr b="1"/>
          </a:p>
          <a:p>
            <a:pPr marL="742950" lvl="1" indent="-247650" algn="l" rtl="0">
              <a:lnSpc>
                <a:spcPct val="90000"/>
              </a:lnSpc>
              <a:spcBef>
                <a:spcPts val="0"/>
              </a:spcBef>
              <a:spcAft>
                <a:spcPts val="0"/>
              </a:spcAft>
              <a:buClr>
                <a:schemeClr val="dk1"/>
              </a:buClr>
              <a:buSzPts val="1200"/>
              <a:buChar char="–"/>
            </a:pPr>
            <a:r>
              <a:rPr lang="en-US"/>
              <a:t>Cluster 3 customers have received an average of 12.8 campaign contacts and convert at only 3.0%. Continued outreach is actively damaging brand perception. A 6–12 month cooling-off period is recommended before any re-engagement.</a:t>
            </a:r>
            <a:endParaRPr/>
          </a:p>
          <a:p>
            <a:pPr marL="342900" lvl="0" indent="-317183" algn="l" rtl="0">
              <a:lnSpc>
                <a:spcPct val="90000"/>
              </a:lnSpc>
              <a:spcBef>
                <a:spcPts val="0"/>
              </a:spcBef>
              <a:spcAft>
                <a:spcPts val="0"/>
              </a:spcAft>
              <a:buClr>
                <a:schemeClr val="dk1"/>
              </a:buClr>
              <a:buSzPts val="1395"/>
              <a:buChar char="•"/>
            </a:pPr>
            <a:r>
              <a:rPr lang="en-US" b="1"/>
              <a:t>Segment outreach lists by cluster before dialling. </a:t>
            </a:r>
            <a:endParaRPr b="1"/>
          </a:p>
          <a:p>
            <a:pPr marL="742950" lvl="1" indent="-260032" algn="l" rtl="0">
              <a:lnSpc>
                <a:spcPct val="90000"/>
              </a:lnSpc>
              <a:spcBef>
                <a:spcPts val="0"/>
              </a:spcBef>
              <a:spcAft>
                <a:spcPts val="0"/>
              </a:spcAft>
              <a:buClr>
                <a:schemeClr val="dk1"/>
              </a:buClr>
              <a:buSzPts val="1395"/>
              <a:buChar char="–"/>
            </a:pPr>
            <a:r>
              <a:rPr lang="en-US"/>
              <a:t>Prioritise Cluster 2 → Cluster 1 → Cluster 0 in that order. Exclude Cluster 3 from active campaigns entirely.</a:t>
            </a:r>
            <a:endParaRPr/>
          </a:p>
        </p:txBody>
      </p:sp>
      <p:sp>
        <p:nvSpPr>
          <p:cNvPr id="319" name="Google Shape;319;g3d58b86ffb3_0_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d8c26e8cbf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d8c26e8cbf_1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close out my section, we performed a </a:t>
            </a:r>
            <a:r>
              <a:rPr lang="en-US" sz="1100" b="1">
                <a:latin typeface="Arial"/>
                <a:ea typeface="Arial"/>
                <a:cs typeface="Arial"/>
                <a:sym typeface="Arial"/>
              </a:rPr>
              <a:t>stress test</a:t>
            </a:r>
            <a:r>
              <a:rPr lang="en-US" sz="1100">
                <a:latin typeface="Arial"/>
                <a:ea typeface="Arial"/>
                <a:cs typeface="Arial"/>
                <a:sym typeface="Arial"/>
              </a:rPr>
              <a:t> on our results. </a:t>
            </a:r>
            <a:r>
              <a:rPr lang="en-US" sz="1100" dirty="0">
                <a:latin typeface="Arial"/>
                <a:ea typeface="Arial"/>
                <a:cs typeface="Arial"/>
                <a:sym typeface="Arial"/>
              </a:rPr>
              <a:t>As you saw earlier, </a:t>
            </a:r>
            <a:r>
              <a:rPr lang="en-US" sz="1100" dirty="0" err="1">
                <a:solidFill>
                  <a:srgbClr val="188038"/>
                </a:solidFill>
                <a:latin typeface="Roboto Mono"/>
                <a:ea typeface="Roboto Mono"/>
                <a:cs typeface="Roboto Mono"/>
                <a:sym typeface="Roboto Mono"/>
              </a:rPr>
              <a:t>log_duration</a:t>
            </a:r>
            <a:r>
              <a:rPr lang="en-US" sz="1100" dirty="0">
                <a:latin typeface="Arial"/>
                <a:ea typeface="Arial"/>
                <a:cs typeface="Arial"/>
                <a:sym typeface="Arial"/>
              </a:rPr>
              <a:t> was our most powerful predictor, but in the world of telemarketing, duration is what we call a </a:t>
            </a:r>
            <a:r>
              <a:rPr lang="en-US" sz="1100" b="1" dirty="0">
                <a:latin typeface="Arial"/>
                <a:ea typeface="Arial"/>
                <a:cs typeface="Arial"/>
                <a:sym typeface="Arial"/>
              </a:rPr>
              <a:t>'leaky feature.'</a:t>
            </a:r>
            <a:r>
              <a:rPr lang="en-US" sz="1100" dirty="0">
                <a:latin typeface="Arial"/>
                <a:ea typeface="Arial"/>
                <a:cs typeface="Arial"/>
                <a:sym typeface="Arial"/>
              </a:rPr>
              <a:t> You don't know how long a call will last until the call is already over, which makes it less useful for pre-call targeting."</a:t>
            </a:r>
            <a:endParaRPr sz="11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dirty="0">
                <a:latin typeface="Arial"/>
                <a:ea typeface="Arial"/>
                <a:cs typeface="Arial"/>
                <a:sym typeface="Arial"/>
              </a:rPr>
              <a:t>"We ran a shadow model completely excluding duration to see if our other features could hold the line. While our </a:t>
            </a:r>
            <a:r>
              <a:rPr lang="en-US" sz="1100" b="1" dirty="0">
                <a:latin typeface="Arial"/>
                <a:ea typeface="Arial"/>
                <a:cs typeface="Arial"/>
                <a:sym typeface="Arial"/>
              </a:rPr>
              <a:t>Recall</a:t>
            </a:r>
            <a:r>
              <a:rPr lang="en-US" sz="1100" dirty="0">
                <a:latin typeface="Arial"/>
                <a:ea typeface="Arial"/>
                <a:cs typeface="Arial"/>
                <a:sym typeface="Arial"/>
              </a:rPr>
              <a:t> dropped from 79% to 55% and our </a:t>
            </a:r>
            <a:r>
              <a:rPr lang="en-US" sz="1100" b="1" dirty="0">
                <a:latin typeface="Arial"/>
                <a:ea typeface="Arial"/>
                <a:cs typeface="Arial"/>
                <a:sym typeface="Arial"/>
              </a:rPr>
              <a:t>F1-Score</a:t>
            </a:r>
            <a:r>
              <a:rPr lang="en-US" sz="1100" dirty="0">
                <a:latin typeface="Arial"/>
                <a:ea typeface="Arial"/>
                <a:cs typeface="Arial"/>
                <a:sym typeface="Arial"/>
              </a:rPr>
              <a:t> took a hit, a 55% Recall is still significantly better than random guessing. This confirms that our other 'Golden Ticket' features—like prior campaign success and contact method—provide a solid, non-leaky foundation for the bank to build on, even when we remove the most dominant variable."</a:t>
            </a:r>
            <a:endParaRPr sz="1100" dirty="0">
              <a:latin typeface="Arial"/>
              <a:ea typeface="Arial"/>
              <a:cs typeface="Arial"/>
              <a:sym typeface="Arial"/>
            </a:endParaRPr>
          </a:p>
          <a:p>
            <a:pPr marL="0" lvl="0" indent="0" algn="l" rtl="0">
              <a:spcBef>
                <a:spcPts val="1200"/>
              </a:spcBef>
              <a:spcAft>
                <a:spcPts val="0"/>
              </a:spcAft>
              <a:buNone/>
            </a:pPr>
            <a:r>
              <a:rPr lang="en-US" dirty="0"/>
              <a:t>“While Precision dropped, catching 55% of subscribers (Recall) without knowing the call length is still a massive operational win for a cold-calling campaign.”</a:t>
            </a:r>
            <a:endParaRPr dirty="0"/>
          </a:p>
        </p:txBody>
      </p:sp>
      <p:sp>
        <p:nvSpPr>
          <p:cNvPr id="326" name="Google Shape;326;g3d8c26e8cbf_1_1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10" descr="File:TMU logo.svg - Wikimedia Commons"/>
          <p:cNvPicPr preferRelativeResize="0"/>
          <p:nvPr/>
        </p:nvPicPr>
        <p:blipFill>
          <a:blip r:embed="rId2">
            <a:alphaModFix/>
          </a:blip>
          <a:stretch>
            <a:fillRect/>
          </a:stretch>
        </p:blipFill>
        <p:spPr>
          <a:xfrm>
            <a:off x="-4675" y="5924550"/>
            <a:ext cx="1716698" cy="9334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6"/>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3886200" y="6408941"/>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9" descr="File:TMU logo.svg - Wikimedia Commons"/>
          <p:cNvPicPr preferRelativeResize="0"/>
          <p:nvPr/>
        </p:nvPicPr>
        <p:blipFill>
          <a:blip r:embed="rId13">
            <a:alphaModFix/>
          </a:blip>
          <a:stretch>
            <a:fillRect/>
          </a:stretch>
        </p:blipFill>
        <p:spPr>
          <a:xfrm>
            <a:off x="-4675" y="5924550"/>
            <a:ext cx="1716698" cy="9334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800"/>
              <a:t>Bank Telemarketing </a:t>
            </a:r>
            <a:endParaRPr sz="4800"/>
          </a:p>
        </p:txBody>
      </p:sp>
      <p:sp>
        <p:nvSpPr>
          <p:cNvPr id="90" name="Google Shape;90;p1"/>
          <p:cNvSpPr txBox="1">
            <a:spLocks noGrp="1"/>
          </p:cNvSpPr>
          <p:nvPr>
            <p:ph type="subTitle" idx="1"/>
          </p:nvPr>
        </p:nvSpPr>
        <p:spPr>
          <a:xfrm>
            <a:off x="1028700" y="3600425"/>
            <a:ext cx="7086600" cy="1752600"/>
          </a:xfrm>
          <a:prstGeom prst="rect">
            <a:avLst/>
          </a:prstGeom>
          <a:noFill/>
          <a:ln>
            <a:noFill/>
          </a:ln>
        </p:spPr>
        <p:txBody>
          <a:bodyPr spcFirstLastPara="1" wrap="square" lIns="91425" tIns="45700" rIns="91425" bIns="45700" anchor="t" anchorCtr="0">
            <a:normAutofit fontScale="77500"/>
          </a:bodyPr>
          <a:lstStyle/>
          <a:p>
            <a:pPr marL="0" lvl="0" indent="0" algn="ctr" rtl="0">
              <a:spcBef>
                <a:spcPts val="0"/>
              </a:spcBef>
              <a:spcAft>
                <a:spcPts val="0"/>
              </a:spcAft>
              <a:buClr>
                <a:schemeClr val="dk1"/>
              </a:buClr>
              <a:buSzPct val="100000"/>
              <a:buFont typeface="Calibri"/>
              <a:buNone/>
            </a:pPr>
            <a:r>
              <a:rPr lang="en-US" sz="4400">
                <a:solidFill>
                  <a:schemeClr val="dk1"/>
                </a:solidFill>
              </a:rPr>
              <a:t>CIND119 - Group 2</a:t>
            </a:r>
            <a:endParaRPr/>
          </a:p>
          <a:p>
            <a:pPr marL="0" lvl="0" indent="0" algn="ctr" rtl="0">
              <a:spcBef>
                <a:spcPts val="0"/>
              </a:spcBef>
              <a:spcAft>
                <a:spcPts val="0"/>
              </a:spcAft>
              <a:buClr>
                <a:srgbClr val="888888"/>
              </a:buClr>
              <a:buSzPct val="100000"/>
              <a:buNone/>
            </a:pPr>
            <a:r>
              <a:rPr lang="en-US"/>
              <a:t>Carman Fan, carman.fan@torontomu.ca</a:t>
            </a:r>
            <a:br>
              <a:rPr lang="en-US"/>
            </a:br>
            <a:r>
              <a:rPr lang="en-US"/>
              <a:t>Carlos Elizondo, celizondo@torontomu.ca </a:t>
            </a:r>
            <a:br>
              <a:rPr lang="en-US"/>
            </a:br>
            <a:r>
              <a:rPr lang="en-US"/>
              <a:t>Thanos Paschalis, thanasios.paschalis@torontomu.ca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Introduction</a:t>
            </a:r>
            <a:endParaRPr/>
          </a:p>
        </p:txBody>
      </p:sp>
      <p:sp>
        <p:nvSpPr>
          <p:cNvPr id="97" name="Google Shape;97;p2"/>
          <p:cNvSpPr txBox="1">
            <a:spLocks noGrp="1"/>
          </p:cNvSpPr>
          <p:nvPr>
            <p:ph type="body" idx="1"/>
          </p:nvPr>
        </p:nvSpPr>
        <p:spPr>
          <a:xfrm>
            <a:off x="457225" y="1417650"/>
            <a:ext cx="8229600" cy="3586200"/>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000"/>
              <a:t>Aim of the Project:</a:t>
            </a:r>
            <a:endParaRPr sz="2000"/>
          </a:p>
          <a:p>
            <a:pPr marL="914400" lvl="1" indent="-355600" algn="l" rtl="0">
              <a:lnSpc>
                <a:spcPct val="115000"/>
              </a:lnSpc>
              <a:spcBef>
                <a:spcPts val="0"/>
              </a:spcBef>
              <a:spcAft>
                <a:spcPts val="0"/>
              </a:spcAft>
              <a:buSzPts val="2000"/>
              <a:buChar char="○"/>
            </a:pPr>
            <a:r>
              <a:rPr lang="en-US" sz="2000"/>
              <a:t>A Portuguese bank seeks to improve its telemarketing strategy to identify customers likely to subscribe to a long-term deposit account</a:t>
            </a:r>
            <a:endParaRPr sz="2000"/>
          </a:p>
          <a:p>
            <a:pPr marL="457200" lvl="0" indent="-355600" algn="l" rtl="0">
              <a:lnSpc>
                <a:spcPct val="115000"/>
              </a:lnSpc>
              <a:spcBef>
                <a:spcPts val="0"/>
              </a:spcBef>
              <a:spcAft>
                <a:spcPts val="0"/>
              </a:spcAft>
              <a:buSzPts val="2000"/>
              <a:buChar char="●"/>
            </a:pPr>
            <a:r>
              <a:rPr lang="en-US" sz="2000"/>
              <a:t>Why Machine Learning?</a:t>
            </a:r>
            <a:endParaRPr sz="2000"/>
          </a:p>
          <a:p>
            <a:pPr marL="914400" lvl="1" indent="-355600" algn="l" rtl="0">
              <a:lnSpc>
                <a:spcPct val="115000"/>
              </a:lnSpc>
              <a:spcBef>
                <a:spcPts val="0"/>
              </a:spcBef>
              <a:spcAft>
                <a:spcPts val="0"/>
              </a:spcAft>
              <a:buSzPts val="2000"/>
              <a:buChar char="○"/>
            </a:pPr>
            <a:r>
              <a:rPr lang="en-US" sz="2000"/>
              <a:t>Phone-based campaigns require predicting subscription likelihood in advance to reduce cost and improve conversion rates</a:t>
            </a:r>
            <a:endParaRPr sz="2000"/>
          </a:p>
          <a:p>
            <a:pPr marL="457200" lvl="0" indent="-355600" algn="l" rtl="0">
              <a:lnSpc>
                <a:spcPct val="115000"/>
              </a:lnSpc>
              <a:spcBef>
                <a:spcPts val="0"/>
              </a:spcBef>
              <a:spcAft>
                <a:spcPts val="0"/>
              </a:spcAft>
              <a:buSzPts val="2000"/>
              <a:buChar char="●"/>
            </a:pPr>
            <a:r>
              <a:rPr lang="en-US" sz="2000" b="1"/>
              <a:t>Goal:</a:t>
            </a:r>
            <a:r>
              <a:rPr lang="en-US" sz="2000"/>
              <a:t> apply data analytics and machine learning classification to support data-driven targeting decisions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3d4e5a5490e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Methodology</a:t>
            </a:r>
            <a:endParaRPr/>
          </a:p>
        </p:txBody>
      </p:sp>
      <p:sp>
        <p:nvSpPr>
          <p:cNvPr id="104" name="Google Shape;104;g3d4e5a5490e_0_0"/>
          <p:cNvSpPr txBox="1">
            <a:spLocks noGrp="1"/>
          </p:cNvSpPr>
          <p:nvPr>
            <p:ph type="body" idx="1"/>
          </p:nvPr>
        </p:nvSpPr>
        <p:spPr>
          <a:xfrm>
            <a:off x="457200" y="1417650"/>
            <a:ext cx="8229600" cy="4708800"/>
          </a:xfrm>
          <a:prstGeom prst="rect">
            <a:avLst/>
          </a:prstGeom>
        </p:spPr>
        <p:txBody>
          <a:bodyPr spcFirstLastPara="1" wrap="square" lIns="91425" tIns="45700" rIns="91425" bIns="45700" anchor="t" anchorCtr="0">
            <a:normAutofit/>
          </a:bodyPr>
          <a:lstStyle/>
          <a:p>
            <a:pPr marL="457200" lvl="0" indent="-361950" algn="l" rtl="0">
              <a:lnSpc>
                <a:spcPct val="115000"/>
              </a:lnSpc>
              <a:spcBef>
                <a:spcPts val="360"/>
              </a:spcBef>
              <a:spcAft>
                <a:spcPts val="0"/>
              </a:spcAft>
              <a:buSzPts val="2100"/>
              <a:buChar char="•"/>
            </a:pPr>
            <a:r>
              <a:rPr lang="en-US" sz="2100" b="1"/>
              <a:t>Tools:</a:t>
            </a:r>
            <a:endParaRPr sz="2100" b="1"/>
          </a:p>
          <a:p>
            <a:pPr marL="914400" lvl="1" indent="-361950" algn="l" rtl="0">
              <a:lnSpc>
                <a:spcPct val="115000"/>
              </a:lnSpc>
              <a:spcBef>
                <a:spcPts val="0"/>
              </a:spcBef>
              <a:spcAft>
                <a:spcPts val="0"/>
              </a:spcAft>
              <a:buSzPts val="2100"/>
              <a:buChar char="–"/>
            </a:pPr>
            <a:r>
              <a:rPr lang="en-US" sz="2100"/>
              <a:t>Python (pandas, scikit-learn, matplotlib, seaborn)</a:t>
            </a:r>
            <a:endParaRPr sz="2100"/>
          </a:p>
          <a:p>
            <a:pPr marL="457200" lvl="0" indent="-361950" algn="l" rtl="0">
              <a:lnSpc>
                <a:spcPct val="115000"/>
              </a:lnSpc>
              <a:spcBef>
                <a:spcPts val="0"/>
              </a:spcBef>
              <a:spcAft>
                <a:spcPts val="0"/>
              </a:spcAft>
              <a:buSzPts val="2100"/>
              <a:buChar char="•"/>
            </a:pPr>
            <a:r>
              <a:rPr lang="en-US" sz="2100" b="1"/>
              <a:t>Machine Learning Methods:</a:t>
            </a:r>
            <a:endParaRPr sz="2100" b="1"/>
          </a:p>
          <a:p>
            <a:pPr marL="914400" lvl="1" indent="-361950" algn="l" rtl="0">
              <a:lnSpc>
                <a:spcPct val="115000"/>
              </a:lnSpc>
              <a:spcBef>
                <a:spcPts val="0"/>
              </a:spcBef>
              <a:spcAft>
                <a:spcPts val="0"/>
              </a:spcAft>
              <a:buSzPts val="2100"/>
              <a:buChar char="–"/>
            </a:pPr>
            <a:r>
              <a:rPr lang="en-US" sz="2100"/>
              <a:t>Decision Tree (DT) Classification</a:t>
            </a:r>
            <a:endParaRPr sz="2100"/>
          </a:p>
          <a:p>
            <a:pPr marL="914400" lvl="1" indent="-361950" algn="l" rtl="0">
              <a:lnSpc>
                <a:spcPct val="115000"/>
              </a:lnSpc>
              <a:spcBef>
                <a:spcPts val="0"/>
              </a:spcBef>
              <a:spcAft>
                <a:spcPts val="0"/>
              </a:spcAft>
              <a:buSzPts val="2100"/>
              <a:buChar char="–"/>
            </a:pPr>
            <a:r>
              <a:rPr lang="en-US" sz="2100"/>
              <a:t>Naïve Bayes (NB) Classification</a:t>
            </a:r>
            <a:endParaRPr sz="2100"/>
          </a:p>
          <a:p>
            <a:pPr marL="457200" lvl="0" indent="-361950" algn="l" rtl="0">
              <a:lnSpc>
                <a:spcPct val="115000"/>
              </a:lnSpc>
              <a:spcBef>
                <a:spcPts val="0"/>
              </a:spcBef>
              <a:spcAft>
                <a:spcPts val="0"/>
              </a:spcAft>
              <a:buSzPts val="2100"/>
              <a:buChar char="•"/>
            </a:pPr>
            <a:r>
              <a:rPr lang="en-US" sz="2100" b="1"/>
              <a:t>Strategy for Dataset Split:</a:t>
            </a:r>
            <a:r>
              <a:rPr lang="en-US" sz="2100"/>
              <a:t> </a:t>
            </a:r>
            <a:endParaRPr sz="2100"/>
          </a:p>
          <a:p>
            <a:pPr marL="914400" lvl="1" indent="-361950" algn="l" rtl="0">
              <a:lnSpc>
                <a:spcPct val="115000"/>
              </a:lnSpc>
              <a:spcBef>
                <a:spcPts val="0"/>
              </a:spcBef>
              <a:spcAft>
                <a:spcPts val="0"/>
              </a:spcAft>
              <a:buSzPts val="2100"/>
              <a:buChar char="–"/>
            </a:pPr>
            <a:r>
              <a:rPr lang="en-US" sz="2100"/>
              <a:t>Train-Test Split (80/20, stratified sampling)</a:t>
            </a:r>
            <a:endParaRPr sz="2100"/>
          </a:p>
          <a:p>
            <a:pPr marL="457200" lvl="0" indent="-361950" algn="l" rtl="0">
              <a:lnSpc>
                <a:spcPct val="115000"/>
              </a:lnSpc>
              <a:spcBef>
                <a:spcPts val="0"/>
              </a:spcBef>
              <a:spcAft>
                <a:spcPts val="0"/>
              </a:spcAft>
              <a:buSzPts val="2100"/>
              <a:buChar char="•"/>
            </a:pPr>
            <a:r>
              <a:rPr lang="en-US" sz="2100" b="1"/>
              <a:t>Evaluation Metrics:</a:t>
            </a:r>
            <a:endParaRPr sz="2100" b="1"/>
          </a:p>
          <a:p>
            <a:pPr marL="914400" lvl="1" indent="-361950" algn="l" rtl="0">
              <a:lnSpc>
                <a:spcPct val="115000"/>
              </a:lnSpc>
              <a:spcBef>
                <a:spcPts val="0"/>
              </a:spcBef>
              <a:spcAft>
                <a:spcPts val="0"/>
              </a:spcAft>
              <a:buSzPts val="2100"/>
              <a:buChar char="–"/>
            </a:pPr>
            <a:r>
              <a:rPr lang="en-US" sz="2100"/>
              <a:t>Confusion Matrix (True Positive Rate, and False Positive Rate)</a:t>
            </a:r>
            <a:endParaRPr sz="2100"/>
          </a:p>
          <a:p>
            <a:pPr marL="914400" lvl="1" indent="-361950" algn="l" rtl="0">
              <a:lnSpc>
                <a:spcPct val="115000"/>
              </a:lnSpc>
              <a:spcBef>
                <a:spcPts val="0"/>
              </a:spcBef>
              <a:spcAft>
                <a:spcPts val="0"/>
              </a:spcAft>
              <a:buSzPts val="2100"/>
              <a:buChar char="–"/>
            </a:pPr>
            <a:r>
              <a:rPr lang="en-US" sz="2100"/>
              <a:t>Accuracy, Recall, Precision, F1-Score</a:t>
            </a:r>
            <a:endParaRPr sz="2100"/>
          </a:p>
          <a:p>
            <a:pPr marL="914400" lvl="1" indent="-361950" algn="l" rtl="0">
              <a:lnSpc>
                <a:spcPct val="115000"/>
              </a:lnSpc>
              <a:spcBef>
                <a:spcPts val="0"/>
              </a:spcBef>
              <a:spcAft>
                <a:spcPts val="0"/>
              </a:spcAft>
              <a:buSzPts val="2100"/>
              <a:buChar char="–"/>
            </a:pPr>
            <a:r>
              <a:rPr lang="en-US" sz="2100"/>
              <a:t>Classification Report </a:t>
            </a:r>
            <a:endParaRPr sz="2100">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3dff56829e4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Dataset Summary</a:t>
            </a:r>
            <a:endParaRPr/>
          </a:p>
        </p:txBody>
      </p:sp>
      <p:sp>
        <p:nvSpPr>
          <p:cNvPr id="111" name="Google Shape;111;g3dff56829e4_0_0"/>
          <p:cNvSpPr txBox="1">
            <a:spLocks noGrp="1"/>
          </p:cNvSpPr>
          <p:nvPr>
            <p:ph type="body" idx="1"/>
          </p:nvPr>
        </p:nvSpPr>
        <p:spPr>
          <a:xfrm>
            <a:off x="457200" y="1242975"/>
            <a:ext cx="8229600" cy="1552200"/>
          </a:xfrm>
          <a:prstGeom prst="rect">
            <a:avLst/>
          </a:prstGeom>
        </p:spPr>
        <p:txBody>
          <a:bodyPr spcFirstLastPara="1" wrap="square" lIns="91425" tIns="45700" rIns="91425" bIns="45700" anchor="t" anchorCtr="0">
            <a:normAutofit/>
          </a:bodyPr>
          <a:lstStyle/>
          <a:p>
            <a:pPr marL="342900" lvl="0" indent="-368300" algn="l" rtl="0">
              <a:lnSpc>
                <a:spcPct val="100000"/>
              </a:lnSpc>
              <a:spcBef>
                <a:spcPts val="0"/>
              </a:spcBef>
              <a:spcAft>
                <a:spcPts val="0"/>
              </a:spcAft>
              <a:buSzPts val="2200"/>
              <a:buChar char="•"/>
            </a:pPr>
            <a:r>
              <a:rPr lang="en-US" sz="2200"/>
              <a:t>Bank Marketing Dataset</a:t>
            </a:r>
            <a:endParaRPr sz="2200"/>
          </a:p>
          <a:p>
            <a:pPr marL="742950" lvl="1" indent="-317500" algn="l" rtl="0">
              <a:lnSpc>
                <a:spcPct val="100000"/>
              </a:lnSpc>
              <a:spcBef>
                <a:spcPts val="0"/>
              </a:spcBef>
              <a:spcAft>
                <a:spcPts val="0"/>
              </a:spcAft>
              <a:buSzPts val="2300"/>
              <a:buChar char="–"/>
            </a:pPr>
            <a:r>
              <a:rPr lang="en-US" sz="1700"/>
              <a:t>4,521 records (rows)</a:t>
            </a:r>
            <a:endParaRPr sz="1700"/>
          </a:p>
          <a:p>
            <a:pPr marL="742950" lvl="1" indent="-317500" algn="l" rtl="0">
              <a:lnSpc>
                <a:spcPct val="100000"/>
              </a:lnSpc>
              <a:spcBef>
                <a:spcPts val="0"/>
              </a:spcBef>
              <a:spcAft>
                <a:spcPts val="0"/>
              </a:spcAft>
              <a:buSzPts val="2300"/>
              <a:buChar char="–"/>
            </a:pPr>
            <a:r>
              <a:rPr lang="en-US" sz="1700"/>
              <a:t>17 attributes (columns)</a:t>
            </a:r>
            <a:endParaRPr sz="1700"/>
          </a:p>
          <a:p>
            <a:pPr marL="742950" lvl="1" indent="-279400" algn="l" rtl="0">
              <a:lnSpc>
                <a:spcPct val="100000"/>
              </a:lnSpc>
              <a:spcBef>
                <a:spcPts val="0"/>
              </a:spcBef>
              <a:spcAft>
                <a:spcPts val="0"/>
              </a:spcAft>
              <a:buSzPts val="1700"/>
              <a:buChar char="–"/>
            </a:pPr>
            <a:r>
              <a:rPr lang="en-US" sz="1700"/>
              <a:t>Target variable: y — whether the customer subscribed to a term deposit (yes/no)</a:t>
            </a:r>
            <a:endParaRPr sz="1700"/>
          </a:p>
        </p:txBody>
      </p:sp>
      <p:pic>
        <p:nvPicPr>
          <p:cNvPr id="112" name="Google Shape;112;g3dff56829e4_0_0" title="Attributes Table.png"/>
          <p:cNvPicPr preferRelativeResize="0"/>
          <p:nvPr/>
        </p:nvPicPr>
        <p:blipFill>
          <a:blip r:embed="rId3">
            <a:alphaModFix/>
          </a:blip>
          <a:stretch>
            <a:fillRect/>
          </a:stretch>
        </p:blipFill>
        <p:spPr>
          <a:xfrm>
            <a:off x="457198" y="2699924"/>
            <a:ext cx="8229601" cy="31504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d757f392fc_0_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 Preparation: </a:t>
            </a:r>
            <a:br>
              <a:rPr lang="en-US"/>
            </a:br>
            <a:r>
              <a:rPr lang="en-US"/>
              <a:t>Attributes &amp; Class Imbalance</a:t>
            </a:r>
            <a:endParaRPr/>
          </a:p>
        </p:txBody>
      </p:sp>
      <p:pic>
        <p:nvPicPr>
          <p:cNvPr id="119" name="Google Shape;119;g3d757f392fc_0_13" title="class_distribution.png"/>
          <p:cNvPicPr preferRelativeResize="0"/>
          <p:nvPr/>
        </p:nvPicPr>
        <p:blipFill>
          <a:blip r:embed="rId3">
            <a:alphaModFix/>
          </a:blip>
          <a:stretch>
            <a:fillRect/>
          </a:stretch>
        </p:blipFill>
        <p:spPr>
          <a:xfrm>
            <a:off x="457204" y="1819818"/>
            <a:ext cx="8229600" cy="35999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d76881612a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Preparation: Unknowns</a:t>
            </a:r>
            <a:endParaRPr/>
          </a:p>
        </p:txBody>
      </p:sp>
      <p:sp>
        <p:nvSpPr>
          <p:cNvPr id="126" name="Google Shape;126;g3d76881612a_0_0"/>
          <p:cNvSpPr txBox="1">
            <a:spLocks noGrp="1"/>
          </p:cNvSpPr>
          <p:nvPr>
            <p:ph type="body" idx="1"/>
          </p:nvPr>
        </p:nvSpPr>
        <p:spPr>
          <a:xfrm>
            <a:off x="457200" y="1417650"/>
            <a:ext cx="4538100" cy="1828800"/>
          </a:xfrm>
          <a:prstGeom prst="rect">
            <a:avLst/>
          </a:prstGeom>
        </p:spPr>
        <p:txBody>
          <a:bodyPr spcFirstLastPara="1" wrap="square" lIns="91425" tIns="45700" rIns="91425" bIns="45700" anchor="t" anchorCtr="0">
            <a:normAutofit/>
          </a:bodyPr>
          <a:lstStyle/>
          <a:p>
            <a:pPr marL="342900" lvl="0" indent="-368300" algn="l" rtl="0">
              <a:spcBef>
                <a:spcPts val="0"/>
              </a:spcBef>
              <a:spcAft>
                <a:spcPts val="0"/>
              </a:spcAft>
              <a:buSzPts val="2200"/>
              <a:buChar char="•"/>
            </a:pPr>
            <a:r>
              <a:rPr lang="en-US" sz="2200"/>
              <a:t>Columns with “unknown” values:</a:t>
            </a:r>
            <a:endParaRPr sz="2200"/>
          </a:p>
          <a:p>
            <a:pPr marL="742950" lvl="1" indent="-317500" algn="l" rtl="0">
              <a:spcBef>
                <a:spcPts val="0"/>
              </a:spcBef>
              <a:spcAft>
                <a:spcPts val="0"/>
              </a:spcAft>
              <a:buSzPts val="2300"/>
              <a:buChar char="–"/>
            </a:pPr>
            <a:r>
              <a:rPr lang="en-US" sz="1700"/>
              <a:t>Job: 38 unknowns</a:t>
            </a:r>
            <a:endParaRPr sz="1700"/>
          </a:p>
          <a:p>
            <a:pPr marL="742950" lvl="1" indent="-317500" algn="l" rtl="0">
              <a:spcBef>
                <a:spcPts val="0"/>
              </a:spcBef>
              <a:spcAft>
                <a:spcPts val="0"/>
              </a:spcAft>
              <a:buSzPts val="2300"/>
              <a:buChar char="–"/>
            </a:pPr>
            <a:r>
              <a:rPr lang="en-US" sz="1700"/>
              <a:t>Education: 187 Unknowns</a:t>
            </a:r>
            <a:endParaRPr sz="1700"/>
          </a:p>
          <a:p>
            <a:pPr marL="742950" lvl="1" indent="-279400" algn="l" rtl="0">
              <a:spcBef>
                <a:spcPts val="0"/>
              </a:spcBef>
              <a:spcAft>
                <a:spcPts val="0"/>
              </a:spcAft>
              <a:buSzPts val="1700"/>
              <a:buChar char="–"/>
            </a:pPr>
            <a:r>
              <a:rPr lang="en-US" sz="1700"/>
              <a:t>Contact: 1324 Unknowns</a:t>
            </a:r>
            <a:endParaRPr sz="1700"/>
          </a:p>
          <a:p>
            <a:pPr marL="742950" lvl="1" indent="-279400" algn="l" rtl="0">
              <a:spcBef>
                <a:spcPts val="0"/>
              </a:spcBef>
              <a:spcAft>
                <a:spcPts val="0"/>
              </a:spcAft>
              <a:buSzPts val="1700"/>
              <a:buChar char="–"/>
            </a:pPr>
            <a:r>
              <a:rPr lang="en-US" sz="1700"/>
              <a:t>Poutcome: 3705 Unknowns</a:t>
            </a:r>
            <a:endParaRPr/>
          </a:p>
        </p:txBody>
      </p:sp>
      <p:pic>
        <p:nvPicPr>
          <p:cNvPr id="127" name="Google Shape;127;g3d76881612a_0_0"/>
          <p:cNvPicPr preferRelativeResize="0"/>
          <p:nvPr/>
        </p:nvPicPr>
        <p:blipFill>
          <a:blip r:embed="rId3">
            <a:alphaModFix/>
          </a:blip>
          <a:stretch>
            <a:fillRect/>
          </a:stretch>
        </p:blipFill>
        <p:spPr>
          <a:xfrm>
            <a:off x="4189174" y="1900399"/>
            <a:ext cx="4260100" cy="3951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3d76881612a_0_14"/>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Data Preparation: Unknowns (cont.)</a:t>
            </a:r>
            <a:endParaRPr/>
          </a:p>
        </p:txBody>
      </p:sp>
      <p:sp>
        <p:nvSpPr>
          <p:cNvPr id="134" name="Google Shape;134;g3d76881612a_0_14"/>
          <p:cNvSpPr txBox="1">
            <a:spLocks noGrp="1"/>
          </p:cNvSpPr>
          <p:nvPr>
            <p:ph type="body" idx="1"/>
          </p:nvPr>
        </p:nvSpPr>
        <p:spPr>
          <a:xfrm>
            <a:off x="457200" y="1417650"/>
            <a:ext cx="8229600" cy="1828800"/>
          </a:xfrm>
          <a:prstGeom prst="rect">
            <a:avLst/>
          </a:prstGeom>
        </p:spPr>
        <p:txBody>
          <a:bodyPr spcFirstLastPara="1" wrap="square" lIns="91425" tIns="45700" rIns="91425" bIns="45700" anchor="t" anchorCtr="0">
            <a:normAutofit/>
          </a:bodyPr>
          <a:lstStyle/>
          <a:p>
            <a:pPr marL="342900" lvl="0" indent="-368300" algn="l" rtl="0">
              <a:spcBef>
                <a:spcPts val="0"/>
              </a:spcBef>
              <a:spcAft>
                <a:spcPts val="0"/>
              </a:spcAft>
              <a:buSzPts val="2200"/>
              <a:buChar char="•"/>
            </a:pPr>
            <a:r>
              <a:rPr lang="en-US" sz="2200"/>
              <a:t>Columns with “unknown” values:</a:t>
            </a:r>
            <a:endParaRPr sz="2200"/>
          </a:p>
          <a:p>
            <a:pPr marL="742950" lvl="1" indent="-317500" algn="l" rtl="0">
              <a:spcBef>
                <a:spcPts val="0"/>
              </a:spcBef>
              <a:spcAft>
                <a:spcPts val="0"/>
              </a:spcAft>
              <a:buSzPts val="2300"/>
              <a:buChar char="–"/>
            </a:pPr>
            <a:r>
              <a:rPr lang="en-US" sz="1700"/>
              <a:t>Job: 38 unknowns</a:t>
            </a:r>
            <a:endParaRPr sz="1700"/>
          </a:p>
          <a:p>
            <a:pPr marL="742950" lvl="1" indent="-317500" algn="l" rtl="0">
              <a:spcBef>
                <a:spcPts val="0"/>
              </a:spcBef>
              <a:spcAft>
                <a:spcPts val="0"/>
              </a:spcAft>
              <a:buSzPts val="2300"/>
              <a:buChar char="–"/>
            </a:pPr>
            <a:r>
              <a:rPr lang="en-US" sz="1700"/>
              <a:t>Education: 187 Unknowns</a:t>
            </a:r>
            <a:endParaRPr sz="1700"/>
          </a:p>
          <a:p>
            <a:pPr marL="742950" lvl="1" indent="-279400" algn="l" rtl="0">
              <a:spcBef>
                <a:spcPts val="0"/>
              </a:spcBef>
              <a:spcAft>
                <a:spcPts val="0"/>
              </a:spcAft>
              <a:buSzPts val="1700"/>
              <a:buChar char="–"/>
            </a:pPr>
            <a:r>
              <a:rPr lang="en-US" sz="1700"/>
              <a:t>Contact: 1324 Unknowns</a:t>
            </a:r>
            <a:endParaRPr sz="1700"/>
          </a:p>
          <a:p>
            <a:pPr marL="742950" lvl="1" indent="-279400" algn="l" rtl="0">
              <a:spcBef>
                <a:spcPts val="0"/>
              </a:spcBef>
              <a:spcAft>
                <a:spcPts val="0"/>
              </a:spcAft>
              <a:buSzPts val="1700"/>
              <a:buChar char="–"/>
            </a:pPr>
            <a:r>
              <a:rPr lang="en-US" sz="1700"/>
              <a:t>Poutcome: 3705 Unknowns</a:t>
            </a:r>
            <a:endParaRPr/>
          </a:p>
        </p:txBody>
      </p:sp>
      <p:pic>
        <p:nvPicPr>
          <p:cNvPr id="135" name="Google Shape;135;g3d76881612a_0_14"/>
          <p:cNvPicPr preferRelativeResize="0"/>
          <p:nvPr/>
        </p:nvPicPr>
        <p:blipFill>
          <a:blip r:embed="rId3">
            <a:alphaModFix/>
          </a:blip>
          <a:stretch>
            <a:fillRect/>
          </a:stretch>
        </p:blipFill>
        <p:spPr>
          <a:xfrm>
            <a:off x="570550" y="3137125"/>
            <a:ext cx="4660800" cy="3111600"/>
          </a:xfrm>
          <a:prstGeom prst="rect">
            <a:avLst/>
          </a:prstGeom>
          <a:noFill/>
          <a:ln>
            <a:noFill/>
          </a:ln>
        </p:spPr>
      </p:pic>
      <p:pic>
        <p:nvPicPr>
          <p:cNvPr id="136" name="Google Shape;136;g3d76881612a_0_14"/>
          <p:cNvPicPr preferRelativeResize="0"/>
          <p:nvPr/>
        </p:nvPicPr>
        <p:blipFill>
          <a:blip r:embed="rId4">
            <a:alphaModFix/>
          </a:blip>
          <a:stretch>
            <a:fillRect/>
          </a:stretch>
        </p:blipFill>
        <p:spPr>
          <a:xfrm>
            <a:off x="5468750" y="2941975"/>
            <a:ext cx="3123434" cy="3306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 Preparation: Attributes Inspection</a:t>
            </a:r>
            <a:endParaRPr/>
          </a:p>
        </p:txBody>
      </p:sp>
      <p:pic>
        <p:nvPicPr>
          <p:cNvPr id="143" name="Google Shape;143;p4"/>
          <p:cNvPicPr preferRelativeResize="0"/>
          <p:nvPr/>
        </p:nvPicPr>
        <p:blipFill>
          <a:blip r:embed="rId3">
            <a:alphaModFix/>
          </a:blip>
          <a:stretch>
            <a:fillRect/>
          </a:stretch>
        </p:blipFill>
        <p:spPr>
          <a:xfrm>
            <a:off x="766850" y="1417649"/>
            <a:ext cx="3593450" cy="2790142"/>
          </a:xfrm>
          <a:prstGeom prst="rect">
            <a:avLst/>
          </a:prstGeom>
          <a:noFill/>
          <a:ln>
            <a:noFill/>
          </a:ln>
        </p:spPr>
      </p:pic>
      <p:pic>
        <p:nvPicPr>
          <p:cNvPr id="144" name="Google Shape;144;p4"/>
          <p:cNvPicPr preferRelativeResize="0"/>
          <p:nvPr/>
        </p:nvPicPr>
        <p:blipFill>
          <a:blip r:embed="rId4">
            <a:alphaModFix/>
          </a:blip>
          <a:stretch>
            <a:fillRect/>
          </a:stretch>
        </p:blipFill>
        <p:spPr>
          <a:xfrm>
            <a:off x="2932513" y="4222213"/>
            <a:ext cx="3086878" cy="2360554"/>
          </a:xfrm>
          <a:prstGeom prst="rect">
            <a:avLst/>
          </a:prstGeom>
          <a:noFill/>
          <a:ln>
            <a:noFill/>
          </a:ln>
        </p:spPr>
      </p:pic>
      <p:pic>
        <p:nvPicPr>
          <p:cNvPr id="145" name="Google Shape;145;p4"/>
          <p:cNvPicPr preferRelativeResize="0"/>
          <p:nvPr/>
        </p:nvPicPr>
        <p:blipFill>
          <a:blip r:embed="rId5">
            <a:alphaModFix/>
          </a:blip>
          <a:stretch>
            <a:fillRect/>
          </a:stretch>
        </p:blipFill>
        <p:spPr>
          <a:xfrm>
            <a:off x="4644100" y="1403224"/>
            <a:ext cx="3593449" cy="2819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3e033cf40fb_0_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 Preparation: </a:t>
            </a:r>
            <a:br>
              <a:rPr lang="en-US"/>
            </a:br>
            <a:r>
              <a:rPr lang="en-US"/>
              <a:t>Measures of Central Tendency</a:t>
            </a:r>
            <a:endParaRPr/>
          </a:p>
        </p:txBody>
      </p:sp>
      <p:graphicFrame>
        <p:nvGraphicFramePr>
          <p:cNvPr id="152" name="Google Shape;152;g3e033cf40fb_0_7"/>
          <p:cNvGraphicFramePr/>
          <p:nvPr/>
        </p:nvGraphicFramePr>
        <p:xfrm>
          <a:off x="711250" y="1763457"/>
          <a:ext cx="3000000" cy="3000000"/>
        </p:xfrm>
        <a:graphic>
          <a:graphicData uri="http://schemas.openxmlformats.org/drawingml/2006/table">
            <a:tbl>
              <a:tblPr>
                <a:noFill/>
                <a:tableStyleId>{05BF2E66-15E4-4BB5-9E5F-FB022751894C}</a:tableStyleId>
              </a:tblPr>
              <a:tblGrid>
                <a:gridCol w="836525">
                  <a:extLst>
                    <a:ext uri="{9D8B030D-6E8A-4147-A177-3AD203B41FA5}">
                      <a16:colId xmlns:a16="http://schemas.microsoft.com/office/drawing/2014/main" val="20000"/>
                    </a:ext>
                  </a:extLst>
                </a:gridCol>
                <a:gridCol w="818100">
                  <a:extLst>
                    <a:ext uri="{9D8B030D-6E8A-4147-A177-3AD203B41FA5}">
                      <a16:colId xmlns:a16="http://schemas.microsoft.com/office/drawing/2014/main" val="20001"/>
                    </a:ext>
                  </a:extLst>
                </a:gridCol>
                <a:gridCol w="1240875">
                  <a:extLst>
                    <a:ext uri="{9D8B030D-6E8A-4147-A177-3AD203B41FA5}">
                      <a16:colId xmlns:a16="http://schemas.microsoft.com/office/drawing/2014/main" val="20002"/>
                    </a:ext>
                  </a:extLst>
                </a:gridCol>
                <a:gridCol w="965200">
                  <a:extLst>
                    <a:ext uri="{9D8B030D-6E8A-4147-A177-3AD203B41FA5}">
                      <a16:colId xmlns:a16="http://schemas.microsoft.com/office/drawing/2014/main" val="20003"/>
                    </a:ext>
                  </a:extLst>
                </a:gridCol>
                <a:gridCol w="965200">
                  <a:extLst>
                    <a:ext uri="{9D8B030D-6E8A-4147-A177-3AD203B41FA5}">
                      <a16:colId xmlns:a16="http://schemas.microsoft.com/office/drawing/2014/main" val="20004"/>
                    </a:ext>
                  </a:extLst>
                </a:gridCol>
                <a:gridCol w="1108475">
                  <a:extLst>
                    <a:ext uri="{9D8B030D-6E8A-4147-A177-3AD203B41FA5}">
                      <a16:colId xmlns:a16="http://schemas.microsoft.com/office/drawing/2014/main" val="20005"/>
                    </a:ext>
                  </a:extLst>
                </a:gridCol>
                <a:gridCol w="821900">
                  <a:extLst>
                    <a:ext uri="{9D8B030D-6E8A-4147-A177-3AD203B41FA5}">
                      <a16:colId xmlns:a16="http://schemas.microsoft.com/office/drawing/2014/main" val="20006"/>
                    </a:ext>
                  </a:extLst>
                </a:gridCol>
                <a:gridCol w="965200">
                  <a:extLst>
                    <a:ext uri="{9D8B030D-6E8A-4147-A177-3AD203B41FA5}">
                      <a16:colId xmlns:a16="http://schemas.microsoft.com/office/drawing/2014/main" val="20007"/>
                    </a:ext>
                  </a:extLst>
                </a:gridCol>
              </a:tblGrid>
              <a:tr h="711650">
                <a:tc>
                  <a:txBody>
                    <a:bodyPr/>
                    <a:lstStyle/>
                    <a:p>
                      <a:pPr marL="0" lvl="0" indent="0" algn="l" rtl="0">
                        <a:spcBef>
                          <a:spcPts val="0"/>
                        </a:spcBef>
                        <a:spcAft>
                          <a:spcPts val="0"/>
                        </a:spcAft>
                        <a:buNone/>
                      </a:pPr>
                      <a:r>
                        <a:rPr lang="en-US"/>
                        <a:t>4521 Entries</a:t>
                      </a:r>
                      <a:endParaRPr/>
                    </a:p>
                  </a:txBody>
                  <a:tcPr marL="91425" marR="91425" marT="91425" marB="91425"/>
                </a:tc>
                <a:tc>
                  <a:txBody>
                    <a:bodyPr/>
                    <a:lstStyle/>
                    <a:p>
                      <a:pPr marL="0" lvl="0" indent="0" algn="ctr" rtl="0">
                        <a:spcBef>
                          <a:spcPts val="0"/>
                        </a:spcBef>
                        <a:spcAft>
                          <a:spcPts val="0"/>
                        </a:spcAft>
                        <a:buNone/>
                      </a:pPr>
                      <a:r>
                        <a:rPr lang="en-US"/>
                        <a:t>Age</a:t>
                      </a:r>
                      <a:endParaRPr/>
                    </a:p>
                  </a:txBody>
                  <a:tcPr marL="91425" marR="91425" marT="91425" marB="91425" anchor="ctr"/>
                </a:tc>
                <a:tc>
                  <a:txBody>
                    <a:bodyPr/>
                    <a:lstStyle/>
                    <a:p>
                      <a:pPr marL="0" lvl="0" indent="0" algn="ctr" rtl="0">
                        <a:spcBef>
                          <a:spcPts val="0"/>
                        </a:spcBef>
                        <a:spcAft>
                          <a:spcPts val="0"/>
                        </a:spcAft>
                        <a:buNone/>
                      </a:pPr>
                      <a:r>
                        <a:rPr lang="en-US"/>
                        <a:t>Balance (</a:t>
                      </a:r>
                      <a:r>
                        <a:rPr lang="en-US" sz="1200">
                          <a:solidFill>
                            <a:schemeClr val="dk1"/>
                          </a:solidFill>
                          <a:latin typeface="Calibri"/>
                          <a:ea typeface="Calibri"/>
                          <a:cs typeface="Calibri"/>
                          <a:sym typeface="Calibri"/>
                        </a:rPr>
                        <a:t>€)</a:t>
                      </a:r>
                      <a:endParaRPr/>
                    </a:p>
                  </a:txBody>
                  <a:tcPr marL="91425" marR="91425" marT="91425" marB="91425" anchor="ctr"/>
                </a:tc>
                <a:tc>
                  <a:txBody>
                    <a:bodyPr/>
                    <a:lstStyle/>
                    <a:p>
                      <a:pPr marL="0" lvl="0" indent="0" algn="ctr" rtl="0">
                        <a:spcBef>
                          <a:spcPts val="0"/>
                        </a:spcBef>
                        <a:spcAft>
                          <a:spcPts val="0"/>
                        </a:spcAft>
                        <a:buNone/>
                      </a:pPr>
                      <a:r>
                        <a:rPr lang="en-US"/>
                        <a:t>Day</a:t>
                      </a:r>
                      <a:endParaRPr/>
                    </a:p>
                  </a:txBody>
                  <a:tcPr marL="91425" marR="91425" marT="91425" marB="91425" anchor="ctr"/>
                </a:tc>
                <a:tc>
                  <a:txBody>
                    <a:bodyPr/>
                    <a:lstStyle/>
                    <a:p>
                      <a:pPr marL="0" lvl="0" indent="0" algn="ctr" rtl="0">
                        <a:spcBef>
                          <a:spcPts val="0"/>
                        </a:spcBef>
                        <a:spcAft>
                          <a:spcPts val="0"/>
                        </a:spcAft>
                        <a:buNone/>
                      </a:pPr>
                      <a:r>
                        <a:rPr lang="en-US"/>
                        <a:t>Duration</a:t>
                      </a:r>
                      <a:endParaRPr/>
                    </a:p>
                  </a:txBody>
                  <a:tcPr marL="91425" marR="91425" marT="91425" marB="91425" anchor="ctr"/>
                </a:tc>
                <a:tc>
                  <a:txBody>
                    <a:bodyPr/>
                    <a:lstStyle/>
                    <a:p>
                      <a:pPr marL="0" lvl="0" indent="0" algn="ctr" rtl="0">
                        <a:spcBef>
                          <a:spcPts val="0"/>
                        </a:spcBef>
                        <a:spcAft>
                          <a:spcPts val="0"/>
                        </a:spcAft>
                        <a:buNone/>
                      </a:pPr>
                      <a:r>
                        <a:rPr lang="en-US"/>
                        <a:t>Campaign</a:t>
                      </a:r>
                      <a:endParaRPr/>
                    </a:p>
                  </a:txBody>
                  <a:tcPr marL="91425" marR="91425" marT="91425" marB="91425" anchor="ctr"/>
                </a:tc>
                <a:tc>
                  <a:txBody>
                    <a:bodyPr/>
                    <a:lstStyle/>
                    <a:p>
                      <a:pPr marL="0" lvl="0" indent="0" algn="ctr" rtl="0">
                        <a:spcBef>
                          <a:spcPts val="0"/>
                        </a:spcBef>
                        <a:spcAft>
                          <a:spcPts val="0"/>
                        </a:spcAft>
                        <a:buNone/>
                      </a:pPr>
                      <a:r>
                        <a:rPr lang="en-US"/>
                        <a:t>pdays</a:t>
                      </a:r>
                      <a:endParaRPr/>
                    </a:p>
                  </a:txBody>
                  <a:tcPr marL="91425" marR="91425" marT="91425" marB="91425" anchor="ctr"/>
                </a:tc>
                <a:tc>
                  <a:txBody>
                    <a:bodyPr/>
                    <a:lstStyle/>
                    <a:p>
                      <a:pPr marL="0" lvl="0" indent="0" algn="ctr" rtl="0">
                        <a:spcBef>
                          <a:spcPts val="0"/>
                        </a:spcBef>
                        <a:spcAft>
                          <a:spcPts val="0"/>
                        </a:spcAft>
                        <a:buNone/>
                      </a:pPr>
                      <a:r>
                        <a:rPr lang="en-US"/>
                        <a:t>previous</a:t>
                      </a:r>
                      <a:endParaRPr/>
                    </a:p>
                  </a:txBody>
                  <a:tcPr marL="91425" marR="91425" marT="91425" marB="91425" anchor="ctr"/>
                </a:tc>
                <a:extLst>
                  <a:ext uri="{0D108BD9-81ED-4DB2-BD59-A6C34878D82A}">
                    <a16:rowId xmlns:a16="http://schemas.microsoft.com/office/drawing/2014/main" val="10000"/>
                  </a:ext>
                </a:extLst>
              </a:tr>
              <a:tr h="462550">
                <a:tc>
                  <a:txBody>
                    <a:bodyPr/>
                    <a:lstStyle/>
                    <a:p>
                      <a:pPr marL="0" lvl="0" indent="0" algn="ctr" rtl="0">
                        <a:spcBef>
                          <a:spcPts val="0"/>
                        </a:spcBef>
                        <a:spcAft>
                          <a:spcPts val="0"/>
                        </a:spcAft>
                        <a:buNone/>
                      </a:pPr>
                      <a:r>
                        <a:rPr lang="en-US"/>
                        <a:t>Mean</a:t>
                      </a:r>
                      <a:endParaRPr/>
                    </a:p>
                  </a:txBody>
                  <a:tcPr marL="91425" marR="91425" marT="91425" marB="91425" anchor="ctr"/>
                </a:tc>
                <a:tc>
                  <a:txBody>
                    <a:bodyPr/>
                    <a:lstStyle/>
                    <a:p>
                      <a:pPr marL="0" lvl="0" indent="0" algn="ctr" rtl="0">
                        <a:spcBef>
                          <a:spcPts val="0"/>
                        </a:spcBef>
                        <a:spcAft>
                          <a:spcPts val="0"/>
                        </a:spcAft>
                        <a:buNone/>
                      </a:pPr>
                      <a:r>
                        <a:rPr lang="en-US"/>
                        <a:t>41.17</a:t>
                      </a:r>
                      <a:endParaRPr/>
                    </a:p>
                  </a:txBody>
                  <a:tcPr marL="91425" marR="91425" marT="91425" marB="91425"/>
                </a:tc>
                <a:tc>
                  <a:txBody>
                    <a:bodyPr/>
                    <a:lstStyle/>
                    <a:p>
                      <a:pPr marL="0" lvl="0" indent="0" algn="ctr" rtl="0">
                        <a:spcBef>
                          <a:spcPts val="0"/>
                        </a:spcBef>
                        <a:spcAft>
                          <a:spcPts val="0"/>
                        </a:spcAft>
                        <a:buNone/>
                      </a:pPr>
                      <a:r>
                        <a:rPr lang="en-US"/>
                        <a:t>1422.66</a:t>
                      </a:r>
                      <a:endParaRPr/>
                    </a:p>
                  </a:txBody>
                  <a:tcPr marL="91425" marR="91425" marT="91425" marB="91425"/>
                </a:tc>
                <a:tc>
                  <a:txBody>
                    <a:bodyPr/>
                    <a:lstStyle/>
                    <a:p>
                      <a:pPr marL="0" lvl="0" indent="0" algn="ctr" rtl="0">
                        <a:spcBef>
                          <a:spcPts val="0"/>
                        </a:spcBef>
                        <a:spcAft>
                          <a:spcPts val="0"/>
                        </a:spcAft>
                        <a:buNone/>
                      </a:pPr>
                      <a:r>
                        <a:rPr lang="en-US"/>
                        <a:t>15.92</a:t>
                      </a:r>
                      <a:endParaRPr/>
                    </a:p>
                  </a:txBody>
                  <a:tcPr marL="91425" marR="91425" marT="91425" marB="91425"/>
                </a:tc>
                <a:tc>
                  <a:txBody>
                    <a:bodyPr/>
                    <a:lstStyle/>
                    <a:p>
                      <a:pPr marL="0" lvl="0" indent="0" algn="ctr" rtl="0">
                        <a:spcBef>
                          <a:spcPts val="0"/>
                        </a:spcBef>
                        <a:spcAft>
                          <a:spcPts val="0"/>
                        </a:spcAft>
                        <a:buNone/>
                      </a:pPr>
                      <a:r>
                        <a:rPr lang="en-US"/>
                        <a:t>263.96</a:t>
                      </a:r>
                      <a:endParaRPr/>
                    </a:p>
                  </a:txBody>
                  <a:tcPr marL="91425" marR="91425" marT="91425" marB="91425"/>
                </a:tc>
                <a:tc>
                  <a:txBody>
                    <a:bodyPr/>
                    <a:lstStyle/>
                    <a:p>
                      <a:pPr marL="0" lvl="0" indent="0" algn="ctr" rtl="0">
                        <a:spcBef>
                          <a:spcPts val="0"/>
                        </a:spcBef>
                        <a:spcAft>
                          <a:spcPts val="0"/>
                        </a:spcAft>
                        <a:buNone/>
                      </a:pPr>
                      <a:r>
                        <a:rPr lang="en-US"/>
                        <a:t>2.79</a:t>
                      </a:r>
                      <a:endParaRPr/>
                    </a:p>
                  </a:txBody>
                  <a:tcPr marL="91425" marR="91425" marT="91425" marB="91425"/>
                </a:tc>
                <a:tc>
                  <a:txBody>
                    <a:bodyPr/>
                    <a:lstStyle/>
                    <a:p>
                      <a:pPr marL="0" lvl="0" indent="0" algn="ctr" rtl="0">
                        <a:spcBef>
                          <a:spcPts val="0"/>
                        </a:spcBef>
                        <a:spcAft>
                          <a:spcPts val="0"/>
                        </a:spcAft>
                        <a:buNone/>
                      </a:pPr>
                      <a:r>
                        <a:rPr lang="en-US"/>
                        <a:t>39.77</a:t>
                      </a:r>
                      <a:endParaRPr/>
                    </a:p>
                  </a:txBody>
                  <a:tcPr marL="91425" marR="91425" marT="91425" marB="91425"/>
                </a:tc>
                <a:tc>
                  <a:txBody>
                    <a:bodyPr/>
                    <a:lstStyle/>
                    <a:p>
                      <a:pPr marL="0" lvl="0" indent="0" algn="ctr" rtl="0">
                        <a:spcBef>
                          <a:spcPts val="0"/>
                        </a:spcBef>
                        <a:spcAft>
                          <a:spcPts val="0"/>
                        </a:spcAft>
                        <a:buNone/>
                      </a:pPr>
                      <a:r>
                        <a:rPr lang="en-US"/>
                        <a:t>0.54</a:t>
                      </a:r>
                      <a:endParaRPr/>
                    </a:p>
                  </a:txBody>
                  <a:tcPr marL="91425" marR="91425" marT="91425" marB="91425"/>
                </a:tc>
                <a:extLst>
                  <a:ext uri="{0D108BD9-81ED-4DB2-BD59-A6C34878D82A}">
                    <a16:rowId xmlns:a16="http://schemas.microsoft.com/office/drawing/2014/main" val="10001"/>
                  </a:ext>
                </a:extLst>
              </a:tr>
              <a:tr h="444825">
                <a:tc>
                  <a:txBody>
                    <a:bodyPr/>
                    <a:lstStyle/>
                    <a:p>
                      <a:pPr marL="0" lvl="0" indent="0" algn="ctr" rtl="0">
                        <a:spcBef>
                          <a:spcPts val="0"/>
                        </a:spcBef>
                        <a:spcAft>
                          <a:spcPts val="0"/>
                        </a:spcAft>
                        <a:buNone/>
                      </a:pPr>
                      <a:r>
                        <a:rPr lang="en-US"/>
                        <a:t>STD</a:t>
                      </a:r>
                      <a:endParaRPr/>
                    </a:p>
                  </a:txBody>
                  <a:tcPr marL="91425" marR="91425" marT="91425" marB="91425" anchor="ctr"/>
                </a:tc>
                <a:tc>
                  <a:txBody>
                    <a:bodyPr/>
                    <a:lstStyle/>
                    <a:p>
                      <a:pPr marL="0" lvl="0" indent="0" algn="ctr" rtl="0">
                        <a:spcBef>
                          <a:spcPts val="0"/>
                        </a:spcBef>
                        <a:spcAft>
                          <a:spcPts val="0"/>
                        </a:spcAft>
                        <a:buNone/>
                      </a:pPr>
                      <a:r>
                        <a:rPr lang="en-US"/>
                        <a:t>10.58</a:t>
                      </a:r>
                      <a:endParaRPr/>
                    </a:p>
                  </a:txBody>
                  <a:tcPr marL="91425" marR="91425" marT="91425" marB="91425"/>
                </a:tc>
                <a:tc>
                  <a:txBody>
                    <a:bodyPr/>
                    <a:lstStyle/>
                    <a:p>
                      <a:pPr marL="0" lvl="0" indent="0" algn="ctr" rtl="0">
                        <a:spcBef>
                          <a:spcPts val="0"/>
                        </a:spcBef>
                        <a:spcAft>
                          <a:spcPts val="0"/>
                        </a:spcAft>
                        <a:buNone/>
                      </a:pPr>
                      <a:r>
                        <a:rPr lang="en-US"/>
                        <a:t>3009.64</a:t>
                      </a:r>
                      <a:endParaRPr/>
                    </a:p>
                  </a:txBody>
                  <a:tcPr marL="91425" marR="91425" marT="91425" marB="91425"/>
                </a:tc>
                <a:tc>
                  <a:txBody>
                    <a:bodyPr/>
                    <a:lstStyle/>
                    <a:p>
                      <a:pPr marL="0" lvl="0" indent="0" algn="ctr" rtl="0">
                        <a:spcBef>
                          <a:spcPts val="0"/>
                        </a:spcBef>
                        <a:spcAft>
                          <a:spcPts val="0"/>
                        </a:spcAft>
                        <a:buNone/>
                      </a:pPr>
                      <a:r>
                        <a:rPr lang="en-US"/>
                        <a:t>8.25</a:t>
                      </a:r>
                      <a:endParaRPr/>
                    </a:p>
                  </a:txBody>
                  <a:tcPr marL="91425" marR="91425" marT="91425" marB="91425"/>
                </a:tc>
                <a:tc>
                  <a:txBody>
                    <a:bodyPr/>
                    <a:lstStyle/>
                    <a:p>
                      <a:pPr marL="0" lvl="0" indent="0" algn="ctr" rtl="0">
                        <a:spcBef>
                          <a:spcPts val="0"/>
                        </a:spcBef>
                        <a:spcAft>
                          <a:spcPts val="0"/>
                        </a:spcAft>
                        <a:buNone/>
                      </a:pPr>
                      <a:r>
                        <a:rPr lang="en-US"/>
                        <a:t>259.86</a:t>
                      </a:r>
                      <a:endParaRPr/>
                    </a:p>
                  </a:txBody>
                  <a:tcPr marL="91425" marR="91425" marT="91425" marB="91425"/>
                </a:tc>
                <a:tc>
                  <a:txBody>
                    <a:bodyPr/>
                    <a:lstStyle/>
                    <a:p>
                      <a:pPr marL="0" lvl="0" indent="0" algn="ctr" rtl="0">
                        <a:spcBef>
                          <a:spcPts val="0"/>
                        </a:spcBef>
                        <a:spcAft>
                          <a:spcPts val="0"/>
                        </a:spcAft>
                        <a:buNone/>
                      </a:pPr>
                      <a:r>
                        <a:rPr lang="en-US"/>
                        <a:t>3.11</a:t>
                      </a:r>
                      <a:endParaRPr/>
                    </a:p>
                  </a:txBody>
                  <a:tcPr marL="91425" marR="91425" marT="91425" marB="91425"/>
                </a:tc>
                <a:tc>
                  <a:txBody>
                    <a:bodyPr/>
                    <a:lstStyle/>
                    <a:p>
                      <a:pPr marL="0" lvl="0" indent="0" algn="ctr" rtl="0">
                        <a:spcBef>
                          <a:spcPts val="0"/>
                        </a:spcBef>
                        <a:spcAft>
                          <a:spcPts val="0"/>
                        </a:spcAft>
                        <a:buNone/>
                      </a:pPr>
                      <a:r>
                        <a:rPr lang="en-US"/>
                        <a:t>100.12</a:t>
                      </a:r>
                      <a:endParaRPr/>
                    </a:p>
                  </a:txBody>
                  <a:tcPr marL="91425" marR="91425" marT="91425" marB="91425"/>
                </a:tc>
                <a:tc>
                  <a:txBody>
                    <a:bodyPr/>
                    <a:lstStyle/>
                    <a:p>
                      <a:pPr marL="0" lvl="0" indent="0" algn="ctr" rtl="0">
                        <a:spcBef>
                          <a:spcPts val="0"/>
                        </a:spcBef>
                        <a:spcAft>
                          <a:spcPts val="0"/>
                        </a:spcAft>
                        <a:buNone/>
                      </a:pPr>
                      <a:r>
                        <a:rPr lang="en-US"/>
                        <a:t>1.69</a:t>
                      </a:r>
                      <a:endParaRPr/>
                    </a:p>
                  </a:txBody>
                  <a:tcPr marL="91425" marR="91425" marT="91425" marB="91425"/>
                </a:tc>
                <a:extLst>
                  <a:ext uri="{0D108BD9-81ED-4DB2-BD59-A6C34878D82A}">
                    <a16:rowId xmlns:a16="http://schemas.microsoft.com/office/drawing/2014/main" val="10002"/>
                  </a:ext>
                </a:extLst>
              </a:tr>
              <a:tr h="444825">
                <a:tc>
                  <a:txBody>
                    <a:bodyPr/>
                    <a:lstStyle/>
                    <a:p>
                      <a:pPr marL="0" lvl="0" indent="0" algn="ctr" rtl="0">
                        <a:spcBef>
                          <a:spcPts val="0"/>
                        </a:spcBef>
                        <a:spcAft>
                          <a:spcPts val="0"/>
                        </a:spcAft>
                        <a:buNone/>
                      </a:pPr>
                      <a:r>
                        <a:rPr lang="en-US"/>
                        <a:t>MIN</a:t>
                      </a:r>
                      <a:endParaRPr/>
                    </a:p>
                  </a:txBody>
                  <a:tcPr marL="91425" marR="91425" marT="91425" marB="91425" anchor="ctr"/>
                </a:tc>
                <a:tc>
                  <a:txBody>
                    <a:bodyPr/>
                    <a:lstStyle/>
                    <a:p>
                      <a:pPr marL="0" lvl="0" indent="0" algn="ctr" rtl="0">
                        <a:spcBef>
                          <a:spcPts val="0"/>
                        </a:spcBef>
                        <a:spcAft>
                          <a:spcPts val="0"/>
                        </a:spcAft>
                        <a:buNone/>
                      </a:pPr>
                      <a:r>
                        <a:rPr lang="en-US"/>
                        <a:t>19</a:t>
                      </a:r>
                      <a:endParaRPr/>
                    </a:p>
                  </a:txBody>
                  <a:tcPr marL="91425" marR="91425" marT="91425" marB="91425"/>
                </a:tc>
                <a:tc>
                  <a:txBody>
                    <a:bodyPr/>
                    <a:lstStyle/>
                    <a:p>
                      <a:pPr marL="0" lvl="0" indent="0" algn="ctr" rtl="0">
                        <a:spcBef>
                          <a:spcPts val="0"/>
                        </a:spcBef>
                        <a:spcAft>
                          <a:spcPts val="0"/>
                        </a:spcAft>
                        <a:buNone/>
                      </a:pPr>
                      <a:r>
                        <a:rPr lang="en-US"/>
                        <a:t>-3313.00</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4</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0</a:t>
                      </a:r>
                      <a:endParaRPr/>
                    </a:p>
                  </a:txBody>
                  <a:tcPr marL="91425" marR="91425" marT="91425" marB="91425"/>
                </a:tc>
                <a:extLst>
                  <a:ext uri="{0D108BD9-81ED-4DB2-BD59-A6C34878D82A}">
                    <a16:rowId xmlns:a16="http://schemas.microsoft.com/office/drawing/2014/main" val="10003"/>
                  </a:ext>
                </a:extLst>
              </a:tr>
              <a:tr h="444825">
                <a:tc>
                  <a:txBody>
                    <a:bodyPr/>
                    <a:lstStyle/>
                    <a:p>
                      <a:pPr marL="0" lvl="0" indent="0" algn="ctr" rtl="0">
                        <a:spcBef>
                          <a:spcPts val="0"/>
                        </a:spcBef>
                        <a:spcAft>
                          <a:spcPts val="0"/>
                        </a:spcAft>
                        <a:buNone/>
                      </a:pPr>
                      <a:r>
                        <a:rPr lang="en-US"/>
                        <a:t>25%</a:t>
                      </a:r>
                      <a:endParaRPr/>
                    </a:p>
                  </a:txBody>
                  <a:tcPr marL="91425" marR="91425" marT="91425" marB="91425" anchor="ctr"/>
                </a:tc>
                <a:tc>
                  <a:txBody>
                    <a:bodyPr/>
                    <a:lstStyle/>
                    <a:p>
                      <a:pPr marL="0" lvl="0" indent="0" algn="ctr" rtl="0">
                        <a:spcBef>
                          <a:spcPts val="0"/>
                        </a:spcBef>
                        <a:spcAft>
                          <a:spcPts val="0"/>
                        </a:spcAft>
                        <a:buNone/>
                      </a:pPr>
                      <a:r>
                        <a:rPr lang="en-US"/>
                        <a:t>33</a:t>
                      </a:r>
                      <a:endParaRPr/>
                    </a:p>
                  </a:txBody>
                  <a:tcPr marL="91425" marR="91425" marT="91425" marB="91425"/>
                </a:tc>
                <a:tc>
                  <a:txBody>
                    <a:bodyPr/>
                    <a:lstStyle/>
                    <a:p>
                      <a:pPr marL="0" lvl="0" indent="0" algn="ctr" rtl="0">
                        <a:spcBef>
                          <a:spcPts val="0"/>
                        </a:spcBef>
                        <a:spcAft>
                          <a:spcPts val="0"/>
                        </a:spcAft>
                        <a:buNone/>
                      </a:pPr>
                      <a:r>
                        <a:rPr lang="en-US"/>
                        <a:t>69.00</a:t>
                      </a:r>
                      <a:endParaRPr/>
                    </a:p>
                  </a:txBody>
                  <a:tcPr marL="91425" marR="91425" marT="91425" marB="91425"/>
                </a:tc>
                <a:tc>
                  <a:txBody>
                    <a:bodyPr/>
                    <a:lstStyle/>
                    <a:p>
                      <a:pPr marL="0" lvl="0" indent="0" algn="ctr" rtl="0">
                        <a:spcBef>
                          <a:spcPts val="0"/>
                        </a:spcBef>
                        <a:spcAft>
                          <a:spcPts val="0"/>
                        </a:spcAft>
                        <a:buNone/>
                      </a:pPr>
                      <a:r>
                        <a:rPr lang="en-US"/>
                        <a:t>9</a:t>
                      </a:r>
                      <a:endParaRPr/>
                    </a:p>
                  </a:txBody>
                  <a:tcPr marL="91425" marR="91425" marT="91425" marB="91425"/>
                </a:tc>
                <a:tc>
                  <a:txBody>
                    <a:bodyPr/>
                    <a:lstStyle/>
                    <a:p>
                      <a:pPr marL="0" lvl="0" indent="0" algn="ctr" rtl="0">
                        <a:spcBef>
                          <a:spcPts val="0"/>
                        </a:spcBef>
                        <a:spcAft>
                          <a:spcPts val="0"/>
                        </a:spcAft>
                        <a:buNone/>
                      </a:pPr>
                      <a:r>
                        <a:rPr lang="en-US"/>
                        <a:t>104</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0</a:t>
                      </a:r>
                      <a:endParaRPr/>
                    </a:p>
                  </a:txBody>
                  <a:tcPr marL="91425" marR="91425" marT="91425" marB="91425"/>
                </a:tc>
                <a:extLst>
                  <a:ext uri="{0D108BD9-81ED-4DB2-BD59-A6C34878D82A}">
                    <a16:rowId xmlns:a16="http://schemas.microsoft.com/office/drawing/2014/main" val="10004"/>
                  </a:ext>
                </a:extLst>
              </a:tr>
              <a:tr h="444825">
                <a:tc>
                  <a:txBody>
                    <a:bodyPr/>
                    <a:lstStyle/>
                    <a:p>
                      <a:pPr marL="0" lvl="0" indent="0" algn="ctr" rtl="0">
                        <a:spcBef>
                          <a:spcPts val="0"/>
                        </a:spcBef>
                        <a:spcAft>
                          <a:spcPts val="0"/>
                        </a:spcAft>
                        <a:buNone/>
                      </a:pPr>
                      <a:r>
                        <a:rPr lang="en-US"/>
                        <a:t>Median</a:t>
                      </a:r>
                      <a:endParaRPr/>
                    </a:p>
                  </a:txBody>
                  <a:tcPr marL="91425" marR="91425" marT="91425" marB="91425" anchor="ctr"/>
                </a:tc>
                <a:tc>
                  <a:txBody>
                    <a:bodyPr/>
                    <a:lstStyle/>
                    <a:p>
                      <a:pPr marL="0" lvl="0" indent="0" algn="ctr" rtl="0">
                        <a:spcBef>
                          <a:spcPts val="0"/>
                        </a:spcBef>
                        <a:spcAft>
                          <a:spcPts val="0"/>
                        </a:spcAft>
                        <a:buNone/>
                      </a:pPr>
                      <a:r>
                        <a:rPr lang="en-US"/>
                        <a:t>39</a:t>
                      </a:r>
                      <a:endParaRPr/>
                    </a:p>
                  </a:txBody>
                  <a:tcPr marL="91425" marR="91425" marT="91425" marB="91425"/>
                </a:tc>
                <a:tc>
                  <a:txBody>
                    <a:bodyPr/>
                    <a:lstStyle/>
                    <a:p>
                      <a:pPr marL="0" lvl="0" indent="0" algn="ctr" rtl="0">
                        <a:spcBef>
                          <a:spcPts val="0"/>
                        </a:spcBef>
                        <a:spcAft>
                          <a:spcPts val="0"/>
                        </a:spcAft>
                        <a:buNone/>
                      </a:pPr>
                      <a:r>
                        <a:rPr lang="en-US"/>
                        <a:t>444.00</a:t>
                      </a:r>
                      <a:endParaRPr/>
                    </a:p>
                  </a:txBody>
                  <a:tcPr marL="91425" marR="91425" marT="91425" marB="91425"/>
                </a:tc>
                <a:tc>
                  <a:txBody>
                    <a:bodyPr/>
                    <a:lstStyle/>
                    <a:p>
                      <a:pPr marL="0" lvl="0" indent="0" algn="ctr" rtl="0">
                        <a:spcBef>
                          <a:spcPts val="0"/>
                        </a:spcBef>
                        <a:spcAft>
                          <a:spcPts val="0"/>
                        </a:spcAft>
                        <a:buNone/>
                      </a:pPr>
                      <a:r>
                        <a:rPr lang="en-US"/>
                        <a:t>16</a:t>
                      </a:r>
                      <a:endParaRPr/>
                    </a:p>
                  </a:txBody>
                  <a:tcPr marL="91425" marR="91425" marT="91425" marB="91425"/>
                </a:tc>
                <a:tc>
                  <a:txBody>
                    <a:bodyPr/>
                    <a:lstStyle/>
                    <a:p>
                      <a:pPr marL="0" lvl="0" indent="0" algn="ctr" rtl="0">
                        <a:spcBef>
                          <a:spcPts val="0"/>
                        </a:spcBef>
                        <a:spcAft>
                          <a:spcPts val="0"/>
                        </a:spcAft>
                        <a:buNone/>
                      </a:pPr>
                      <a:r>
                        <a:rPr lang="en-US"/>
                        <a:t>185</a:t>
                      </a:r>
                      <a:endParaRPr/>
                    </a:p>
                  </a:txBody>
                  <a:tcPr marL="91425" marR="91425" marT="91425" marB="91425"/>
                </a:tc>
                <a:tc>
                  <a:txBody>
                    <a:bodyPr/>
                    <a:lstStyle/>
                    <a:p>
                      <a:pPr marL="0" lvl="0" indent="0" algn="ctr" rtl="0">
                        <a:spcBef>
                          <a:spcPts val="0"/>
                        </a:spcBef>
                        <a:spcAft>
                          <a:spcPts val="0"/>
                        </a:spcAft>
                        <a:buNone/>
                      </a:pPr>
                      <a:r>
                        <a:rPr lang="en-US"/>
                        <a:t>2</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0</a:t>
                      </a:r>
                      <a:endParaRPr/>
                    </a:p>
                  </a:txBody>
                  <a:tcPr marL="91425" marR="91425" marT="91425" marB="91425"/>
                </a:tc>
                <a:extLst>
                  <a:ext uri="{0D108BD9-81ED-4DB2-BD59-A6C34878D82A}">
                    <a16:rowId xmlns:a16="http://schemas.microsoft.com/office/drawing/2014/main" val="10005"/>
                  </a:ext>
                </a:extLst>
              </a:tr>
              <a:tr h="444825">
                <a:tc>
                  <a:txBody>
                    <a:bodyPr/>
                    <a:lstStyle/>
                    <a:p>
                      <a:pPr marL="0" lvl="0" indent="0" algn="ctr" rtl="0">
                        <a:spcBef>
                          <a:spcPts val="0"/>
                        </a:spcBef>
                        <a:spcAft>
                          <a:spcPts val="0"/>
                        </a:spcAft>
                        <a:buNone/>
                      </a:pPr>
                      <a:r>
                        <a:rPr lang="en-US"/>
                        <a:t>75%</a:t>
                      </a:r>
                      <a:endParaRPr/>
                    </a:p>
                  </a:txBody>
                  <a:tcPr marL="91425" marR="91425" marT="91425" marB="91425" anchor="ctr"/>
                </a:tc>
                <a:tc>
                  <a:txBody>
                    <a:bodyPr/>
                    <a:lstStyle/>
                    <a:p>
                      <a:pPr marL="0" lvl="0" indent="0" algn="ctr" rtl="0">
                        <a:spcBef>
                          <a:spcPts val="0"/>
                        </a:spcBef>
                        <a:spcAft>
                          <a:spcPts val="0"/>
                        </a:spcAft>
                        <a:buNone/>
                      </a:pPr>
                      <a:r>
                        <a:rPr lang="en-US"/>
                        <a:t>49</a:t>
                      </a:r>
                      <a:endParaRPr/>
                    </a:p>
                  </a:txBody>
                  <a:tcPr marL="91425" marR="91425" marT="91425" marB="91425"/>
                </a:tc>
                <a:tc>
                  <a:txBody>
                    <a:bodyPr/>
                    <a:lstStyle/>
                    <a:p>
                      <a:pPr marL="0" lvl="0" indent="0" algn="ctr" rtl="0">
                        <a:spcBef>
                          <a:spcPts val="0"/>
                        </a:spcBef>
                        <a:spcAft>
                          <a:spcPts val="0"/>
                        </a:spcAft>
                        <a:buNone/>
                      </a:pPr>
                      <a:r>
                        <a:rPr lang="en-US"/>
                        <a:t>1480</a:t>
                      </a:r>
                      <a:endParaRPr/>
                    </a:p>
                  </a:txBody>
                  <a:tcPr marL="91425" marR="91425" marT="91425" marB="91425"/>
                </a:tc>
                <a:tc>
                  <a:txBody>
                    <a:bodyPr/>
                    <a:lstStyle/>
                    <a:p>
                      <a:pPr marL="0" lvl="0" indent="0" algn="ctr" rtl="0">
                        <a:spcBef>
                          <a:spcPts val="0"/>
                        </a:spcBef>
                        <a:spcAft>
                          <a:spcPts val="0"/>
                        </a:spcAft>
                        <a:buNone/>
                      </a:pPr>
                      <a:r>
                        <a:rPr lang="en-US"/>
                        <a:t>21</a:t>
                      </a:r>
                      <a:endParaRPr/>
                    </a:p>
                  </a:txBody>
                  <a:tcPr marL="91425" marR="91425" marT="91425" marB="91425"/>
                </a:tc>
                <a:tc>
                  <a:txBody>
                    <a:bodyPr/>
                    <a:lstStyle/>
                    <a:p>
                      <a:pPr marL="0" lvl="0" indent="0" algn="ctr" rtl="0">
                        <a:spcBef>
                          <a:spcPts val="0"/>
                        </a:spcBef>
                        <a:spcAft>
                          <a:spcPts val="0"/>
                        </a:spcAft>
                        <a:buNone/>
                      </a:pPr>
                      <a:r>
                        <a:rPr lang="en-US"/>
                        <a:t>329</a:t>
                      </a:r>
                      <a:endParaRPr/>
                    </a:p>
                  </a:txBody>
                  <a:tcPr marL="91425" marR="91425" marT="91425" marB="91425"/>
                </a:tc>
                <a:tc>
                  <a:txBody>
                    <a:bodyPr/>
                    <a:lstStyle/>
                    <a:p>
                      <a:pPr marL="0" lvl="0" indent="0" algn="ctr" rtl="0">
                        <a:spcBef>
                          <a:spcPts val="0"/>
                        </a:spcBef>
                        <a:spcAft>
                          <a:spcPts val="0"/>
                        </a:spcAft>
                        <a:buNone/>
                      </a:pPr>
                      <a:r>
                        <a:rPr lang="en-US"/>
                        <a:t>3</a:t>
                      </a:r>
                      <a:endParaRPr/>
                    </a:p>
                  </a:txBody>
                  <a:tcPr marL="91425" marR="91425" marT="91425" marB="91425"/>
                </a:tc>
                <a:tc>
                  <a:txBody>
                    <a:bodyPr/>
                    <a:lstStyle/>
                    <a:p>
                      <a:pPr marL="0" lvl="0" indent="0" algn="ctr" rtl="0">
                        <a:spcBef>
                          <a:spcPts val="0"/>
                        </a:spcBef>
                        <a:spcAft>
                          <a:spcPts val="0"/>
                        </a:spcAft>
                        <a:buNone/>
                      </a:pPr>
                      <a:r>
                        <a:rPr lang="en-US"/>
                        <a:t>-1</a:t>
                      </a:r>
                      <a:endParaRPr/>
                    </a:p>
                  </a:txBody>
                  <a:tcPr marL="91425" marR="91425" marT="91425" marB="91425"/>
                </a:tc>
                <a:tc>
                  <a:txBody>
                    <a:bodyPr/>
                    <a:lstStyle/>
                    <a:p>
                      <a:pPr marL="0" lvl="0" indent="0" algn="ctr" rtl="0">
                        <a:spcBef>
                          <a:spcPts val="0"/>
                        </a:spcBef>
                        <a:spcAft>
                          <a:spcPts val="0"/>
                        </a:spcAft>
                        <a:buNone/>
                      </a:pPr>
                      <a:r>
                        <a:rPr lang="en-US"/>
                        <a:t>0</a:t>
                      </a:r>
                      <a:endParaRPr/>
                    </a:p>
                  </a:txBody>
                  <a:tcPr marL="91425" marR="91425" marT="91425" marB="91425"/>
                </a:tc>
                <a:extLst>
                  <a:ext uri="{0D108BD9-81ED-4DB2-BD59-A6C34878D82A}">
                    <a16:rowId xmlns:a16="http://schemas.microsoft.com/office/drawing/2014/main" val="10006"/>
                  </a:ext>
                </a:extLst>
              </a:tr>
              <a:tr h="444825">
                <a:tc>
                  <a:txBody>
                    <a:bodyPr/>
                    <a:lstStyle/>
                    <a:p>
                      <a:pPr marL="0" lvl="0" indent="0" algn="ctr" rtl="0">
                        <a:spcBef>
                          <a:spcPts val="0"/>
                        </a:spcBef>
                        <a:spcAft>
                          <a:spcPts val="0"/>
                        </a:spcAft>
                        <a:buNone/>
                      </a:pPr>
                      <a:r>
                        <a:rPr lang="en-US"/>
                        <a:t>MAX</a:t>
                      </a:r>
                      <a:endParaRPr/>
                    </a:p>
                  </a:txBody>
                  <a:tcPr marL="91425" marR="91425" marT="91425" marB="91425" anchor="ctr"/>
                </a:tc>
                <a:tc>
                  <a:txBody>
                    <a:bodyPr/>
                    <a:lstStyle/>
                    <a:p>
                      <a:pPr marL="0" lvl="0" indent="0" algn="ctr" rtl="0">
                        <a:spcBef>
                          <a:spcPts val="0"/>
                        </a:spcBef>
                        <a:spcAft>
                          <a:spcPts val="0"/>
                        </a:spcAft>
                        <a:buNone/>
                      </a:pPr>
                      <a:r>
                        <a:rPr lang="en-US"/>
                        <a:t>87</a:t>
                      </a:r>
                      <a:endParaRPr/>
                    </a:p>
                  </a:txBody>
                  <a:tcPr marL="91425" marR="91425" marT="91425" marB="91425"/>
                </a:tc>
                <a:tc>
                  <a:txBody>
                    <a:bodyPr/>
                    <a:lstStyle/>
                    <a:p>
                      <a:pPr marL="0" lvl="0" indent="0" algn="ctr" rtl="0">
                        <a:spcBef>
                          <a:spcPts val="0"/>
                        </a:spcBef>
                        <a:spcAft>
                          <a:spcPts val="0"/>
                        </a:spcAft>
                        <a:buNone/>
                      </a:pPr>
                      <a:r>
                        <a:rPr lang="en-US"/>
                        <a:t>71188.00</a:t>
                      </a:r>
                      <a:endParaRPr/>
                    </a:p>
                  </a:txBody>
                  <a:tcPr marL="91425" marR="91425" marT="91425" marB="91425"/>
                </a:tc>
                <a:tc>
                  <a:txBody>
                    <a:bodyPr/>
                    <a:lstStyle/>
                    <a:p>
                      <a:pPr marL="0" lvl="0" indent="0" algn="ctr" rtl="0">
                        <a:spcBef>
                          <a:spcPts val="0"/>
                        </a:spcBef>
                        <a:spcAft>
                          <a:spcPts val="0"/>
                        </a:spcAft>
                        <a:buNone/>
                      </a:pPr>
                      <a:r>
                        <a:rPr lang="en-US"/>
                        <a:t>31</a:t>
                      </a:r>
                      <a:endParaRPr/>
                    </a:p>
                  </a:txBody>
                  <a:tcPr marL="91425" marR="91425" marT="91425" marB="91425"/>
                </a:tc>
                <a:tc>
                  <a:txBody>
                    <a:bodyPr/>
                    <a:lstStyle/>
                    <a:p>
                      <a:pPr marL="0" lvl="0" indent="0" algn="ctr" rtl="0">
                        <a:spcBef>
                          <a:spcPts val="0"/>
                        </a:spcBef>
                        <a:spcAft>
                          <a:spcPts val="0"/>
                        </a:spcAft>
                        <a:buNone/>
                      </a:pPr>
                      <a:r>
                        <a:rPr lang="en-US"/>
                        <a:t>3025</a:t>
                      </a:r>
                      <a:endParaRPr/>
                    </a:p>
                  </a:txBody>
                  <a:tcPr marL="91425" marR="91425" marT="91425" marB="91425"/>
                </a:tc>
                <a:tc>
                  <a:txBody>
                    <a:bodyPr/>
                    <a:lstStyle/>
                    <a:p>
                      <a:pPr marL="0" lvl="0" indent="0" algn="ctr" rtl="0">
                        <a:spcBef>
                          <a:spcPts val="0"/>
                        </a:spcBef>
                        <a:spcAft>
                          <a:spcPts val="0"/>
                        </a:spcAft>
                        <a:buNone/>
                      </a:pPr>
                      <a:r>
                        <a:rPr lang="en-US"/>
                        <a:t>50</a:t>
                      </a:r>
                      <a:endParaRPr/>
                    </a:p>
                  </a:txBody>
                  <a:tcPr marL="91425" marR="91425" marT="91425" marB="91425"/>
                </a:tc>
                <a:tc>
                  <a:txBody>
                    <a:bodyPr/>
                    <a:lstStyle/>
                    <a:p>
                      <a:pPr marL="0" lvl="0" indent="0" algn="ctr" rtl="0">
                        <a:spcBef>
                          <a:spcPts val="0"/>
                        </a:spcBef>
                        <a:spcAft>
                          <a:spcPts val="0"/>
                        </a:spcAft>
                        <a:buNone/>
                      </a:pPr>
                      <a:r>
                        <a:rPr lang="en-US"/>
                        <a:t>871</a:t>
                      </a:r>
                      <a:endParaRPr/>
                    </a:p>
                  </a:txBody>
                  <a:tcPr marL="91425" marR="91425" marT="91425" marB="91425"/>
                </a:tc>
                <a:tc>
                  <a:txBody>
                    <a:bodyPr/>
                    <a:lstStyle/>
                    <a:p>
                      <a:pPr marL="0" lvl="0" indent="0" algn="ctr" rtl="0">
                        <a:spcBef>
                          <a:spcPts val="0"/>
                        </a:spcBef>
                        <a:spcAft>
                          <a:spcPts val="0"/>
                        </a:spcAft>
                        <a:buNone/>
                      </a:pPr>
                      <a:r>
                        <a:rPr lang="en-US"/>
                        <a:t>25</a:t>
                      </a:r>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d582afb016_0_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Preparation: Outlier Handling</a:t>
            </a:r>
            <a:endParaRPr/>
          </a:p>
        </p:txBody>
      </p:sp>
      <p:pic>
        <p:nvPicPr>
          <p:cNvPr id="159" name="Google Shape;159;g3d582afb016_0_42"/>
          <p:cNvPicPr preferRelativeResize="0"/>
          <p:nvPr/>
        </p:nvPicPr>
        <p:blipFill>
          <a:blip r:embed="rId3">
            <a:alphaModFix/>
          </a:blip>
          <a:stretch>
            <a:fillRect/>
          </a:stretch>
        </p:blipFill>
        <p:spPr>
          <a:xfrm>
            <a:off x="901987" y="1417650"/>
            <a:ext cx="7340046" cy="2188349"/>
          </a:xfrm>
          <a:prstGeom prst="rect">
            <a:avLst/>
          </a:prstGeom>
          <a:noFill/>
          <a:ln>
            <a:noFill/>
          </a:ln>
        </p:spPr>
      </p:pic>
      <p:pic>
        <p:nvPicPr>
          <p:cNvPr id="160" name="Google Shape;160;g3d582afb016_0_42"/>
          <p:cNvPicPr preferRelativeResize="0"/>
          <p:nvPr/>
        </p:nvPicPr>
        <p:blipFill>
          <a:blip r:embed="rId4">
            <a:alphaModFix/>
          </a:blip>
          <a:stretch>
            <a:fillRect/>
          </a:stretch>
        </p:blipFill>
        <p:spPr>
          <a:xfrm>
            <a:off x="901997" y="3795500"/>
            <a:ext cx="7340027" cy="21883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d73ee0b740_0_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 Preparation: Log Transformation</a:t>
            </a:r>
            <a:endParaRPr/>
          </a:p>
        </p:txBody>
      </p:sp>
      <p:pic>
        <p:nvPicPr>
          <p:cNvPr id="167" name="Google Shape;167;g3d73ee0b740_0_7"/>
          <p:cNvPicPr preferRelativeResize="0"/>
          <p:nvPr/>
        </p:nvPicPr>
        <p:blipFill>
          <a:blip r:embed="rId3">
            <a:alphaModFix/>
          </a:blip>
          <a:stretch>
            <a:fillRect/>
          </a:stretch>
        </p:blipFill>
        <p:spPr>
          <a:xfrm>
            <a:off x="152400" y="1570038"/>
            <a:ext cx="8839203" cy="293848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d582afb016_0_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 Preparation: Correlation Analysis</a:t>
            </a:r>
            <a:endParaRPr/>
          </a:p>
        </p:txBody>
      </p:sp>
      <p:pic>
        <p:nvPicPr>
          <p:cNvPr id="174" name="Google Shape;174;g3d582afb016_0_53"/>
          <p:cNvPicPr preferRelativeResize="0"/>
          <p:nvPr/>
        </p:nvPicPr>
        <p:blipFill>
          <a:blip r:embed="rId3">
            <a:alphaModFix/>
          </a:blip>
          <a:stretch>
            <a:fillRect/>
          </a:stretch>
        </p:blipFill>
        <p:spPr>
          <a:xfrm>
            <a:off x="248775" y="1862005"/>
            <a:ext cx="4419599" cy="3929060"/>
          </a:xfrm>
          <a:prstGeom prst="rect">
            <a:avLst/>
          </a:prstGeom>
          <a:noFill/>
          <a:ln>
            <a:noFill/>
          </a:ln>
        </p:spPr>
      </p:pic>
      <p:pic>
        <p:nvPicPr>
          <p:cNvPr id="175" name="Google Shape;175;g3d582afb016_0_53"/>
          <p:cNvPicPr preferRelativeResize="0"/>
          <p:nvPr/>
        </p:nvPicPr>
        <p:blipFill>
          <a:blip r:embed="rId4">
            <a:alphaModFix/>
          </a:blip>
          <a:stretch>
            <a:fillRect/>
          </a:stretch>
        </p:blipFill>
        <p:spPr>
          <a:xfrm>
            <a:off x="4668375" y="1226391"/>
            <a:ext cx="4226826" cy="52002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Predictive Modeling</a:t>
            </a:r>
            <a:endParaRPr/>
          </a:p>
        </p:txBody>
      </p:sp>
      <p:sp>
        <p:nvSpPr>
          <p:cNvPr id="182" name="Google Shape;182;p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300" b="1"/>
              <a:t>Strategy</a:t>
            </a:r>
            <a:endParaRPr sz="2300" b="1"/>
          </a:p>
          <a:p>
            <a:pPr marL="0" lvl="0" indent="0" algn="l" rtl="0">
              <a:lnSpc>
                <a:spcPct val="90000"/>
              </a:lnSpc>
              <a:spcBef>
                <a:spcPts val="0"/>
              </a:spcBef>
              <a:spcAft>
                <a:spcPts val="0"/>
              </a:spcAft>
              <a:buNone/>
            </a:pPr>
            <a:r>
              <a:rPr lang="en-US" sz="2300"/>
              <a:t>80/20 stratified train-test split (random state = 42)</a:t>
            </a:r>
            <a:endParaRPr sz="2300"/>
          </a:p>
          <a:p>
            <a:pPr marL="342900" lvl="0" indent="-374650" algn="l" rtl="0">
              <a:lnSpc>
                <a:spcPct val="90000"/>
              </a:lnSpc>
              <a:spcBef>
                <a:spcPts val="0"/>
              </a:spcBef>
              <a:spcAft>
                <a:spcPts val="0"/>
              </a:spcAft>
              <a:buSzPts val="2300"/>
              <a:buChar char="•"/>
            </a:pPr>
            <a:r>
              <a:rPr lang="en-US" sz="2300"/>
              <a:t>Training set: 3,615 records</a:t>
            </a:r>
            <a:endParaRPr sz="2300"/>
          </a:p>
          <a:p>
            <a:pPr marL="342900" lvl="0" indent="-374650" algn="l" rtl="0">
              <a:lnSpc>
                <a:spcPct val="90000"/>
              </a:lnSpc>
              <a:spcBef>
                <a:spcPts val="0"/>
              </a:spcBef>
              <a:spcAft>
                <a:spcPts val="0"/>
              </a:spcAft>
              <a:buSzPts val="2300"/>
              <a:buChar char="•"/>
            </a:pPr>
            <a:r>
              <a:rPr lang="en-US" sz="2300"/>
              <a:t>Test set: 904 records</a:t>
            </a:r>
            <a:endParaRPr sz="2300"/>
          </a:p>
          <a:p>
            <a:pPr marL="342900" lvl="0" indent="-374650" algn="l" rtl="0">
              <a:lnSpc>
                <a:spcPct val="90000"/>
              </a:lnSpc>
              <a:spcBef>
                <a:spcPts val="0"/>
              </a:spcBef>
              <a:spcAft>
                <a:spcPts val="0"/>
              </a:spcAft>
              <a:buSzPts val="2300"/>
              <a:buChar char="•"/>
            </a:pPr>
            <a:r>
              <a:rPr lang="en-US" sz="2300"/>
              <a:t>Stratified to preserve the 88.5% / 11.5% class ratio in both splits</a:t>
            </a:r>
            <a:endParaRPr sz="2300"/>
          </a:p>
          <a:p>
            <a:pPr marL="0" lvl="0" indent="0" algn="l" rtl="0">
              <a:lnSpc>
                <a:spcPct val="90000"/>
              </a:lnSpc>
              <a:spcBef>
                <a:spcPts val="0"/>
              </a:spcBef>
              <a:spcAft>
                <a:spcPts val="0"/>
              </a:spcAft>
              <a:buNone/>
            </a:pPr>
            <a:endParaRPr sz="2300"/>
          </a:p>
          <a:p>
            <a:pPr marL="0" lvl="0" indent="0" algn="l" rtl="0">
              <a:lnSpc>
                <a:spcPct val="90000"/>
              </a:lnSpc>
              <a:spcBef>
                <a:spcPts val="0"/>
              </a:spcBef>
              <a:spcAft>
                <a:spcPts val="0"/>
              </a:spcAft>
              <a:buNone/>
            </a:pPr>
            <a:r>
              <a:rPr lang="en-US" sz="2300" b="1"/>
              <a:t>Why train-test split over cross-validation:</a:t>
            </a:r>
            <a:endParaRPr sz="2300"/>
          </a:p>
          <a:p>
            <a:pPr marL="0" lvl="0" indent="0" algn="l" rtl="0">
              <a:lnSpc>
                <a:spcPct val="90000"/>
              </a:lnSpc>
              <a:spcBef>
                <a:spcPts val="0"/>
              </a:spcBef>
              <a:spcAft>
                <a:spcPts val="0"/>
              </a:spcAft>
              <a:buNone/>
            </a:pPr>
            <a:r>
              <a:rPr lang="en-US" sz="2300"/>
              <a:t>Given the class imbalance, stratified splitting ensures the minority class (subscribed = yes) is proportionally represented in both sets, giving reliable and consistent metric evaluation across all six models.</a:t>
            </a:r>
            <a:endParaRPr sz="23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d582afb016_0_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560"/>
              <a:t>Predictive Modeling: Baseline Decision Tree</a:t>
            </a:r>
            <a:endParaRPr sz="3560"/>
          </a:p>
        </p:txBody>
      </p:sp>
      <p:pic>
        <p:nvPicPr>
          <p:cNvPr id="189" name="Google Shape;189;g3d582afb016_0_95"/>
          <p:cNvPicPr preferRelativeResize="0"/>
          <p:nvPr/>
        </p:nvPicPr>
        <p:blipFill>
          <a:blip r:embed="rId3">
            <a:alphaModFix/>
          </a:blip>
          <a:stretch>
            <a:fillRect/>
          </a:stretch>
        </p:blipFill>
        <p:spPr>
          <a:xfrm>
            <a:off x="152400" y="1570038"/>
            <a:ext cx="8839202" cy="41710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graphicFrame>
        <p:nvGraphicFramePr>
          <p:cNvPr id="195" name="Google Shape;195;g3d73ee0b740_0_28"/>
          <p:cNvGraphicFramePr/>
          <p:nvPr/>
        </p:nvGraphicFramePr>
        <p:xfrm>
          <a:off x="457200" y="1666887"/>
          <a:ext cx="3000000" cy="3000000"/>
        </p:xfrm>
        <a:graphic>
          <a:graphicData uri="http://schemas.openxmlformats.org/drawingml/2006/table">
            <a:tbl>
              <a:tblPr>
                <a:noFill/>
                <a:tableStyleId>{05BF2E66-15E4-4BB5-9E5F-FB022751894C}</a:tableStyleId>
              </a:tblPr>
              <a:tblGrid>
                <a:gridCol w="1704625">
                  <a:extLst>
                    <a:ext uri="{9D8B030D-6E8A-4147-A177-3AD203B41FA5}">
                      <a16:colId xmlns:a16="http://schemas.microsoft.com/office/drawing/2014/main" val="20000"/>
                    </a:ext>
                  </a:extLst>
                </a:gridCol>
                <a:gridCol w="1390975">
                  <a:extLst>
                    <a:ext uri="{9D8B030D-6E8A-4147-A177-3AD203B41FA5}">
                      <a16:colId xmlns:a16="http://schemas.microsoft.com/office/drawing/2014/main" val="20001"/>
                    </a:ext>
                  </a:extLst>
                </a:gridCol>
                <a:gridCol w="5133975">
                  <a:extLst>
                    <a:ext uri="{9D8B030D-6E8A-4147-A177-3AD203B41FA5}">
                      <a16:colId xmlns:a16="http://schemas.microsoft.com/office/drawing/2014/main" val="20002"/>
                    </a:ext>
                  </a:extLst>
                </a:gridCol>
              </a:tblGrid>
              <a:tr h="321225">
                <a:tc>
                  <a:txBody>
                    <a:bodyPr/>
                    <a:lstStyle/>
                    <a:p>
                      <a:pPr marL="0" lvl="0" indent="0" algn="l" rtl="0">
                        <a:spcBef>
                          <a:spcPts val="0"/>
                        </a:spcBef>
                        <a:spcAft>
                          <a:spcPts val="0"/>
                        </a:spcAft>
                        <a:buNone/>
                      </a:pPr>
                      <a:r>
                        <a:rPr lang="en-US" b="1"/>
                        <a:t>Feature</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Permutation Importance</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Interpretation</a:t>
                      </a:r>
                      <a:endParaRPr b="1"/>
                    </a:p>
                  </a:txBody>
                  <a:tcPr marL="91425" marR="91425" marT="91425" marB="91425">
                    <a:solidFill>
                      <a:schemeClr val="lt2"/>
                    </a:solidFill>
                  </a:tcPr>
                </a:tc>
                <a:extLst>
                  <a:ext uri="{0D108BD9-81ED-4DB2-BD59-A6C34878D82A}">
                    <a16:rowId xmlns:a16="http://schemas.microsoft.com/office/drawing/2014/main" val="10000"/>
                  </a:ext>
                </a:extLst>
              </a:tr>
              <a:tr h="321225">
                <a:tc>
                  <a:txBody>
                    <a:bodyPr/>
                    <a:lstStyle/>
                    <a:p>
                      <a:pPr marL="0" lvl="0" indent="0" algn="l" rtl="0">
                        <a:spcBef>
                          <a:spcPts val="0"/>
                        </a:spcBef>
                        <a:spcAft>
                          <a:spcPts val="0"/>
                        </a:spcAft>
                        <a:buNone/>
                      </a:pPr>
                      <a:r>
                        <a:rPr lang="en-US"/>
                        <a:t>poutcome_success</a:t>
                      </a:r>
                      <a:endParaRPr/>
                    </a:p>
                  </a:txBody>
                  <a:tcPr marL="91425" marR="91425" marT="91425" marB="91425"/>
                </a:tc>
                <a:tc>
                  <a:txBody>
                    <a:bodyPr/>
                    <a:lstStyle/>
                    <a:p>
                      <a:pPr marL="0" lvl="0" indent="0" algn="l" rtl="0">
                        <a:spcBef>
                          <a:spcPts val="0"/>
                        </a:spcBef>
                        <a:spcAft>
                          <a:spcPts val="0"/>
                        </a:spcAft>
                        <a:buNone/>
                      </a:pPr>
                      <a:r>
                        <a:rPr lang="en-US"/>
                        <a:t>0.0279</a:t>
                      </a:r>
                      <a:endParaRPr/>
                    </a:p>
                  </a:txBody>
                  <a:tcPr marL="91425" marR="91425" marT="91425" marB="91425"/>
                </a:tc>
                <a:tc>
                  <a:txBody>
                    <a:bodyPr/>
                    <a:lstStyle/>
                    <a:p>
                      <a:pPr marL="0" lvl="0" indent="0" algn="l" rtl="0">
                        <a:spcBef>
                          <a:spcPts val="0"/>
                        </a:spcBef>
                        <a:spcAft>
                          <a:spcPts val="0"/>
                        </a:spcAft>
                        <a:buNone/>
                      </a:pPr>
                      <a:r>
                        <a:rPr lang="en-US"/>
                        <a:t>Strongest signal — prior campaign success dramatically increases subscription probability</a:t>
                      </a:r>
                      <a:endParaRPr/>
                    </a:p>
                  </a:txBody>
                  <a:tcPr marL="91425" marR="91425" marT="91425" marB="91425"/>
                </a:tc>
                <a:extLst>
                  <a:ext uri="{0D108BD9-81ED-4DB2-BD59-A6C34878D82A}">
                    <a16:rowId xmlns:a16="http://schemas.microsoft.com/office/drawing/2014/main" val="10001"/>
                  </a:ext>
                </a:extLst>
              </a:tr>
              <a:tr h="321225">
                <a:tc>
                  <a:txBody>
                    <a:bodyPr/>
                    <a:lstStyle/>
                    <a:p>
                      <a:pPr marL="0" lvl="0" indent="0" algn="l" rtl="0">
                        <a:spcBef>
                          <a:spcPts val="0"/>
                        </a:spcBef>
                        <a:spcAft>
                          <a:spcPts val="0"/>
                        </a:spcAft>
                        <a:buNone/>
                      </a:pPr>
                      <a:r>
                        <a:rPr lang="en-US"/>
                        <a:t>log_duration</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rPr>
                        <a:t>0.0152</a:t>
                      </a:r>
                      <a:endParaRPr/>
                    </a:p>
                  </a:txBody>
                  <a:tcPr marL="91425" marR="91425" marT="91425" marB="91425"/>
                </a:tc>
                <a:tc>
                  <a:txBody>
                    <a:bodyPr/>
                    <a:lstStyle/>
                    <a:p>
                      <a:pPr marL="0" lvl="0" indent="0" algn="l" rtl="0">
                        <a:spcBef>
                          <a:spcPts val="0"/>
                        </a:spcBef>
                        <a:spcAft>
                          <a:spcPts val="0"/>
                        </a:spcAft>
                        <a:buNone/>
                      </a:pPr>
                      <a:r>
                        <a:rPr lang="en-US"/>
                        <a:t>Longer calls strongly associated with subscription</a:t>
                      </a:r>
                      <a:endParaRPr/>
                    </a:p>
                  </a:txBody>
                  <a:tcPr marL="91425" marR="91425" marT="91425" marB="91425"/>
                </a:tc>
                <a:extLst>
                  <a:ext uri="{0D108BD9-81ED-4DB2-BD59-A6C34878D82A}">
                    <a16:rowId xmlns:a16="http://schemas.microsoft.com/office/drawing/2014/main" val="10002"/>
                  </a:ext>
                </a:extLst>
              </a:tr>
              <a:tr h="321225">
                <a:tc>
                  <a:txBody>
                    <a:bodyPr/>
                    <a:lstStyle/>
                    <a:p>
                      <a:pPr marL="0" lvl="0" indent="0" algn="l" rtl="0">
                        <a:spcBef>
                          <a:spcPts val="0"/>
                        </a:spcBef>
                        <a:spcAft>
                          <a:spcPts val="0"/>
                        </a:spcAft>
                        <a:buNone/>
                      </a:pPr>
                      <a:r>
                        <a:rPr lang="en-US"/>
                        <a:t>job_retired</a:t>
                      </a:r>
                      <a:endParaRPr/>
                    </a:p>
                  </a:txBody>
                  <a:tcPr marL="91425" marR="91425" marT="91425" marB="91425"/>
                </a:tc>
                <a:tc>
                  <a:txBody>
                    <a:bodyPr/>
                    <a:lstStyle/>
                    <a:p>
                      <a:pPr marL="0" lvl="0" indent="0" algn="l" rtl="0">
                        <a:spcBef>
                          <a:spcPts val="0"/>
                        </a:spcBef>
                        <a:spcAft>
                          <a:spcPts val="0"/>
                        </a:spcAft>
                        <a:buNone/>
                      </a:pPr>
                      <a:r>
                        <a:rPr lang="en-US"/>
                        <a:t>0.0038</a:t>
                      </a:r>
                      <a:endParaRPr/>
                    </a:p>
                  </a:txBody>
                  <a:tcPr marL="91425" marR="91425" marT="91425" marB="91425"/>
                </a:tc>
                <a:tc>
                  <a:txBody>
                    <a:bodyPr/>
                    <a:lstStyle/>
                    <a:p>
                      <a:pPr marL="0" lvl="0" indent="0" algn="l" rtl="0">
                        <a:spcBef>
                          <a:spcPts val="0"/>
                        </a:spcBef>
                        <a:spcAft>
                          <a:spcPts val="0"/>
                        </a:spcAft>
                        <a:buNone/>
                      </a:pPr>
                      <a:r>
                        <a:rPr lang="en-US"/>
                        <a:t>Retired customers more likely to subscribe</a:t>
                      </a:r>
                      <a:endParaRPr/>
                    </a:p>
                  </a:txBody>
                  <a:tcPr marL="91425" marR="91425" marT="91425" marB="91425"/>
                </a:tc>
                <a:extLst>
                  <a:ext uri="{0D108BD9-81ED-4DB2-BD59-A6C34878D82A}">
                    <a16:rowId xmlns:a16="http://schemas.microsoft.com/office/drawing/2014/main" val="10003"/>
                  </a:ext>
                </a:extLst>
              </a:tr>
              <a:tr h="321225">
                <a:tc>
                  <a:txBody>
                    <a:bodyPr/>
                    <a:lstStyle/>
                    <a:p>
                      <a:pPr marL="0" lvl="0" indent="0" algn="l" rtl="0">
                        <a:spcBef>
                          <a:spcPts val="0"/>
                        </a:spcBef>
                        <a:spcAft>
                          <a:spcPts val="0"/>
                        </a:spcAft>
                        <a:buNone/>
                      </a:pPr>
                      <a:r>
                        <a:rPr lang="en-US"/>
                        <a:t>housing</a:t>
                      </a:r>
                      <a:endParaRPr/>
                    </a:p>
                  </a:txBody>
                  <a:tcPr marL="91425" marR="91425" marT="91425" marB="91425"/>
                </a:tc>
                <a:tc>
                  <a:txBody>
                    <a:bodyPr/>
                    <a:lstStyle/>
                    <a:p>
                      <a:pPr marL="0" lvl="0" indent="0" algn="l" rtl="0">
                        <a:spcBef>
                          <a:spcPts val="0"/>
                        </a:spcBef>
                        <a:spcAft>
                          <a:spcPts val="0"/>
                        </a:spcAft>
                        <a:buNone/>
                      </a:pPr>
                      <a:r>
                        <a:rPr lang="en-US"/>
                        <a:t>0.0034</a:t>
                      </a:r>
                      <a:endParaRPr/>
                    </a:p>
                  </a:txBody>
                  <a:tcPr marL="91425" marR="91425" marT="91425" marB="91425"/>
                </a:tc>
                <a:tc>
                  <a:txBody>
                    <a:bodyPr/>
                    <a:lstStyle/>
                    <a:p>
                      <a:pPr marL="0" lvl="0" indent="0" algn="l" rtl="0">
                        <a:spcBef>
                          <a:spcPts val="0"/>
                        </a:spcBef>
                        <a:spcAft>
                          <a:spcPts val="0"/>
                        </a:spcAft>
                        <a:buNone/>
                      </a:pPr>
                      <a:r>
                        <a:rPr lang="en-US"/>
                        <a:t>Having a housing loan is negatively associated with subscription</a:t>
                      </a:r>
                      <a:endParaRPr/>
                    </a:p>
                  </a:txBody>
                  <a:tcPr marL="91425" marR="91425" marT="91425" marB="91425"/>
                </a:tc>
                <a:extLst>
                  <a:ext uri="{0D108BD9-81ED-4DB2-BD59-A6C34878D82A}">
                    <a16:rowId xmlns:a16="http://schemas.microsoft.com/office/drawing/2014/main" val="10004"/>
                  </a:ext>
                </a:extLst>
              </a:tr>
              <a:tr h="321225">
                <a:tc>
                  <a:txBody>
                    <a:bodyPr/>
                    <a:lstStyle/>
                    <a:p>
                      <a:pPr marL="0" lvl="0" indent="0" algn="l" rtl="0">
                        <a:spcBef>
                          <a:spcPts val="0"/>
                        </a:spcBef>
                        <a:spcAft>
                          <a:spcPts val="0"/>
                        </a:spcAft>
                        <a:buNone/>
                      </a:pPr>
                      <a:r>
                        <a:rPr lang="en-US"/>
                        <a:t>loan</a:t>
                      </a:r>
                      <a:endParaRPr/>
                    </a:p>
                  </a:txBody>
                  <a:tcPr marL="91425" marR="91425" marT="91425" marB="91425"/>
                </a:tc>
                <a:tc>
                  <a:txBody>
                    <a:bodyPr/>
                    <a:lstStyle/>
                    <a:p>
                      <a:pPr marL="0" lvl="0" indent="0" algn="l" rtl="0">
                        <a:spcBef>
                          <a:spcPts val="0"/>
                        </a:spcBef>
                        <a:spcAft>
                          <a:spcPts val="0"/>
                        </a:spcAft>
                        <a:buNone/>
                      </a:pPr>
                      <a:r>
                        <a:rPr lang="en-US"/>
                        <a:t>0.0031</a:t>
                      </a:r>
                      <a:endParaRPr/>
                    </a:p>
                  </a:txBody>
                  <a:tcPr marL="91425" marR="91425" marT="91425" marB="91425"/>
                </a:tc>
                <a:tc>
                  <a:txBody>
                    <a:bodyPr/>
                    <a:lstStyle/>
                    <a:p>
                      <a:pPr marL="0" lvl="0" indent="0" algn="l" rtl="0">
                        <a:spcBef>
                          <a:spcPts val="0"/>
                        </a:spcBef>
                        <a:spcAft>
                          <a:spcPts val="0"/>
                        </a:spcAft>
                        <a:buNone/>
                      </a:pPr>
                      <a:r>
                        <a:rPr lang="en-US"/>
                        <a:t>Having a personal loan is negatively associated with subscription</a:t>
                      </a:r>
                      <a:endParaRPr/>
                    </a:p>
                  </a:txBody>
                  <a:tcPr marL="91425" marR="91425" marT="91425" marB="91425"/>
                </a:tc>
                <a:extLst>
                  <a:ext uri="{0D108BD9-81ED-4DB2-BD59-A6C34878D82A}">
                    <a16:rowId xmlns:a16="http://schemas.microsoft.com/office/drawing/2014/main" val="10005"/>
                  </a:ext>
                </a:extLst>
              </a:tr>
              <a:tr h="321225">
                <a:tc>
                  <a:txBody>
                    <a:bodyPr/>
                    <a:lstStyle/>
                    <a:p>
                      <a:pPr marL="0" lvl="0" indent="0" algn="l" rtl="0">
                        <a:spcBef>
                          <a:spcPts val="0"/>
                        </a:spcBef>
                        <a:spcAft>
                          <a:spcPts val="0"/>
                        </a:spcAft>
                        <a:buNone/>
                      </a:pPr>
                      <a:r>
                        <a:rPr lang="en-US"/>
                        <a:t>job_student</a:t>
                      </a:r>
                      <a:endParaRPr/>
                    </a:p>
                  </a:txBody>
                  <a:tcPr marL="91425" marR="91425" marT="91425" marB="91425"/>
                </a:tc>
                <a:tc>
                  <a:txBody>
                    <a:bodyPr/>
                    <a:lstStyle/>
                    <a:p>
                      <a:pPr marL="0" lvl="0" indent="0" algn="l" rtl="0">
                        <a:spcBef>
                          <a:spcPts val="0"/>
                        </a:spcBef>
                        <a:spcAft>
                          <a:spcPts val="0"/>
                        </a:spcAft>
                        <a:buNone/>
                      </a:pPr>
                      <a:r>
                        <a:rPr lang="en-US"/>
                        <a:t>0.0019</a:t>
                      </a:r>
                      <a:endParaRPr/>
                    </a:p>
                  </a:txBody>
                  <a:tcPr marL="91425" marR="91425" marT="91425" marB="91425"/>
                </a:tc>
                <a:tc>
                  <a:txBody>
                    <a:bodyPr/>
                    <a:lstStyle/>
                    <a:p>
                      <a:pPr marL="0" lvl="0" indent="0" algn="l" rtl="0">
                        <a:spcBef>
                          <a:spcPts val="0"/>
                        </a:spcBef>
                        <a:spcAft>
                          <a:spcPts val="0"/>
                        </a:spcAft>
                        <a:buNone/>
                      </a:pPr>
                      <a:r>
                        <a:rPr lang="en-US"/>
                        <a:t>Student customers show above-average subscription rates</a:t>
                      </a:r>
                      <a:endParaRPr/>
                    </a:p>
                  </a:txBody>
                  <a:tcPr marL="91425" marR="91425" marT="91425" marB="91425"/>
                </a:tc>
                <a:extLst>
                  <a:ext uri="{0D108BD9-81ED-4DB2-BD59-A6C34878D82A}">
                    <a16:rowId xmlns:a16="http://schemas.microsoft.com/office/drawing/2014/main" val="10006"/>
                  </a:ext>
                </a:extLst>
              </a:tr>
            </a:tbl>
          </a:graphicData>
        </a:graphic>
      </p:graphicFrame>
      <p:sp>
        <p:nvSpPr>
          <p:cNvPr id="196" name="Google Shape;196;g3d73ee0b740_0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560"/>
              <a:t>Predictive Modeling: Baseline Naive Bayes</a:t>
            </a:r>
            <a:endParaRPr sz="356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d75a7bc5b2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Predictive Modeling: </a:t>
            </a:r>
            <a:br>
              <a:rPr lang="en-US"/>
            </a:br>
            <a:r>
              <a:rPr lang="en-US" sz="3150"/>
              <a:t>Baseline Models Evaluation - Preliminary Results</a:t>
            </a:r>
            <a:endParaRPr sz="3150"/>
          </a:p>
        </p:txBody>
      </p:sp>
      <p:graphicFrame>
        <p:nvGraphicFramePr>
          <p:cNvPr id="203" name="Google Shape;203;g3d75a7bc5b2_0_0"/>
          <p:cNvGraphicFramePr/>
          <p:nvPr/>
        </p:nvGraphicFramePr>
        <p:xfrm>
          <a:off x="457200" y="1534435"/>
          <a:ext cx="3000000" cy="3000000"/>
        </p:xfrm>
        <a:graphic>
          <a:graphicData uri="http://schemas.openxmlformats.org/drawingml/2006/table">
            <a:tbl>
              <a:tblPr>
                <a:noFill/>
                <a:tableStyleId>{05BF2E66-15E4-4BB5-9E5F-FB022751894C}</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b="1"/>
                    </a:p>
                  </a:txBody>
                  <a:tcPr marL="91425" marR="91425" marT="91425" marB="91425"/>
                </a:tc>
                <a:tc>
                  <a:txBody>
                    <a:bodyPr/>
                    <a:lstStyle/>
                    <a:p>
                      <a:pPr marL="0" lvl="0" indent="0" algn="l" rtl="0">
                        <a:spcBef>
                          <a:spcPts val="0"/>
                        </a:spcBef>
                        <a:spcAft>
                          <a:spcPts val="0"/>
                        </a:spcAft>
                        <a:buNone/>
                      </a:pPr>
                      <a:r>
                        <a:rPr lang="en-US" b="1"/>
                        <a:t>Accuracy</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Precision</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Recall</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FPR</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F-1 Score</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b="1"/>
                        <a:t>Decision Tree Baseline</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0.7622</a:t>
                      </a:r>
                      <a:endParaRPr/>
                    </a:p>
                  </a:txBody>
                  <a:tcPr marL="91425" marR="91425" marT="91425" marB="91425"/>
                </a:tc>
                <a:tc>
                  <a:txBody>
                    <a:bodyPr/>
                    <a:lstStyle/>
                    <a:p>
                      <a:pPr marL="0" lvl="0" indent="0" algn="l" rtl="0">
                        <a:spcBef>
                          <a:spcPts val="0"/>
                        </a:spcBef>
                        <a:spcAft>
                          <a:spcPts val="0"/>
                        </a:spcAft>
                        <a:buNone/>
                      </a:pPr>
                      <a:r>
                        <a:rPr lang="en-US"/>
                        <a:t>0.2982</a:t>
                      </a:r>
                      <a:endParaRPr/>
                    </a:p>
                  </a:txBody>
                  <a:tcPr marL="91425" marR="91425" marT="91425" marB="91425"/>
                </a:tc>
                <a:tc>
                  <a:txBody>
                    <a:bodyPr/>
                    <a:lstStyle/>
                    <a:p>
                      <a:pPr marL="0" lvl="0" indent="0" algn="l" rtl="0">
                        <a:spcBef>
                          <a:spcPts val="0"/>
                        </a:spcBef>
                        <a:spcAft>
                          <a:spcPts val="0"/>
                        </a:spcAft>
                        <a:buNone/>
                      </a:pPr>
                      <a:r>
                        <a:rPr lang="en-US"/>
                        <a:t>0.7885</a:t>
                      </a:r>
                      <a:endParaRPr/>
                    </a:p>
                  </a:txBody>
                  <a:tcPr marL="91425" marR="91425" marT="91425" marB="91425"/>
                </a:tc>
                <a:tc>
                  <a:txBody>
                    <a:bodyPr/>
                    <a:lstStyle/>
                    <a:p>
                      <a:pPr marL="0" lvl="0" indent="0" algn="l" rtl="0">
                        <a:spcBef>
                          <a:spcPts val="0"/>
                        </a:spcBef>
                        <a:spcAft>
                          <a:spcPts val="0"/>
                        </a:spcAft>
                        <a:buNone/>
                      </a:pPr>
                      <a:r>
                        <a:rPr lang="en-US"/>
                        <a:t>0.2412</a:t>
                      </a:r>
                      <a:endParaRPr/>
                    </a:p>
                  </a:txBody>
                  <a:tcPr marL="91425" marR="91425" marT="91425" marB="91425"/>
                </a:tc>
                <a:tc>
                  <a:txBody>
                    <a:bodyPr/>
                    <a:lstStyle/>
                    <a:p>
                      <a:pPr marL="0" lvl="0" indent="0" algn="l" rtl="0">
                        <a:spcBef>
                          <a:spcPts val="0"/>
                        </a:spcBef>
                        <a:spcAft>
                          <a:spcPts val="0"/>
                        </a:spcAft>
                        <a:buNone/>
                      </a:pPr>
                      <a:r>
                        <a:rPr lang="en-US"/>
                        <a:t>0.4327</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b="1"/>
                        <a:t>Naive Bayes Baseline</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0.8529</a:t>
                      </a:r>
                      <a:endParaRPr/>
                    </a:p>
                  </a:txBody>
                  <a:tcPr marL="91425" marR="91425" marT="91425" marB="91425"/>
                </a:tc>
                <a:tc>
                  <a:txBody>
                    <a:bodyPr/>
                    <a:lstStyle/>
                    <a:p>
                      <a:pPr marL="0" lvl="0" indent="0" algn="l" rtl="0">
                        <a:spcBef>
                          <a:spcPts val="0"/>
                        </a:spcBef>
                        <a:spcAft>
                          <a:spcPts val="0"/>
                        </a:spcAft>
                        <a:buNone/>
                      </a:pPr>
                      <a:r>
                        <a:rPr lang="en-US"/>
                        <a:t>0.3802</a:t>
                      </a:r>
                      <a:endParaRPr/>
                    </a:p>
                  </a:txBody>
                  <a:tcPr marL="91425" marR="91425" marT="91425" marB="91425"/>
                </a:tc>
                <a:tc>
                  <a:txBody>
                    <a:bodyPr/>
                    <a:lstStyle/>
                    <a:p>
                      <a:pPr marL="0" lvl="0" indent="0" algn="l" rtl="0">
                        <a:spcBef>
                          <a:spcPts val="0"/>
                        </a:spcBef>
                        <a:spcAft>
                          <a:spcPts val="0"/>
                        </a:spcAft>
                        <a:buNone/>
                      </a:pPr>
                      <a:r>
                        <a:rPr lang="en-US"/>
                        <a:t>0.4423</a:t>
                      </a:r>
                      <a:endParaRPr/>
                    </a:p>
                  </a:txBody>
                  <a:tcPr marL="91425" marR="91425" marT="91425" marB="91425"/>
                </a:tc>
                <a:tc>
                  <a:txBody>
                    <a:bodyPr/>
                    <a:lstStyle/>
                    <a:p>
                      <a:pPr marL="0" lvl="0" indent="0" algn="l" rtl="0">
                        <a:spcBef>
                          <a:spcPts val="0"/>
                        </a:spcBef>
                        <a:spcAft>
                          <a:spcPts val="0"/>
                        </a:spcAft>
                        <a:buNone/>
                      </a:pPr>
                      <a:r>
                        <a:rPr lang="en-US"/>
                        <a:t>0.0938</a:t>
                      </a:r>
                      <a:endParaRPr/>
                    </a:p>
                  </a:txBody>
                  <a:tcPr marL="91425" marR="91425" marT="91425" marB="91425"/>
                </a:tc>
                <a:tc>
                  <a:txBody>
                    <a:bodyPr/>
                    <a:lstStyle/>
                    <a:p>
                      <a:pPr marL="0" lvl="0" indent="0" algn="l" rtl="0">
                        <a:spcBef>
                          <a:spcPts val="0"/>
                        </a:spcBef>
                        <a:spcAft>
                          <a:spcPts val="0"/>
                        </a:spcAft>
                        <a:buNone/>
                      </a:pPr>
                      <a:r>
                        <a:rPr lang="en-US"/>
                        <a:t>0.4089</a:t>
                      </a:r>
                      <a:endParaRPr/>
                    </a:p>
                  </a:txBody>
                  <a:tcPr marL="91425" marR="91425" marT="91425" marB="91425"/>
                </a:tc>
                <a:extLst>
                  <a:ext uri="{0D108BD9-81ED-4DB2-BD59-A6C34878D82A}">
                    <a16:rowId xmlns:a16="http://schemas.microsoft.com/office/drawing/2014/main" val="10002"/>
                  </a:ext>
                </a:extLst>
              </a:tr>
            </a:tbl>
          </a:graphicData>
        </a:graphic>
      </p:graphicFrame>
      <p:pic>
        <p:nvPicPr>
          <p:cNvPr id="204" name="Google Shape;204;g3d75a7bc5b2_0_0"/>
          <p:cNvPicPr preferRelativeResize="0"/>
          <p:nvPr/>
        </p:nvPicPr>
        <p:blipFill>
          <a:blip r:embed="rId3">
            <a:alphaModFix/>
          </a:blip>
          <a:stretch>
            <a:fillRect/>
          </a:stretch>
        </p:blipFill>
        <p:spPr>
          <a:xfrm>
            <a:off x="594125" y="3296906"/>
            <a:ext cx="7955750" cy="2674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d58b86ffb3_0_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Predictive Modeling: Feature Importance based on Baseline Models</a:t>
            </a:r>
            <a:endParaRPr/>
          </a:p>
        </p:txBody>
      </p:sp>
      <p:pic>
        <p:nvPicPr>
          <p:cNvPr id="211" name="Google Shape;211;g3d58b86ffb3_0_13"/>
          <p:cNvPicPr preferRelativeResize="0"/>
          <p:nvPr/>
        </p:nvPicPr>
        <p:blipFill>
          <a:blip r:embed="rId3">
            <a:alphaModFix/>
          </a:blip>
          <a:stretch>
            <a:fillRect/>
          </a:stretch>
        </p:blipFill>
        <p:spPr>
          <a:xfrm>
            <a:off x="152400" y="1570038"/>
            <a:ext cx="8839199" cy="390327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d75a7bc5b2_0_29"/>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Predictive Modeling: </a:t>
            </a:r>
            <a:br>
              <a:rPr lang="en-US"/>
            </a:br>
            <a:r>
              <a:rPr lang="en-US" sz="2928"/>
              <a:t>Selected Features Models Evaluation - Preliminary Results</a:t>
            </a:r>
            <a:endParaRPr sz="2928"/>
          </a:p>
        </p:txBody>
      </p:sp>
      <p:graphicFrame>
        <p:nvGraphicFramePr>
          <p:cNvPr id="218" name="Google Shape;218;g3d75a7bc5b2_0_29"/>
          <p:cNvGraphicFramePr/>
          <p:nvPr/>
        </p:nvGraphicFramePr>
        <p:xfrm>
          <a:off x="457200" y="1553220"/>
          <a:ext cx="3000000" cy="3000000"/>
        </p:xfrm>
        <a:graphic>
          <a:graphicData uri="http://schemas.openxmlformats.org/drawingml/2006/table">
            <a:tbl>
              <a:tblPr>
                <a:noFill/>
                <a:tableStyleId>{05BF2E66-15E4-4BB5-9E5F-FB022751894C}</a:tableStyleId>
              </a:tblPr>
              <a:tblGrid>
                <a:gridCol w="1890725">
                  <a:extLst>
                    <a:ext uri="{9D8B030D-6E8A-4147-A177-3AD203B41FA5}">
                      <a16:colId xmlns:a16="http://schemas.microsoft.com/office/drawing/2014/main" val="20000"/>
                    </a:ext>
                  </a:extLst>
                </a:gridCol>
                <a:gridCol w="1248650">
                  <a:extLst>
                    <a:ext uri="{9D8B030D-6E8A-4147-A177-3AD203B41FA5}">
                      <a16:colId xmlns:a16="http://schemas.microsoft.com/office/drawing/2014/main" val="20001"/>
                    </a:ext>
                  </a:extLst>
                </a:gridCol>
                <a:gridCol w="1303300">
                  <a:extLst>
                    <a:ext uri="{9D8B030D-6E8A-4147-A177-3AD203B41FA5}">
                      <a16:colId xmlns:a16="http://schemas.microsoft.com/office/drawing/2014/main" val="20002"/>
                    </a:ext>
                  </a:extLst>
                </a:gridCol>
                <a:gridCol w="1398925">
                  <a:extLst>
                    <a:ext uri="{9D8B030D-6E8A-4147-A177-3AD203B41FA5}">
                      <a16:colId xmlns:a16="http://schemas.microsoft.com/office/drawing/2014/main" val="20003"/>
                    </a:ext>
                  </a:extLst>
                </a:gridCol>
                <a:gridCol w="1166675">
                  <a:extLst>
                    <a:ext uri="{9D8B030D-6E8A-4147-A177-3AD203B41FA5}">
                      <a16:colId xmlns:a16="http://schemas.microsoft.com/office/drawing/2014/main" val="20004"/>
                    </a:ext>
                  </a:extLst>
                </a:gridCol>
                <a:gridCol w="1221325">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b="1"/>
                    </a:p>
                  </a:txBody>
                  <a:tcPr marL="91425" marR="91425" marT="91425" marB="91425"/>
                </a:tc>
                <a:tc>
                  <a:txBody>
                    <a:bodyPr/>
                    <a:lstStyle/>
                    <a:p>
                      <a:pPr marL="0" lvl="0" indent="0" algn="l" rtl="0">
                        <a:spcBef>
                          <a:spcPts val="0"/>
                        </a:spcBef>
                        <a:spcAft>
                          <a:spcPts val="0"/>
                        </a:spcAft>
                        <a:buNone/>
                      </a:pPr>
                      <a:r>
                        <a:rPr lang="en-US" b="1"/>
                        <a:t>Accuracy</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Precision</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Recall</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FPR</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F-1 Score</a:t>
                      </a:r>
                      <a:endParaRPr b="1"/>
                    </a:p>
                  </a:txBody>
                  <a:tcPr marL="91425" marR="91425" marT="91425" marB="91425">
                    <a:solidFill>
                      <a:schemeClr val="lt2"/>
                    </a:solidFill>
                  </a:tcPr>
                </a:tc>
                <a:extLst>
                  <a:ext uri="{0D108BD9-81ED-4DB2-BD59-A6C34878D82A}">
                    <a16:rowId xmlns:a16="http://schemas.microsoft.com/office/drawing/2014/main" val="10000"/>
                  </a:ext>
                </a:extLst>
              </a:tr>
              <a:tr h="527600">
                <a:tc>
                  <a:txBody>
                    <a:bodyPr/>
                    <a:lstStyle/>
                    <a:p>
                      <a:pPr marL="0" lvl="0" indent="0" algn="l" rtl="0">
                        <a:spcBef>
                          <a:spcPts val="0"/>
                        </a:spcBef>
                        <a:spcAft>
                          <a:spcPts val="0"/>
                        </a:spcAft>
                        <a:buNone/>
                      </a:pPr>
                      <a:r>
                        <a:rPr lang="en-US" b="1"/>
                        <a:t>Decision Tree Selected Features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0.7223</a:t>
                      </a:r>
                      <a:endParaRPr/>
                    </a:p>
                  </a:txBody>
                  <a:tcPr marL="91425" marR="91425" marT="91425" marB="91425"/>
                </a:tc>
                <a:tc>
                  <a:txBody>
                    <a:bodyPr/>
                    <a:lstStyle/>
                    <a:p>
                      <a:pPr marL="0" lvl="0" indent="0" algn="l" rtl="0">
                        <a:spcBef>
                          <a:spcPts val="0"/>
                        </a:spcBef>
                        <a:spcAft>
                          <a:spcPts val="0"/>
                        </a:spcAft>
                        <a:buNone/>
                      </a:pPr>
                      <a:r>
                        <a:rPr lang="en-US"/>
                        <a:t>0.2724</a:t>
                      </a:r>
                      <a:endParaRPr/>
                    </a:p>
                  </a:txBody>
                  <a:tcPr marL="91425" marR="91425" marT="91425" marB="91425"/>
                </a:tc>
                <a:tc>
                  <a:txBody>
                    <a:bodyPr/>
                    <a:lstStyle/>
                    <a:p>
                      <a:pPr marL="0" lvl="0" indent="0" algn="l" rtl="0">
                        <a:spcBef>
                          <a:spcPts val="0"/>
                        </a:spcBef>
                        <a:spcAft>
                          <a:spcPts val="0"/>
                        </a:spcAft>
                        <a:buNone/>
                      </a:pPr>
                      <a:r>
                        <a:rPr lang="en-US"/>
                        <a:t>0.8462</a:t>
                      </a:r>
                      <a:endParaRPr/>
                    </a:p>
                  </a:txBody>
                  <a:tcPr marL="91425" marR="91425" marT="91425" marB="91425"/>
                </a:tc>
                <a:tc>
                  <a:txBody>
                    <a:bodyPr/>
                    <a:lstStyle/>
                    <a:p>
                      <a:pPr marL="0" lvl="0" indent="0" algn="l" rtl="0">
                        <a:spcBef>
                          <a:spcPts val="0"/>
                        </a:spcBef>
                        <a:spcAft>
                          <a:spcPts val="0"/>
                        </a:spcAft>
                        <a:buNone/>
                      </a:pPr>
                      <a:r>
                        <a:rPr lang="en-US"/>
                        <a:t>0.2938</a:t>
                      </a:r>
                      <a:endParaRPr/>
                    </a:p>
                  </a:txBody>
                  <a:tcPr marL="91425" marR="91425" marT="91425" marB="91425"/>
                </a:tc>
                <a:tc>
                  <a:txBody>
                    <a:bodyPr/>
                    <a:lstStyle/>
                    <a:p>
                      <a:pPr marL="0" lvl="0" indent="0" algn="l" rtl="0">
                        <a:spcBef>
                          <a:spcPts val="0"/>
                        </a:spcBef>
                        <a:spcAft>
                          <a:spcPts val="0"/>
                        </a:spcAft>
                        <a:buNone/>
                      </a:pPr>
                      <a:r>
                        <a:rPr lang="en-US"/>
                        <a:t>0.4122</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b="1"/>
                        <a:t>Naive Bayes Selected Features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0.8717</a:t>
                      </a:r>
                      <a:endParaRPr/>
                    </a:p>
                  </a:txBody>
                  <a:tcPr marL="91425" marR="91425" marT="91425" marB="91425"/>
                </a:tc>
                <a:tc>
                  <a:txBody>
                    <a:bodyPr/>
                    <a:lstStyle/>
                    <a:p>
                      <a:pPr marL="0" lvl="0" indent="0" algn="l" rtl="0">
                        <a:spcBef>
                          <a:spcPts val="0"/>
                        </a:spcBef>
                        <a:spcAft>
                          <a:spcPts val="0"/>
                        </a:spcAft>
                        <a:buNone/>
                      </a:pPr>
                      <a:r>
                        <a:rPr lang="en-US"/>
                        <a:t>0.4333</a:t>
                      </a:r>
                      <a:endParaRPr/>
                    </a:p>
                  </a:txBody>
                  <a:tcPr marL="91425" marR="91425" marT="91425" marB="91425"/>
                </a:tc>
                <a:tc>
                  <a:txBody>
                    <a:bodyPr/>
                    <a:lstStyle/>
                    <a:p>
                      <a:pPr marL="0" lvl="0" indent="0" algn="l" rtl="0">
                        <a:spcBef>
                          <a:spcPts val="0"/>
                        </a:spcBef>
                        <a:spcAft>
                          <a:spcPts val="0"/>
                        </a:spcAft>
                        <a:buNone/>
                      </a:pPr>
                      <a:r>
                        <a:rPr lang="en-US"/>
                        <a:t>0.3750</a:t>
                      </a:r>
                      <a:endParaRPr/>
                    </a:p>
                  </a:txBody>
                  <a:tcPr marL="91425" marR="91425" marT="91425" marB="91425"/>
                </a:tc>
                <a:tc>
                  <a:txBody>
                    <a:bodyPr/>
                    <a:lstStyle/>
                    <a:p>
                      <a:pPr marL="0" lvl="0" indent="0" algn="l" rtl="0">
                        <a:spcBef>
                          <a:spcPts val="0"/>
                        </a:spcBef>
                        <a:spcAft>
                          <a:spcPts val="0"/>
                        </a:spcAft>
                        <a:buNone/>
                      </a:pPr>
                      <a:r>
                        <a:rPr lang="en-US"/>
                        <a:t>0.0638</a:t>
                      </a:r>
                      <a:endParaRPr/>
                    </a:p>
                  </a:txBody>
                  <a:tcPr marL="91425" marR="91425" marT="91425" marB="91425"/>
                </a:tc>
                <a:tc>
                  <a:txBody>
                    <a:bodyPr/>
                    <a:lstStyle/>
                    <a:p>
                      <a:pPr marL="0" lvl="0" indent="0" algn="l" rtl="0">
                        <a:spcBef>
                          <a:spcPts val="0"/>
                        </a:spcBef>
                        <a:spcAft>
                          <a:spcPts val="0"/>
                        </a:spcAft>
                        <a:buNone/>
                      </a:pPr>
                      <a:r>
                        <a:rPr lang="en-US"/>
                        <a:t>0.4021</a:t>
                      </a:r>
                      <a:endParaRPr/>
                    </a:p>
                  </a:txBody>
                  <a:tcPr marL="91425" marR="91425" marT="91425" marB="91425"/>
                </a:tc>
                <a:extLst>
                  <a:ext uri="{0D108BD9-81ED-4DB2-BD59-A6C34878D82A}">
                    <a16:rowId xmlns:a16="http://schemas.microsoft.com/office/drawing/2014/main" val="10002"/>
                  </a:ext>
                </a:extLst>
              </a:tr>
            </a:tbl>
          </a:graphicData>
        </a:graphic>
      </p:graphicFrame>
      <p:pic>
        <p:nvPicPr>
          <p:cNvPr id="219" name="Google Shape;219;g3d75a7bc5b2_0_29"/>
          <p:cNvPicPr preferRelativeResize="0"/>
          <p:nvPr/>
        </p:nvPicPr>
        <p:blipFill>
          <a:blip r:embed="rId3">
            <a:alphaModFix/>
          </a:blip>
          <a:stretch>
            <a:fillRect/>
          </a:stretch>
        </p:blipFill>
        <p:spPr>
          <a:xfrm>
            <a:off x="676450" y="3320979"/>
            <a:ext cx="7791099" cy="2621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d582afb016_0_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Bonus: Chi-Square Analysis</a:t>
            </a:r>
            <a:endParaRPr/>
          </a:p>
        </p:txBody>
      </p:sp>
      <p:pic>
        <p:nvPicPr>
          <p:cNvPr id="226" name="Google Shape;226;g3d582afb016_0_64"/>
          <p:cNvPicPr preferRelativeResize="0"/>
          <p:nvPr/>
        </p:nvPicPr>
        <p:blipFill>
          <a:blip r:embed="rId3">
            <a:alphaModFix/>
          </a:blip>
          <a:stretch>
            <a:fillRect/>
          </a:stretch>
        </p:blipFill>
        <p:spPr>
          <a:xfrm>
            <a:off x="1036687" y="1417648"/>
            <a:ext cx="7070626" cy="4475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d73ee0b740_0_35"/>
          <p:cNvSpPr txBox="1">
            <a:spLocks noGrp="1"/>
          </p:cNvSpPr>
          <p:nvPr>
            <p:ph type="title"/>
          </p:nvPr>
        </p:nvSpPr>
        <p:spPr>
          <a:xfrm>
            <a:off x="290593" y="290136"/>
            <a:ext cx="8562814"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2760" dirty="0"/>
              <a:t>Bonus: Feature Selection via Consensus</a:t>
            </a:r>
            <a:endParaRPr sz="2760" dirty="0"/>
          </a:p>
          <a:p>
            <a:pPr marL="0" lvl="0" indent="0" algn="ctr" rtl="0">
              <a:spcBef>
                <a:spcPts val="0"/>
              </a:spcBef>
              <a:spcAft>
                <a:spcPts val="0"/>
              </a:spcAft>
              <a:buClr>
                <a:schemeClr val="dk1"/>
              </a:buClr>
              <a:buSzPts val="3960"/>
              <a:buFont typeface="Calibri"/>
              <a:buNone/>
            </a:pPr>
            <a:r>
              <a:rPr lang="en-US" sz="2760" dirty="0"/>
              <a:t>Combining Baseline Models with Correlation, Chi-Square</a:t>
            </a:r>
            <a:endParaRPr sz="2760" dirty="0"/>
          </a:p>
        </p:txBody>
      </p:sp>
      <p:pic>
        <p:nvPicPr>
          <p:cNvPr id="3" name="Picture 2">
            <a:extLst>
              <a:ext uri="{FF2B5EF4-FFF2-40B4-BE49-F238E27FC236}">
                <a16:creationId xmlns:a16="http://schemas.microsoft.com/office/drawing/2014/main" id="{05F5165A-996E-594D-25C7-1BDDB71EBAC0}"/>
              </a:ext>
            </a:extLst>
          </p:cNvPr>
          <p:cNvPicPr>
            <a:picLocks noChangeAspect="1"/>
          </p:cNvPicPr>
          <p:nvPr/>
        </p:nvPicPr>
        <p:blipFill>
          <a:blip r:embed="rId3"/>
          <a:stretch>
            <a:fillRect/>
          </a:stretch>
        </p:blipFill>
        <p:spPr>
          <a:xfrm>
            <a:off x="604434" y="1903290"/>
            <a:ext cx="8229600" cy="326963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d73ee0b740_0_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460"/>
              <a:t>Bonus: Decision Tree w/ Consensus Features</a:t>
            </a:r>
            <a:endParaRPr sz="3460"/>
          </a:p>
        </p:txBody>
      </p:sp>
      <p:pic>
        <p:nvPicPr>
          <p:cNvPr id="240" name="Google Shape;240;g3d73ee0b740_0_45"/>
          <p:cNvPicPr preferRelativeResize="0"/>
          <p:nvPr/>
        </p:nvPicPr>
        <p:blipFill>
          <a:blip r:embed="rId3">
            <a:alphaModFix/>
          </a:blip>
          <a:stretch>
            <a:fillRect/>
          </a:stretch>
        </p:blipFill>
        <p:spPr>
          <a:xfrm>
            <a:off x="152400" y="1269488"/>
            <a:ext cx="8839201" cy="457945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3d58b86ffb3_0_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Bonus: Optimized Model Performance w/ Consensus Features</a:t>
            </a:r>
            <a:endParaRPr/>
          </a:p>
        </p:txBody>
      </p:sp>
      <p:pic>
        <p:nvPicPr>
          <p:cNvPr id="247" name="Google Shape;247;g3d58b86ffb3_0_83"/>
          <p:cNvPicPr preferRelativeResize="0"/>
          <p:nvPr/>
        </p:nvPicPr>
        <p:blipFill>
          <a:blip r:embed="rId3">
            <a:alphaModFix/>
          </a:blip>
          <a:stretch>
            <a:fillRect/>
          </a:stretch>
        </p:blipFill>
        <p:spPr>
          <a:xfrm>
            <a:off x="773075" y="3429004"/>
            <a:ext cx="7597851" cy="2556625"/>
          </a:xfrm>
          <a:prstGeom prst="rect">
            <a:avLst/>
          </a:prstGeom>
          <a:noFill/>
          <a:ln>
            <a:noFill/>
          </a:ln>
        </p:spPr>
      </p:pic>
      <p:graphicFrame>
        <p:nvGraphicFramePr>
          <p:cNvPr id="248" name="Google Shape;248;g3d58b86ffb3_0_83"/>
          <p:cNvGraphicFramePr/>
          <p:nvPr/>
        </p:nvGraphicFramePr>
        <p:xfrm>
          <a:off x="457200" y="1677075"/>
          <a:ext cx="8229600" cy="1615350"/>
        </p:xfrm>
        <a:graphic>
          <a:graphicData uri="http://schemas.openxmlformats.org/drawingml/2006/table">
            <a:tbl>
              <a:tblPr>
                <a:noFill/>
                <a:tableStyleId>{05BF2E66-15E4-4BB5-9E5F-FB022751894C}</a:tableStyleId>
              </a:tblPr>
              <a:tblGrid>
                <a:gridCol w="1945400">
                  <a:extLst>
                    <a:ext uri="{9D8B030D-6E8A-4147-A177-3AD203B41FA5}">
                      <a16:colId xmlns:a16="http://schemas.microsoft.com/office/drawing/2014/main" val="20000"/>
                    </a:ext>
                  </a:extLst>
                </a:gridCol>
                <a:gridCol w="1289600">
                  <a:extLst>
                    <a:ext uri="{9D8B030D-6E8A-4147-A177-3AD203B41FA5}">
                      <a16:colId xmlns:a16="http://schemas.microsoft.com/office/drawing/2014/main" val="20001"/>
                    </a:ext>
                  </a:extLst>
                </a:gridCol>
                <a:gridCol w="1262300">
                  <a:extLst>
                    <a:ext uri="{9D8B030D-6E8A-4147-A177-3AD203B41FA5}">
                      <a16:colId xmlns:a16="http://schemas.microsoft.com/office/drawing/2014/main" val="20002"/>
                    </a:ext>
                  </a:extLst>
                </a:gridCol>
                <a:gridCol w="1235000">
                  <a:extLst>
                    <a:ext uri="{9D8B030D-6E8A-4147-A177-3AD203B41FA5}">
                      <a16:colId xmlns:a16="http://schemas.microsoft.com/office/drawing/2014/main" val="20003"/>
                    </a:ext>
                  </a:extLst>
                </a:gridCol>
                <a:gridCol w="12781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endParaRPr b="1"/>
                    </a:p>
                  </a:txBody>
                  <a:tcPr marL="91425" marR="91425" marT="91425" marB="91425"/>
                </a:tc>
                <a:tc>
                  <a:txBody>
                    <a:bodyPr/>
                    <a:lstStyle/>
                    <a:p>
                      <a:pPr marL="0" lvl="0" indent="0" algn="l" rtl="0">
                        <a:spcBef>
                          <a:spcPts val="0"/>
                        </a:spcBef>
                        <a:spcAft>
                          <a:spcPts val="0"/>
                        </a:spcAft>
                        <a:buNone/>
                      </a:pPr>
                      <a:r>
                        <a:rPr lang="en-US" b="1"/>
                        <a:t>Accuracy</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Precision</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Recall</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FPR</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b="1"/>
                        <a:t>F-1 Score</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b="1"/>
                        <a:t>Decision Tree Consensus Features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0.7799</a:t>
                      </a:r>
                      <a:endParaRPr/>
                    </a:p>
                  </a:txBody>
                  <a:tcPr marL="91425" marR="91425" marT="91425" marB="91425"/>
                </a:tc>
                <a:tc>
                  <a:txBody>
                    <a:bodyPr/>
                    <a:lstStyle/>
                    <a:p>
                      <a:pPr marL="0" lvl="0" indent="0" algn="l" rtl="0">
                        <a:spcBef>
                          <a:spcPts val="0"/>
                        </a:spcBef>
                        <a:spcAft>
                          <a:spcPts val="0"/>
                        </a:spcAft>
                        <a:buNone/>
                      </a:pPr>
                      <a:r>
                        <a:rPr lang="en-US"/>
                        <a:t>0.3166</a:t>
                      </a:r>
                      <a:endParaRPr/>
                    </a:p>
                  </a:txBody>
                  <a:tcPr marL="91425" marR="91425" marT="91425" marB="91425"/>
                </a:tc>
                <a:tc>
                  <a:txBody>
                    <a:bodyPr/>
                    <a:lstStyle/>
                    <a:p>
                      <a:pPr marL="0" lvl="0" indent="0" algn="l" rtl="0">
                        <a:spcBef>
                          <a:spcPts val="0"/>
                        </a:spcBef>
                        <a:spcAft>
                          <a:spcPts val="0"/>
                        </a:spcAft>
                        <a:buNone/>
                      </a:pPr>
                      <a:r>
                        <a:rPr lang="en-US"/>
                        <a:t>0.7885</a:t>
                      </a:r>
                      <a:endParaRPr/>
                    </a:p>
                  </a:txBody>
                  <a:tcPr marL="91425" marR="91425" marT="91425" marB="91425"/>
                </a:tc>
                <a:tc>
                  <a:txBody>
                    <a:bodyPr/>
                    <a:lstStyle/>
                    <a:p>
                      <a:pPr marL="0" lvl="0" indent="0" algn="l" rtl="0">
                        <a:spcBef>
                          <a:spcPts val="0"/>
                        </a:spcBef>
                        <a:spcAft>
                          <a:spcPts val="0"/>
                        </a:spcAft>
                        <a:buNone/>
                      </a:pPr>
                      <a:r>
                        <a:rPr lang="en-US"/>
                        <a:t>0.2213</a:t>
                      </a:r>
                      <a:endParaRPr/>
                    </a:p>
                  </a:txBody>
                  <a:tcPr marL="91425" marR="91425" marT="91425" marB="91425"/>
                </a:tc>
                <a:tc>
                  <a:txBody>
                    <a:bodyPr/>
                    <a:lstStyle/>
                    <a:p>
                      <a:pPr marL="0" lvl="0" indent="0" algn="l" rtl="0">
                        <a:spcBef>
                          <a:spcPts val="0"/>
                        </a:spcBef>
                        <a:spcAft>
                          <a:spcPts val="0"/>
                        </a:spcAft>
                        <a:buNone/>
                      </a:pPr>
                      <a:r>
                        <a:rPr lang="en-US"/>
                        <a:t>0.4518</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b="1"/>
                        <a:t>Naive Bayes Consensus Features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en-US"/>
                        <a:t>0.8617</a:t>
                      </a:r>
                      <a:endParaRPr/>
                    </a:p>
                  </a:txBody>
                  <a:tcPr marL="91425" marR="91425" marT="91425" marB="91425"/>
                </a:tc>
                <a:tc>
                  <a:txBody>
                    <a:bodyPr/>
                    <a:lstStyle/>
                    <a:p>
                      <a:pPr marL="0" lvl="0" indent="0" algn="l" rtl="0">
                        <a:spcBef>
                          <a:spcPts val="0"/>
                        </a:spcBef>
                        <a:spcAft>
                          <a:spcPts val="0"/>
                        </a:spcAft>
                        <a:buNone/>
                      </a:pPr>
                      <a:r>
                        <a:rPr lang="en-US"/>
                        <a:t>0.4037</a:t>
                      </a:r>
                      <a:endParaRPr/>
                    </a:p>
                  </a:txBody>
                  <a:tcPr marL="91425" marR="91425" marT="91425" marB="91425"/>
                </a:tc>
                <a:tc>
                  <a:txBody>
                    <a:bodyPr/>
                    <a:lstStyle/>
                    <a:p>
                      <a:pPr marL="0" lvl="0" indent="0" algn="l" rtl="0">
                        <a:spcBef>
                          <a:spcPts val="0"/>
                        </a:spcBef>
                        <a:spcAft>
                          <a:spcPts val="0"/>
                        </a:spcAft>
                        <a:buNone/>
                      </a:pPr>
                      <a:r>
                        <a:rPr lang="en-US"/>
                        <a:t>0.4231</a:t>
                      </a:r>
                      <a:endParaRPr/>
                    </a:p>
                  </a:txBody>
                  <a:tcPr marL="91425" marR="91425" marT="91425" marB="91425"/>
                </a:tc>
                <a:tc>
                  <a:txBody>
                    <a:bodyPr/>
                    <a:lstStyle/>
                    <a:p>
                      <a:pPr marL="0" lvl="0" indent="0" algn="l" rtl="0">
                        <a:spcBef>
                          <a:spcPts val="0"/>
                        </a:spcBef>
                        <a:spcAft>
                          <a:spcPts val="0"/>
                        </a:spcAft>
                        <a:buNone/>
                      </a:pPr>
                      <a:r>
                        <a:rPr lang="en-US"/>
                        <a:t>0.0813</a:t>
                      </a:r>
                      <a:endParaRPr/>
                    </a:p>
                  </a:txBody>
                  <a:tcPr marL="91425" marR="91425" marT="91425" marB="91425"/>
                </a:tc>
                <a:tc>
                  <a:txBody>
                    <a:bodyPr/>
                    <a:lstStyle/>
                    <a:p>
                      <a:pPr marL="0" lvl="0" indent="0" algn="l" rtl="0">
                        <a:spcBef>
                          <a:spcPts val="0"/>
                        </a:spcBef>
                        <a:spcAft>
                          <a:spcPts val="0"/>
                        </a:spcAft>
                        <a:buNone/>
                      </a:pPr>
                      <a:r>
                        <a:rPr lang="en-US"/>
                        <a:t>0.4131</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d73ee0b740_0_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Decision Tree: Selected Features</a:t>
            </a:r>
            <a:endParaRPr/>
          </a:p>
        </p:txBody>
      </p:sp>
      <p:pic>
        <p:nvPicPr>
          <p:cNvPr id="255" name="Google Shape;255;g3d73ee0b740_0_52"/>
          <p:cNvPicPr preferRelativeResize="0"/>
          <p:nvPr/>
        </p:nvPicPr>
        <p:blipFill>
          <a:blip r:embed="rId3">
            <a:alphaModFix/>
          </a:blip>
          <a:stretch>
            <a:fillRect/>
          </a:stretch>
        </p:blipFill>
        <p:spPr>
          <a:xfrm>
            <a:off x="152400" y="1570038"/>
            <a:ext cx="8839199" cy="39032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260"/>
              <a:t>Baseline vs. Selected vs. Consensus Comparison</a:t>
            </a:r>
            <a:endParaRPr sz="3260"/>
          </a:p>
        </p:txBody>
      </p:sp>
      <p:graphicFrame>
        <p:nvGraphicFramePr>
          <p:cNvPr id="262" name="Google Shape;262;p7"/>
          <p:cNvGraphicFramePr/>
          <p:nvPr/>
        </p:nvGraphicFramePr>
        <p:xfrm>
          <a:off x="730388" y="2095500"/>
          <a:ext cx="7683200" cy="2667000"/>
        </p:xfrm>
        <a:graphic>
          <a:graphicData uri="http://schemas.openxmlformats.org/drawingml/2006/table">
            <a:tbl>
              <a:tblPr>
                <a:noFill/>
                <a:tableStyleId>{05BF2E66-15E4-4BB5-9E5F-FB022751894C}</a:tableStyleId>
              </a:tblPr>
              <a:tblGrid>
                <a:gridCol w="3015375">
                  <a:extLst>
                    <a:ext uri="{9D8B030D-6E8A-4147-A177-3AD203B41FA5}">
                      <a16:colId xmlns:a16="http://schemas.microsoft.com/office/drawing/2014/main" val="20000"/>
                    </a:ext>
                  </a:extLst>
                </a:gridCol>
                <a:gridCol w="1248750">
                  <a:extLst>
                    <a:ext uri="{9D8B030D-6E8A-4147-A177-3AD203B41FA5}">
                      <a16:colId xmlns:a16="http://schemas.microsoft.com/office/drawing/2014/main" val="20001"/>
                    </a:ext>
                  </a:extLst>
                </a:gridCol>
                <a:gridCol w="1166950">
                  <a:extLst>
                    <a:ext uri="{9D8B030D-6E8A-4147-A177-3AD203B41FA5}">
                      <a16:colId xmlns:a16="http://schemas.microsoft.com/office/drawing/2014/main" val="20002"/>
                    </a:ext>
                  </a:extLst>
                </a:gridCol>
                <a:gridCol w="1190325">
                  <a:extLst>
                    <a:ext uri="{9D8B030D-6E8A-4147-A177-3AD203B41FA5}">
                      <a16:colId xmlns:a16="http://schemas.microsoft.com/office/drawing/2014/main" val="20003"/>
                    </a:ext>
                  </a:extLst>
                </a:gridCol>
                <a:gridCol w="1061800">
                  <a:extLst>
                    <a:ext uri="{9D8B030D-6E8A-4147-A177-3AD203B41FA5}">
                      <a16:colId xmlns:a16="http://schemas.microsoft.com/office/drawing/2014/main" val="20004"/>
                    </a:ext>
                  </a:extLst>
                </a:gridCol>
              </a:tblGrid>
              <a:tr h="381000">
                <a:tc>
                  <a:txBody>
                    <a:bodyPr/>
                    <a:lstStyle/>
                    <a:p>
                      <a:pPr marL="0" lvl="0" indent="0" algn="l" rtl="0">
                        <a:spcBef>
                          <a:spcPts val="0"/>
                        </a:spcBef>
                        <a:spcAft>
                          <a:spcPts val="0"/>
                        </a:spcAft>
                        <a:buNone/>
                      </a:pPr>
                      <a:r>
                        <a:rPr lang="en-US" sz="1200" b="1"/>
                        <a:t>Comparison</a:t>
                      </a:r>
                      <a:endParaRPr sz="1200" b="1"/>
                    </a:p>
                  </a:txBody>
                  <a:tcPr marL="91425" marR="91425" marT="91425" marB="91425">
                    <a:solidFill>
                      <a:schemeClr val="lt2"/>
                    </a:solidFill>
                  </a:tcPr>
                </a:tc>
                <a:tc>
                  <a:txBody>
                    <a:bodyPr/>
                    <a:lstStyle/>
                    <a:p>
                      <a:pPr marL="0" lvl="0" indent="0" algn="l" rtl="0">
                        <a:spcBef>
                          <a:spcPts val="0"/>
                        </a:spcBef>
                        <a:spcAft>
                          <a:spcPts val="0"/>
                        </a:spcAft>
                        <a:buNone/>
                      </a:pPr>
                      <a:r>
                        <a:rPr lang="en-US" sz="1200" b="1"/>
                        <a:t>Accuracy</a:t>
                      </a:r>
                      <a:endParaRPr sz="1200" b="1"/>
                    </a:p>
                  </a:txBody>
                  <a:tcPr marL="91425" marR="91425" marT="91425" marB="91425">
                    <a:solidFill>
                      <a:schemeClr val="lt2"/>
                    </a:solidFill>
                  </a:tcPr>
                </a:tc>
                <a:tc>
                  <a:txBody>
                    <a:bodyPr/>
                    <a:lstStyle/>
                    <a:p>
                      <a:pPr marL="0" lvl="0" indent="0" algn="l" rtl="0">
                        <a:spcBef>
                          <a:spcPts val="0"/>
                        </a:spcBef>
                        <a:spcAft>
                          <a:spcPts val="0"/>
                        </a:spcAft>
                        <a:buNone/>
                      </a:pPr>
                      <a:r>
                        <a:rPr lang="en-US" sz="1200" b="1"/>
                        <a:t>Recall</a:t>
                      </a:r>
                      <a:endParaRPr sz="1200" b="1"/>
                    </a:p>
                  </a:txBody>
                  <a:tcPr marL="91425" marR="91425" marT="91425" marB="91425">
                    <a:solidFill>
                      <a:schemeClr val="lt2"/>
                    </a:solidFill>
                  </a:tcPr>
                </a:tc>
                <a:tc>
                  <a:txBody>
                    <a:bodyPr/>
                    <a:lstStyle/>
                    <a:p>
                      <a:pPr marL="0" lvl="0" indent="0" algn="l" rtl="0">
                        <a:spcBef>
                          <a:spcPts val="0"/>
                        </a:spcBef>
                        <a:spcAft>
                          <a:spcPts val="0"/>
                        </a:spcAft>
                        <a:buNone/>
                      </a:pPr>
                      <a:r>
                        <a:rPr lang="en-US" sz="1200" b="1"/>
                        <a:t>FPR</a:t>
                      </a:r>
                      <a:endParaRPr sz="1200" b="1"/>
                    </a:p>
                  </a:txBody>
                  <a:tcPr marL="91425" marR="91425" marT="91425" marB="91425">
                    <a:solidFill>
                      <a:schemeClr val="lt2"/>
                    </a:solidFill>
                  </a:tcPr>
                </a:tc>
                <a:tc>
                  <a:txBody>
                    <a:bodyPr/>
                    <a:lstStyle/>
                    <a:p>
                      <a:pPr marL="0" lvl="0" indent="0" algn="l" rtl="0">
                        <a:spcBef>
                          <a:spcPts val="0"/>
                        </a:spcBef>
                        <a:spcAft>
                          <a:spcPts val="0"/>
                        </a:spcAft>
                        <a:buNone/>
                      </a:pPr>
                      <a:r>
                        <a:rPr lang="en-US" sz="1200" b="1"/>
                        <a:t>F1-Score</a:t>
                      </a:r>
                      <a:endParaRPr sz="1200"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200"/>
                        <a:t>DT Original (all 29 features)</a:t>
                      </a:r>
                      <a:endParaRPr sz="1200"/>
                    </a:p>
                  </a:txBody>
                  <a:tcPr marL="91425" marR="91425" marT="91425" marB="91425"/>
                </a:tc>
                <a:tc>
                  <a:txBody>
                    <a:bodyPr/>
                    <a:lstStyle/>
                    <a:p>
                      <a:pPr marL="0" lvl="0" indent="0" algn="l" rtl="0">
                        <a:spcBef>
                          <a:spcPts val="0"/>
                        </a:spcBef>
                        <a:spcAft>
                          <a:spcPts val="0"/>
                        </a:spcAft>
                        <a:buNone/>
                      </a:pPr>
                      <a:r>
                        <a:rPr lang="en-US" sz="1200"/>
                        <a:t>76.22%</a:t>
                      </a:r>
                      <a:endParaRPr sz="1200"/>
                    </a:p>
                  </a:txBody>
                  <a:tcPr marL="91425" marR="91425" marT="91425" marB="91425"/>
                </a:tc>
                <a:tc>
                  <a:txBody>
                    <a:bodyPr/>
                    <a:lstStyle/>
                    <a:p>
                      <a:pPr marL="0" lvl="0" indent="0" algn="l" rtl="0">
                        <a:spcBef>
                          <a:spcPts val="0"/>
                        </a:spcBef>
                        <a:spcAft>
                          <a:spcPts val="0"/>
                        </a:spcAft>
                        <a:buNone/>
                      </a:pPr>
                      <a:r>
                        <a:rPr lang="en-US" sz="1200"/>
                        <a:t>78.85%</a:t>
                      </a:r>
                      <a:endParaRPr sz="1200"/>
                    </a:p>
                  </a:txBody>
                  <a:tcPr marL="91425" marR="91425" marT="91425" marB="91425"/>
                </a:tc>
                <a:tc>
                  <a:txBody>
                    <a:bodyPr/>
                    <a:lstStyle/>
                    <a:p>
                      <a:pPr marL="0" lvl="0" indent="0" algn="l" rtl="0">
                        <a:spcBef>
                          <a:spcPts val="0"/>
                        </a:spcBef>
                        <a:spcAft>
                          <a:spcPts val="0"/>
                        </a:spcAft>
                        <a:buNone/>
                      </a:pPr>
                      <a:r>
                        <a:rPr lang="en-US" sz="1200"/>
                        <a:t>24.12%</a:t>
                      </a:r>
                      <a:endParaRPr sz="1200"/>
                    </a:p>
                  </a:txBody>
                  <a:tcPr marL="91425" marR="91425" marT="91425" marB="91425"/>
                </a:tc>
                <a:tc>
                  <a:txBody>
                    <a:bodyPr/>
                    <a:lstStyle/>
                    <a:p>
                      <a:pPr marL="0" lvl="0" indent="0" algn="l" rtl="0">
                        <a:spcBef>
                          <a:spcPts val="0"/>
                        </a:spcBef>
                        <a:spcAft>
                          <a:spcPts val="0"/>
                        </a:spcAft>
                        <a:buNone/>
                      </a:pPr>
                      <a:r>
                        <a:rPr lang="en-US" sz="1200"/>
                        <a:t>0.4327</a:t>
                      </a:r>
                      <a:endParaRPr sz="12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200"/>
                        <a:t>DT Selected (13 from DT)</a:t>
                      </a:r>
                      <a:endParaRPr sz="1200"/>
                    </a:p>
                  </a:txBody>
                  <a:tcPr marL="91425" marR="91425" marT="91425" marB="91425"/>
                </a:tc>
                <a:tc>
                  <a:txBody>
                    <a:bodyPr/>
                    <a:lstStyle/>
                    <a:p>
                      <a:pPr marL="0" lvl="0" indent="0" algn="l" rtl="0">
                        <a:spcBef>
                          <a:spcPts val="0"/>
                        </a:spcBef>
                        <a:spcAft>
                          <a:spcPts val="0"/>
                        </a:spcAft>
                        <a:buNone/>
                      </a:pPr>
                      <a:r>
                        <a:rPr lang="en-US" sz="1200"/>
                        <a:t>72.23%</a:t>
                      </a:r>
                      <a:endParaRPr sz="1200"/>
                    </a:p>
                  </a:txBody>
                  <a:tcPr marL="91425" marR="91425" marT="91425" marB="91425"/>
                </a:tc>
                <a:tc>
                  <a:txBody>
                    <a:bodyPr/>
                    <a:lstStyle/>
                    <a:p>
                      <a:pPr marL="0" lvl="0" indent="0" algn="l" rtl="0">
                        <a:spcBef>
                          <a:spcPts val="0"/>
                        </a:spcBef>
                        <a:spcAft>
                          <a:spcPts val="0"/>
                        </a:spcAft>
                        <a:buNone/>
                      </a:pPr>
                      <a:r>
                        <a:rPr lang="en-US" sz="1200" b="1"/>
                        <a:t>84.62%</a:t>
                      </a:r>
                      <a:endParaRPr sz="1200" b="1"/>
                    </a:p>
                  </a:txBody>
                  <a:tcPr marL="91425" marR="91425" marT="91425" marB="91425"/>
                </a:tc>
                <a:tc>
                  <a:txBody>
                    <a:bodyPr/>
                    <a:lstStyle/>
                    <a:p>
                      <a:pPr marL="0" lvl="0" indent="0" algn="l" rtl="0">
                        <a:spcBef>
                          <a:spcPts val="0"/>
                        </a:spcBef>
                        <a:spcAft>
                          <a:spcPts val="0"/>
                        </a:spcAft>
                        <a:buNone/>
                      </a:pPr>
                      <a:r>
                        <a:rPr lang="en-US" sz="1200"/>
                        <a:t>29.38%</a:t>
                      </a:r>
                      <a:endParaRPr sz="1200"/>
                    </a:p>
                  </a:txBody>
                  <a:tcPr marL="91425" marR="91425" marT="91425" marB="91425"/>
                </a:tc>
                <a:tc>
                  <a:txBody>
                    <a:bodyPr/>
                    <a:lstStyle/>
                    <a:p>
                      <a:pPr marL="0" lvl="0" indent="0" algn="l" rtl="0">
                        <a:spcBef>
                          <a:spcPts val="0"/>
                        </a:spcBef>
                        <a:spcAft>
                          <a:spcPts val="0"/>
                        </a:spcAft>
                        <a:buNone/>
                      </a:pPr>
                      <a:r>
                        <a:rPr lang="en-US" sz="1200"/>
                        <a:t>0.4122</a:t>
                      </a:r>
                      <a:endParaRPr sz="12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200"/>
                        <a:t>DT Optimized (13 Consensus)</a:t>
                      </a:r>
                      <a:endParaRPr sz="1200"/>
                    </a:p>
                  </a:txBody>
                  <a:tcPr marL="91425" marR="91425" marT="91425" marB="91425"/>
                </a:tc>
                <a:tc>
                  <a:txBody>
                    <a:bodyPr/>
                    <a:lstStyle/>
                    <a:p>
                      <a:pPr marL="0" lvl="0" indent="0" algn="l" rtl="0">
                        <a:spcBef>
                          <a:spcPts val="0"/>
                        </a:spcBef>
                        <a:spcAft>
                          <a:spcPts val="0"/>
                        </a:spcAft>
                        <a:buNone/>
                      </a:pPr>
                      <a:r>
                        <a:rPr lang="en-US" sz="1200"/>
                        <a:t>77.99%</a:t>
                      </a:r>
                      <a:endParaRPr sz="1200"/>
                    </a:p>
                  </a:txBody>
                  <a:tcPr marL="91425" marR="91425" marT="91425" marB="91425"/>
                </a:tc>
                <a:tc>
                  <a:txBody>
                    <a:bodyPr/>
                    <a:lstStyle/>
                    <a:p>
                      <a:pPr marL="0" lvl="0" indent="0" algn="l" rtl="0">
                        <a:spcBef>
                          <a:spcPts val="0"/>
                        </a:spcBef>
                        <a:spcAft>
                          <a:spcPts val="0"/>
                        </a:spcAft>
                        <a:buNone/>
                      </a:pPr>
                      <a:r>
                        <a:rPr lang="en-US" sz="1200"/>
                        <a:t>78.85%</a:t>
                      </a:r>
                      <a:endParaRPr sz="1200"/>
                    </a:p>
                  </a:txBody>
                  <a:tcPr marL="91425" marR="91425" marT="91425" marB="91425"/>
                </a:tc>
                <a:tc>
                  <a:txBody>
                    <a:bodyPr/>
                    <a:lstStyle/>
                    <a:p>
                      <a:pPr marL="0" lvl="0" indent="0" algn="l" rtl="0">
                        <a:spcBef>
                          <a:spcPts val="0"/>
                        </a:spcBef>
                        <a:spcAft>
                          <a:spcPts val="0"/>
                        </a:spcAft>
                        <a:buNone/>
                      </a:pPr>
                      <a:r>
                        <a:rPr lang="en-US" sz="1200"/>
                        <a:t>22.13%</a:t>
                      </a:r>
                      <a:endParaRPr sz="1200"/>
                    </a:p>
                  </a:txBody>
                  <a:tcPr marL="91425" marR="91425" marT="91425" marB="91425"/>
                </a:tc>
                <a:tc>
                  <a:txBody>
                    <a:bodyPr/>
                    <a:lstStyle/>
                    <a:p>
                      <a:pPr marL="0" lvl="0" indent="0" algn="l" rtl="0">
                        <a:spcBef>
                          <a:spcPts val="0"/>
                        </a:spcBef>
                        <a:spcAft>
                          <a:spcPts val="0"/>
                        </a:spcAft>
                        <a:buNone/>
                      </a:pPr>
                      <a:r>
                        <a:rPr lang="en-US" sz="1200" b="1"/>
                        <a:t>0.4518</a:t>
                      </a:r>
                      <a:endParaRPr sz="1200" b="1"/>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sz="1200"/>
                        <a:t>NB Original (all 29 features)</a:t>
                      </a:r>
                      <a:endParaRPr sz="1200"/>
                    </a:p>
                  </a:txBody>
                  <a:tcPr marL="91425" marR="91425" marT="91425" marB="91425"/>
                </a:tc>
                <a:tc>
                  <a:txBody>
                    <a:bodyPr/>
                    <a:lstStyle/>
                    <a:p>
                      <a:pPr marL="0" lvl="0" indent="0" algn="l" rtl="0">
                        <a:spcBef>
                          <a:spcPts val="0"/>
                        </a:spcBef>
                        <a:spcAft>
                          <a:spcPts val="0"/>
                        </a:spcAft>
                        <a:buNone/>
                      </a:pPr>
                      <a:r>
                        <a:rPr lang="en-US" sz="1200"/>
                        <a:t>85.29%</a:t>
                      </a:r>
                      <a:endParaRPr sz="1200"/>
                    </a:p>
                  </a:txBody>
                  <a:tcPr marL="91425" marR="91425" marT="91425" marB="91425"/>
                </a:tc>
                <a:tc>
                  <a:txBody>
                    <a:bodyPr/>
                    <a:lstStyle/>
                    <a:p>
                      <a:pPr marL="0" lvl="0" indent="0" algn="l" rtl="0">
                        <a:spcBef>
                          <a:spcPts val="0"/>
                        </a:spcBef>
                        <a:spcAft>
                          <a:spcPts val="0"/>
                        </a:spcAft>
                        <a:buNone/>
                      </a:pPr>
                      <a:r>
                        <a:rPr lang="en-US" sz="1200"/>
                        <a:t>44.23%</a:t>
                      </a:r>
                      <a:endParaRPr sz="1200"/>
                    </a:p>
                  </a:txBody>
                  <a:tcPr marL="91425" marR="91425" marT="91425" marB="91425"/>
                </a:tc>
                <a:tc>
                  <a:txBody>
                    <a:bodyPr/>
                    <a:lstStyle/>
                    <a:p>
                      <a:pPr marL="0" lvl="0" indent="0" algn="l" rtl="0">
                        <a:spcBef>
                          <a:spcPts val="0"/>
                        </a:spcBef>
                        <a:spcAft>
                          <a:spcPts val="0"/>
                        </a:spcAft>
                        <a:buNone/>
                      </a:pPr>
                      <a:r>
                        <a:rPr lang="en-US" sz="1200"/>
                        <a:t>9.38%</a:t>
                      </a:r>
                      <a:endParaRPr sz="1200"/>
                    </a:p>
                  </a:txBody>
                  <a:tcPr marL="91425" marR="91425" marT="91425" marB="91425"/>
                </a:tc>
                <a:tc>
                  <a:txBody>
                    <a:bodyPr/>
                    <a:lstStyle/>
                    <a:p>
                      <a:pPr marL="0" lvl="0" indent="0" algn="l" rtl="0">
                        <a:spcBef>
                          <a:spcPts val="0"/>
                        </a:spcBef>
                        <a:spcAft>
                          <a:spcPts val="0"/>
                        </a:spcAft>
                        <a:buNone/>
                      </a:pPr>
                      <a:r>
                        <a:rPr lang="en-US" sz="1200"/>
                        <a:t>0.4089</a:t>
                      </a:r>
                      <a:endParaRPr sz="120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sz="1200"/>
                        <a:t>NB Selected (13 from DT)</a:t>
                      </a:r>
                      <a:endParaRPr sz="1200"/>
                    </a:p>
                  </a:txBody>
                  <a:tcPr marL="91425" marR="91425" marT="91425" marB="91425"/>
                </a:tc>
                <a:tc>
                  <a:txBody>
                    <a:bodyPr/>
                    <a:lstStyle/>
                    <a:p>
                      <a:pPr marL="0" lvl="0" indent="0" algn="l" rtl="0">
                        <a:spcBef>
                          <a:spcPts val="0"/>
                        </a:spcBef>
                        <a:spcAft>
                          <a:spcPts val="0"/>
                        </a:spcAft>
                        <a:buNone/>
                      </a:pPr>
                      <a:r>
                        <a:rPr lang="en-US" sz="1200" b="1"/>
                        <a:t>87.17%</a:t>
                      </a:r>
                      <a:endParaRPr sz="1200" b="1"/>
                    </a:p>
                  </a:txBody>
                  <a:tcPr marL="91425" marR="91425" marT="91425" marB="91425"/>
                </a:tc>
                <a:tc>
                  <a:txBody>
                    <a:bodyPr/>
                    <a:lstStyle/>
                    <a:p>
                      <a:pPr marL="0" lvl="0" indent="0" algn="l" rtl="0">
                        <a:spcBef>
                          <a:spcPts val="0"/>
                        </a:spcBef>
                        <a:spcAft>
                          <a:spcPts val="0"/>
                        </a:spcAft>
                        <a:buNone/>
                      </a:pPr>
                      <a:r>
                        <a:rPr lang="en-US" sz="1200"/>
                        <a:t>37.50%</a:t>
                      </a:r>
                      <a:endParaRPr sz="1200"/>
                    </a:p>
                  </a:txBody>
                  <a:tcPr marL="91425" marR="91425" marT="91425" marB="91425"/>
                </a:tc>
                <a:tc>
                  <a:txBody>
                    <a:bodyPr/>
                    <a:lstStyle/>
                    <a:p>
                      <a:pPr marL="0" lvl="0" indent="0" algn="l" rtl="0">
                        <a:spcBef>
                          <a:spcPts val="0"/>
                        </a:spcBef>
                        <a:spcAft>
                          <a:spcPts val="0"/>
                        </a:spcAft>
                        <a:buNone/>
                      </a:pPr>
                      <a:r>
                        <a:rPr lang="en-US" sz="1200" b="1"/>
                        <a:t>6.38%</a:t>
                      </a:r>
                      <a:endParaRPr sz="1200" b="1"/>
                    </a:p>
                  </a:txBody>
                  <a:tcPr marL="91425" marR="91425" marT="91425" marB="91425"/>
                </a:tc>
                <a:tc>
                  <a:txBody>
                    <a:bodyPr/>
                    <a:lstStyle/>
                    <a:p>
                      <a:pPr marL="0" lvl="0" indent="0" algn="l" rtl="0">
                        <a:spcBef>
                          <a:spcPts val="0"/>
                        </a:spcBef>
                        <a:spcAft>
                          <a:spcPts val="0"/>
                        </a:spcAft>
                        <a:buNone/>
                      </a:pPr>
                      <a:r>
                        <a:rPr lang="en-US" sz="1200"/>
                        <a:t>0.4021</a:t>
                      </a:r>
                      <a:endParaRPr sz="1200"/>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US" sz="1200"/>
                        <a:t>NB Optimized (13 Consensus)</a:t>
                      </a:r>
                      <a:endParaRPr sz="1200"/>
                    </a:p>
                  </a:txBody>
                  <a:tcPr marL="91425" marR="91425" marT="91425" marB="91425"/>
                </a:tc>
                <a:tc>
                  <a:txBody>
                    <a:bodyPr/>
                    <a:lstStyle/>
                    <a:p>
                      <a:pPr marL="0" lvl="0" indent="0" algn="l" rtl="0">
                        <a:spcBef>
                          <a:spcPts val="0"/>
                        </a:spcBef>
                        <a:spcAft>
                          <a:spcPts val="0"/>
                        </a:spcAft>
                        <a:buNone/>
                      </a:pPr>
                      <a:r>
                        <a:rPr lang="en-US" sz="1200"/>
                        <a:t>86.17%</a:t>
                      </a:r>
                      <a:endParaRPr sz="1200"/>
                    </a:p>
                  </a:txBody>
                  <a:tcPr marL="91425" marR="91425" marT="91425" marB="91425"/>
                </a:tc>
                <a:tc>
                  <a:txBody>
                    <a:bodyPr/>
                    <a:lstStyle/>
                    <a:p>
                      <a:pPr marL="0" lvl="0" indent="0" algn="l" rtl="0">
                        <a:spcBef>
                          <a:spcPts val="0"/>
                        </a:spcBef>
                        <a:spcAft>
                          <a:spcPts val="0"/>
                        </a:spcAft>
                        <a:buNone/>
                      </a:pPr>
                      <a:r>
                        <a:rPr lang="en-US" sz="1200"/>
                        <a:t>42.31%</a:t>
                      </a:r>
                      <a:endParaRPr sz="1200"/>
                    </a:p>
                  </a:txBody>
                  <a:tcPr marL="91425" marR="91425" marT="91425" marB="91425"/>
                </a:tc>
                <a:tc>
                  <a:txBody>
                    <a:bodyPr/>
                    <a:lstStyle/>
                    <a:p>
                      <a:pPr marL="0" lvl="0" indent="0" algn="l" rtl="0">
                        <a:spcBef>
                          <a:spcPts val="0"/>
                        </a:spcBef>
                        <a:spcAft>
                          <a:spcPts val="0"/>
                        </a:spcAft>
                        <a:buNone/>
                      </a:pPr>
                      <a:r>
                        <a:rPr lang="en-US" sz="1200"/>
                        <a:t>8.13%</a:t>
                      </a:r>
                      <a:endParaRPr sz="1200"/>
                    </a:p>
                  </a:txBody>
                  <a:tcPr marL="91425" marR="91425" marT="91425" marB="91425"/>
                </a:tc>
                <a:tc>
                  <a:txBody>
                    <a:bodyPr/>
                    <a:lstStyle/>
                    <a:p>
                      <a:pPr marL="0" lvl="0" indent="0" algn="l" rtl="0">
                        <a:spcBef>
                          <a:spcPts val="0"/>
                        </a:spcBef>
                        <a:spcAft>
                          <a:spcPts val="0"/>
                        </a:spcAft>
                        <a:buNone/>
                      </a:pPr>
                      <a:r>
                        <a:rPr lang="en-US" sz="1200"/>
                        <a:t>0.4131</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d8c26e8cbf_1_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260"/>
              <a:t>Baseline vs. Selected vs. Consensus Comparison</a:t>
            </a:r>
            <a:endParaRPr sz="3260"/>
          </a:p>
        </p:txBody>
      </p:sp>
      <p:sp>
        <p:nvSpPr>
          <p:cNvPr id="269" name="Google Shape;269;g3d8c26e8cbf_1_5"/>
          <p:cNvSpPr txBox="1"/>
          <p:nvPr/>
        </p:nvSpPr>
        <p:spPr>
          <a:xfrm>
            <a:off x="2653175" y="2684950"/>
            <a:ext cx="65349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270" name="Google Shape;270;g3d8c26e8cbf_1_5"/>
          <p:cNvPicPr preferRelativeResize="0"/>
          <p:nvPr/>
        </p:nvPicPr>
        <p:blipFill>
          <a:blip r:embed="rId3">
            <a:alphaModFix/>
          </a:blip>
          <a:stretch>
            <a:fillRect/>
          </a:stretch>
        </p:blipFill>
        <p:spPr>
          <a:xfrm>
            <a:off x="304800" y="1557358"/>
            <a:ext cx="8534400" cy="432739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d58b86ffb3_0_10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950"/>
              <a:t>Major Findings: Data Preparation</a:t>
            </a:r>
            <a:endParaRPr sz="3950"/>
          </a:p>
        </p:txBody>
      </p:sp>
      <p:sp>
        <p:nvSpPr>
          <p:cNvPr id="277" name="Google Shape;277;g3d58b86ffb3_0_101"/>
          <p:cNvSpPr txBox="1">
            <a:spLocks noGrp="1"/>
          </p:cNvSpPr>
          <p:nvPr>
            <p:ph type="body" idx="1"/>
          </p:nvPr>
        </p:nvSpPr>
        <p:spPr>
          <a:xfrm>
            <a:off x="457200" y="1296546"/>
            <a:ext cx="8229600" cy="4526100"/>
          </a:xfrm>
          <a:prstGeom prst="rect">
            <a:avLst/>
          </a:prstGeom>
          <a:noFill/>
          <a:ln>
            <a:noFill/>
          </a:ln>
        </p:spPr>
        <p:txBody>
          <a:bodyPr spcFirstLastPara="1" wrap="square" lIns="91425" tIns="45700" rIns="91425" bIns="45700" anchor="t" anchorCtr="0">
            <a:normAutofit/>
          </a:bodyPr>
          <a:lstStyle/>
          <a:p>
            <a:pPr marL="342900" lvl="0" indent="-330200" algn="l" rtl="0">
              <a:lnSpc>
                <a:spcPct val="95000"/>
              </a:lnSpc>
              <a:spcBef>
                <a:spcPts val="0"/>
              </a:spcBef>
              <a:spcAft>
                <a:spcPts val="0"/>
              </a:spcAft>
              <a:buSzPts val="1600"/>
              <a:buChar char="•"/>
            </a:pPr>
            <a:r>
              <a:rPr lang="en-US" sz="1600" b="1"/>
              <a:t>The dataset is significantly imbalanced </a:t>
            </a:r>
            <a:r>
              <a:rPr lang="en-US" sz="1600"/>
              <a:t>— 88.5% of customers did not subscribe, only 11.5% did. This makes accuracy a misleading metric and elevates TPR and FPR as the decisive evaluation criteria throughout the project.</a:t>
            </a:r>
            <a:endParaRPr sz="1600"/>
          </a:p>
          <a:p>
            <a:pPr marL="342900" lvl="0" indent="0" algn="l" rtl="0">
              <a:lnSpc>
                <a:spcPct val="95000"/>
              </a:lnSpc>
              <a:spcBef>
                <a:spcPts val="0"/>
              </a:spcBef>
              <a:spcAft>
                <a:spcPts val="0"/>
              </a:spcAft>
              <a:buNone/>
            </a:pPr>
            <a:endParaRPr sz="1600"/>
          </a:p>
          <a:p>
            <a:pPr marL="342900" lvl="0" indent="-330200" algn="l" rtl="0">
              <a:lnSpc>
                <a:spcPct val="95000"/>
              </a:lnSpc>
              <a:spcBef>
                <a:spcPts val="0"/>
              </a:spcBef>
              <a:spcAft>
                <a:spcPts val="0"/>
              </a:spcAft>
              <a:buSzPts val="1600"/>
              <a:buChar char="•"/>
            </a:pPr>
            <a:r>
              <a:rPr lang="en-US" sz="1600" b="1"/>
              <a:t>Outlier analysis</a:t>
            </a:r>
            <a:r>
              <a:rPr lang="en-US" sz="1600"/>
              <a:t> revealed that </a:t>
            </a:r>
            <a:r>
              <a:rPr lang="en-US" sz="1600" b="1"/>
              <a:t>balance</a:t>
            </a:r>
            <a:r>
              <a:rPr lang="en-US" sz="1600"/>
              <a:t>, </a:t>
            </a:r>
            <a:r>
              <a:rPr lang="en-US" sz="1600" b="1"/>
              <a:t>pdays</a:t>
            </a:r>
            <a:r>
              <a:rPr lang="en-US" sz="1600"/>
              <a:t>, </a:t>
            </a:r>
            <a:r>
              <a:rPr lang="en-US" sz="1600" b="1"/>
              <a:t>previous</a:t>
            </a:r>
            <a:r>
              <a:rPr lang="en-US" sz="1600"/>
              <a:t>, </a:t>
            </a:r>
            <a:r>
              <a:rPr lang="en-US" sz="1600" b="1"/>
              <a:t>duration</a:t>
            </a:r>
            <a:r>
              <a:rPr lang="en-US" sz="1600"/>
              <a:t>, and </a:t>
            </a:r>
            <a:r>
              <a:rPr lang="en-US" sz="1600" b="1"/>
              <a:t>campaign</a:t>
            </a:r>
            <a:r>
              <a:rPr lang="en-US" sz="1600"/>
              <a:t> all contain substantial outliers — these reflect real customer behaviour (e.g., high-balance clients, heavily contacted customers) and were deliberately retained as meaningful signals rather than noise.</a:t>
            </a:r>
            <a:endParaRPr sz="1600"/>
          </a:p>
          <a:p>
            <a:pPr marL="342900" lvl="0" indent="0" algn="l" rtl="0">
              <a:lnSpc>
                <a:spcPct val="95000"/>
              </a:lnSpc>
              <a:spcBef>
                <a:spcPts val="0"/>
              </a:spcBef>
              <a:spcAft>
                <a:spcPts val="0"/>
              </a:spcAft>
              <a:buNone/>
            </a:pPr>
            <a:endParaRPr sz="1600"/>
          </a:p>
          <a:p>
            <a:pPr marL="342900" lvl="0" indent="-330200" algn="l" rtl="0">
              <a:lnSpc>
                <a:spcPct val="95000"/>
              </a:lnSpc>
              <a:spcBef>
                <a:spcPts val="0"/>
              </a:spcBef>
              <a:spcAft>
                <a:spcPts val="0"/>
              </a:spcAft>
              <a:buSzPts val="1600"/>
              <a:buChar char="•"/>
            </a:pPr>
            <a:r>
              <a:rPr lang="en-US" sz="1600" b="1"/>
              <a:t>Chi-square analysis</a:t>
            </a:r>
            <a:r>
              <a:rPr lang="en-US" sz="1600"/>
              <a:t> was applied to all 29 prepared features (including log_duration, one-hot encoded job, contact, and poutcome dummies) and combined with three other selection methods into a 4-method Voting Consensus. The top features confirmed by chi-square include log_duration, poutcome_success, pdays, and contact_unknown — consistent with all other selection methods.</a:t>
            </a:r>
            <a:endParaRPr sz="1600"/>
          </a:p>
          <a:p>
            <a:pPr marL="342900" lvl="0" indent="0" algn="l" rtl="0">
              <a:lnSpc>
                <a:spcPct val="95000"/>
              </a:lnSpc>
              <a:spcBef>
                <a:spcPts val="0"/>
              </a:spcBef>
              <a:spcAft>
                <a:spcPts val="0"/>
              </a:spcAft>
              <a:buNone/>
            </a:pPr>
            <a:endParaRPr sz="1600"/>
          </a:p>
          <a:p>
            <a:pPr marL="342900" lvl="0" indent="-330200" algn="l" rtl="0">
              <a:lnSpc>
                <a:spcPct val="95000"/>
              </a:lnSpc>
              <a:spcBef>
                <a:spcPts val="0"/>
              </a:spcBef>
              <a:spcAft>
                <a:spcPts val="0"/>
              </a:spcAft>
              <a:buSzPts val="1600"/>
              <a:buChar char="•"/>
            </a:pPr>
            <a:r>
              <a:rPr lang="en-US" sz="1600" b="1"/>
              <a:t>log_duration (log-transformed call duration) </a:t>
            </a:r>
            <a:r>
              <a:rPr lang="en-US" sz="1600"/>
              <a:t>was the single strongest predictor across every analysis method — Chi-Square (highest χ² score), Pearson correlation (r = 0.40 on raw duration), and Decision Tree Gini importance (62.8% of total information gain in the baseline model). Call duration is the most reliable signal in the dataset.</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Major Findings: Predictive Modeling</a:t>
            </a:r>
            <a:endParaRPr/>
          </a:p>
        </p:txBody>
      </p:sp>
      <p:sp>
        <p:nvSpPr>
          <p:cNvPr id="284" name="Google Shape;284;p8"/>
          <p:cNvSpPr txBox="1">
            <a:spLocks noGrp="1"/>
          </p:cNvSpPr>
          <p:nvPr>
            <p:ph type="body" idx="1"/>
          </p:nvPr>
        </p:nvSpPr>
        <p:spPr>
          <a:xfrm>
            <a:off x="382525" y="1337360"/>
            <a:ext cx="8229600" cy="4618200"/>
          </a:xfrm>
          <a:prstGeom prst="rect">
            <a:avLst/>
          </a:prstGeom>
          <a:noFill/>
          <a:ln>
            <a:noFill/>
          </a:ln>
        </p:spPr>
        <p:txBody>
          <a:bodyPr spcFirstLastPara="1" wrap="square" lIns="91425" tIns="45700" rIns="91425" bIns="45700" anchor="t" anchorCtr="0">
            <a:noAutofit/>
          </a:bodyPr>
          <a:lstStyle/>
          <a:p>
            <a:pPr marL="342900" lvl="0" indent="-320358" algn="l" rtl="0">
              <a:lnSpc>
                <a:spcPct val="105000"/>
              </a:lnSpc>
              <a:spcBef>
                <a:spcPts val="0"/>
              </a:spcBef>
              <a:spcAft>
                <a:spcPts val="0"/>
              </a:spcAft>
              <a:buSzPts val="1445"/>
              <a:buChar char="•"/>
            </a:pPr>
            <a:r>
              <a:rPr lang="en-US" sz="1445"/>
              <a:t>Six models were trained and evaluated across three strategies: baseline (all 29 features), selected (13 features from DT importance), and optimized (13 Voting Consensus features).</a:t>
            </a:r>
            <a:endParaRPr sz="1445"/>
          </a:p>
          <a:p>
            <a:pPr marL="342900" lvl="0" indent="0" algn="l" rtl="0">
              <a:lnSpc>
                <a:spcPct val="105000"/>
              </a:lnSpc>
              <a:spcBef>
                <a:spcPts val="0"/>
              </a:spcBef>
              <a:spcAft>
                <a:spcPts val="0"/>
              </a:spcAft>
              <a:buSzPts val="935"/>
              <a:buNone/>
            </a:pPr>
            <a:endParaRPr sz="1445"/>
          </a:p>
          <a:p>
            <a:pPr marL="342900" lvl="0" indent="-320358" algn="l" rtl="0">
              <a:lnSpc>
                <a:spcPct val="105000"/>
              </a:lnSpc>
              <a:spcBef>
                <a:spcPts val="0"/>
              </a:spcBef>
              <a:spcAft>
                <a:spcPts val="0"/>
              </a:spcAft>
              <a:buSzPts val="1445"/>
              <a:buChar char="•"/>
            </a:pPr>
            <a:r>
              <a:rPr lang="en-US" sz="1445"/>
              <a:t>The </a:t>
            </a:r>
            <a:r>
              <a:rPr lang="en-US" sz="1445" b="1"/>
              <a:t>Decision Tree Baseline</a:t>
            </a:r>
            <a:r>
              <a:rPr lang="en-US" sz="1445"/>
              <a:t> achieved a </a:t>
            </a:r>
            <a:r>
              <a:rPr lang="en-US" sz="1445" b="1"/>
              <a:t>TPR of 78.85%</a:t>
            </a:r>
            <a:r>
              <a:rPr lang="en-US" sz="1445"/>
              <a:t> — correctly identifying nearly 4 in 5 actual subscribers — but at the cost of a high FPR of 24.12%, meaning a large number of non-subscribers would also be called. Accuracy was 76.22%.</a:t>
            </a:r>
            <a:endParaRPr sz="1445"/>
          </a:p>
          <a:p>
            <a:pPr marL="342900" lvl="0" indent="0" algn="l" rtl="0">
              <a:lnSpc>
                <a:spcPct val="105000"/>
              </a:lnSpc>
              <a:spcBef>
                <a:spcPts val="0"/>
              </a:spcBef>
              <a:spcAft>
                <a:spcPts val="0"/>
              </a:spcAft>
              <a:buSzPts val="935"/>
              <a:buNone/>
            </a:pPr>
            <a:endParaRPr sz="1445"/>
          </a:p>
          <a:p>
            <a:pPr marL="342900" lvl="0" indent="-320358" algn="l" rtl="0">
              <a:lnSpc>
                <a:spcPct val="105000"/>
              </a:lnSpc>
              <a:spcBef>
                <a:spcPts val="0"/>
              </a:spcBef>
              <a:spcAft>
                <a:spcPts val="0"/>
              </a:spcAft>
              <a:buSzPts val="1445"/>
              <a:buChar char="•"/>
            </a:pPr>
            <a:r>
              <a:rPr lang="en-US" sz="1445"/>
              <a:t>The </a:t>
            </a:r>
            <a:r>
              <a:rPr lang="en-US" sz="1445" b="1"/>
              <a:t>Naïve Bayes Baseline</a:t>
            </a:r>
            <a:r>
              <a:rPr lang="en-US" sz="1445"/>
              <a:t> achieved the </a:t>
            </a:r>
            <a:r>
              <a:rPr lang="en-US" sz="1445" b="1"/>
              <a:t>best accuracy at 85.29%</a:t>
            </a:r>
            <a:r>
              <a:rPr lang="en-US" sz="1445"/>
              <a:t> with a significantly lower FPR of 9.38%, but a lower TPR of 44.23% — identifying fewer subscribers overall.</a:t>
            </a:r>
            <a:endParaRPr sz="1445"/>
          </a:p>
          <a:p>
            <a:pPr marL="342900" lvl="0" indent="0" algn="l" rtl="0">
              <a:lnSpc>
                <a:spcPct val="105000"/>
              </a:lnSpc>
              <a:spcBef>
                <a:spcPts val="0"/>
              </a:spcBef>
              <a:spcAft>
                <a:spcPts val="0"/>
              </a:spcAft>
              <a:buSzPts val="935"/>
              <a:buNone/>
            </a:pPr>
            <a:endParaRPr sz="1445"/>
          </a:p>
          <a:p>
            <a:pPr marL="342900" lvl="0" indent="-320358" algn="l" rtl="0">
              <a:lnSpc>
                <a:spcPct val="105000"/>
              </a:lnSpc>
              <a:spcBef>
                <a:spcPts val="0"/>
              </a:spcBef>
              <a:spcAft>
                <a:spcPts val="0"/>
              </a:spcAft>
              <a:buSzPts val="1445"/>
              <a:buChar char="•"/>
            </a:pPr>
            <a:r>
              <a:rPr lang="en-US" sz="1445"/>
              <a:t>The </a:t>
            </a:r>
            <a:r>
              <a:rPr lang="en-US" sz="1445" b="1"/>
              <a:t>DT Optimized (Consensus 13 features)</a:t>
            </a:r>
            <a:r>
              <a:rPr lang="en-US" sz="1445"/>
              <a:t> </a:t>
            </a:r>
            <a:r>
              <a:rPr lang="en-US" sz="1445" b="1"/>
              <a:t>delivered the best F1-Score (0.4518)</a:t>
            </a:r>
            <a:r>
              <a:rPr lang="en-US" sz="1445"/>
              <a:t>, with TPR of 78.85%, FPR of 22.13%, and accuracy of 77.99% — an improvement over the DT Baseline across all three rubric metrics.</a:t>
            </a:r>
            <a:endParaRPr sz="1445"/>
          </a:p>
          <a:p>
            <a:pPr marL="342900" lvl="0" indent="0" algn="l" rtl="0">
              <a:lnSpc>
                <a:spcPct val="105000"/>
              </a:lnSpc>
              <a:spcBef>
                <a:spcPts val="0"/>
              </a:spcBef>
              <a:spcAft>
                <a:spcPts val="0"/>
              </a:spcAft>
              <a:buSzPts val="935"/>
              <a:buNone/>
            </a:pPr>
            <a:endParaRPr sz="1445"/>
          </a:p>
          <a:p>
            <a:pPr marL="342900" lvl="0" indent="-320358" algn="l" rtl="0">
              <a:lnSpc>
                <a:spcPct val="105000"/>
              </a:lnSpc>
              <a:spcBef>
                <a:spcPts val="0"/>
              </a:spcBef>
              <a:spcAft>
                <a:spcPts val="0"/>
              </a:spcAft>
              <a:buSzPts val="1445"/>
              <a:buChar char="•"/>
            </a:pPr>
            <a:r>
              <a:rPr lang="en-US" sz="1445"/>
              <a:t>The </a:t>
            </a:r>
            <a:r>
              <a:rPr lang="en-US" sz="1445" b="1"/>
              <a:t>NB Selected (13 features from DT)</a:t>
            </a:r>
            <a:r>
              <a:rPr lang="en-US" sz="1445"/>
              <a:t> </a:t>
            </a:r>
            <a:r>
              <a:rPr lang="en-US" sz="1445" b="1"/>
              <a:t>achieved the highest accuracy overall (87.17%) and the lowest FPR (6.38%)</a:t>
            </a:r>
            <a:r>
              <a:rPr lang="en-US" sz="1445"/>
              <a:t>, making it the most precise model for avoiding wasted calls, though TPR drops to 37.50%.</a:t>
            </a:r>
            <a:endParaRPr sz="1445"/>
          </a:p>
          <a:p>
            <a:pPr marL="342900" lvl="0" indent="0" algn="l" rtl="0">
              <a:lnSpc>
                <a:spcPct val="105000"/>
              </a:lnSpc>
              <a:spcBef>
                <a:spcPts val="0"/>
              </a:spcBef>
              <a:spcAft>
                <a:spcPts val="0"/>
              </a:spcAft>
              <a:buSzPts val="935"/>
              <a:buNone/>
            </a:pPr>
            <a:endParaRPr sz="1445"/>
          </a:p>
          <a:p>
            <a:pPr marL="342900" lvl="0" indent="-320358" algn="l" rtl="0">
              <a:lnSpc>
                <a:spcPct val="105000"/>
              </a:lnSpc>
              <a:spcBef>
                <a:spcPts val="0"/>
              </a:spcBef>
              <a:spcAft>
                <a:spcPts val="0"/>
              </a:spcAft>
              <a:buSzPts val="1445"/>
              <a:buChar char="•"/>
            </a:pPr>
            <a:r>
              <a:rPr lang="en-US" sz="1445"/>
              <a:t>The </a:t>
            </a:r>
            <a:r>
              <a:rPr lang="en-US" sz="1445" b="1"/>
              <a:t>DT Selected (13 from DT)</a:t>
            </a:r>
            <a:r>
              <a:rPr lang="en-US" sz="1445"/>
              <a:t> </a:t>
            </a:r>
            <a:r>
              <a:rPr lang="en-US" sz="1445" b="1"/>
              <a:t>achieved the highest TPR of all six models (84.62%)</a:t>
            </a:r>
            <a:r>
              <a:rPr lang="en-US" sz="1445"/>
              <a:t> — the strongest subscriber detection — though this comes with the highest FPR (29.38%).</a:t>
            </a:r>
            <a:endParaRPr sz="144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3dff56829e4_0_7"/>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Conclusion: Which ML to use?</a:t>
            </a:r>
            <a:endParaRPr/>
          </a:p>
        </p:txBody>
      </p:sp>
      <p:sp>
        <p:nvSpPr>
          <p:cNvPr id="291" name="Google Shape;291;g3dff56829e4_0_7"/>
          <p:cNvSpPr txBox="1">
            <a:spLocks noGrp="1"/>
          </p:cNvSpPr>
          <p:nvPr>
            <p:ph type="body" idx="1"/>
          </p:nvPr>
        </p:nvSpPr>
        <p:spPr>
          <a:xfrm>
            <a:off x="228600" y="1526100"/>
            <a:ext cx="8686800" cy="4075500"/>
          </a:xfrm>
          <a:prstGeom prst="rect">
            <a:avLst/>
          </a:prstGeom>
        </p:spPr>
        <p:txBody>
          <a:bodyPr spcFirstLastPara="1" wrap="square" lIns="91425" tIns="45700" rIns="91425" bIns="45700" anchor="t" anchorCtr="0">
            <a:normAutofit fontScale="92500" lnSpcReduction="10000"/>
          </a:bodyPr>
          <a:lstStyle/>
          <a:p>
            <a:pPr marL="457200" lvl="0" indent="0" algn="l" rtl="0">
              <a:lnSpc>
                <a:spcPct val="115000"/>
              </a:lnSpc>
              <a:spcBef>
                <a:spcPts val="0"/>
              </a:spcBef>
              <a:spcAft>
                <a:spcPts val="0"/>
              </a:spcAft>
              <a:buNone/>
            </a:pPr>
            <a:r>
              <a:rPr lang="en-US" sz="1840"/>
              <a:t>The recommended operational model </a:t>
            </a:r>
            <a:r>
              <a:rPr lang="en-US" sz="1840" u="sng"/>
              <a:t>depends on the bank's </a:t>
            </a:r>
            <a:r>
              <a:rPr lang="en-US" sz="1840" b="1" u="sng"/>
              <a:t>campaign objective</a:t>
            </a:r>
            <a:r>
              <a:rPr lang="en-US" sz="1840"/>
              <a:t>:</a:t>
            </a:r>
            <a:endParaRPr sz="1840"/>
          </a:p>
          <a:p>
            <a:pPr marL="457200" lvl="0" indent="0" algn="l" rtl="0">
              <a:lnSpc>
                <a:spcPct val="115000"/>
              </a:lnSpc>
              <a:spcBef>
                <a:spcPts val="0"/>
              </a:spcBef>
              <a:spcAft>
                <a:spcPts val="0"/>
              </a:spcAft>
              <a:buClr>
                <a:schemeClr val="dk1"/>
              </a:buClr>
              <a:buSzPct val="59783"/>
              <a:buFont typeface="Arial"/>
              <a:buNone/>
            </a:pPr>
            <a:endParaRPr sz="1840"/>
          </a:p>
          <a:p>
            <a:pPr marL="457200" lvl="0" indent="0" algn="l" rtl="0">
              <a:lnSpc>
                <a:spcPct val="115000"/>
              </a:lnSpc>
              <a:spcBef>
                <a:spcPts val="0"/>
              </a:spcBef>
              <a:spcAft>
                <a:spcPts val="0"/>
              </a:spcAft>
              <a:buClr>
                <a:schemeClr val="dk1"/>
              </a:buClr>
              <a:buSzPct val="59783"/>
              <a:buFont typeface="Arial"/>
              <a:buNone/>
            </a:pPr>
            <a:r>
              <a:rPr lang="en-US" sz="1840" b="1"/>
              <a:t>For maximum subscriber detection (highest TPR):</a:t>
            </a:r>
            <a:endParaRPr sz="1840" b="1"/>
          </a:p>
          <a:p>
            <a:pPr marL="457200" lvl="0" indent="0" algn="l" rtl="0">
              <a:lnSpc>
                <a:spcPct val="115000"/>
              </a:lnSpc>
              <a:spcBef>
                <a:spcPts val="0"/>
              </a:spcBef>
              <a:spcAft>
                <a:spcPts val="0"/>
              </a:spcAft>
              <a:buNone/>
            </a:pPr>
            <a:r>
              <a:rPr lang="en-US" sz="1840"/>
              <a:t>Deploy DT Selected — TPR 84.62%, Accuracy 72.23%, FPR 29.38%</a:t>
            </a:r>
            <a:endParaRPr sz="1840"/>
          </a:p>
          <a:p>
            <a:pPr marL="457200" lvl="0" indent="0" algn="l" rtl="0">
              <a:lnSpc>
                <a:spcPct val="115000"/>
              </a:lnSpc>
              <a:spcBef>
                <a:spcPts val="0"/>
              </a:spcBef>
              <a:spcAft>
                <a:spcPts val="0"/>
              </a:spcAft>
              <a:buClr>
                <a:schemeClr val="dk1"/>
              </a:buClr>
              <a:buSzPct val="59783"/>
              <a:buFont typeface="Arial"/>
              <a:buNone/>
            </a:pPr>
            <a:r>
              <a:rPr lang="en-US" sz="1840"/>
              <a:t>Best when the cost of missing a subscriber is higher than the cost of a wasted call</a:t>
            </a:r>
            <a:endParaRPr sz="1840"/>
          </a:p>
          <a:p>
            <a:pPr marL="457200" lvl="0" indent="0" algn="l" rtl="0">
              <a:lnSpc>
                <a:spcPct val="115000"/>
              </a:lnSpc>
              <a:spcBef>
                <a:spcPts val="0"/>
              </a:spcBef>
              <a:spcAft>
                <a:spcPts val="0"/>
              </a:spcAft>
              <a:buNone/>
            </a:pPr>
            <a:endParaRPr sz="1840"/>
          </a:p>
          <a:p>
            <a:pPr marL="457200" lvl="0" indent="0" algn="l" rtl="0">
              <a:lnSpc>
                <a:spcPct val="115000"/>
              </a:lnSpc>
              <a:spcBef>
                <a:spcPts val="0"/>
              </a:spcBef>
              <a:spcAft>
                <a:spcPts val="0"/>
              </a:spcAft>
              <a:buClr>
                <a:schemeClr val="dk1"/>
              </a:buClr>
              <a:buSzPct val="59783"/>
              <a:buFont typeface="Arial"/>
              <a:buNone/>
            </a:pPr>
            <a:r>
              <a:rPr lang="en-US" sz="1840" b="1"/>
              <a:t>For minimum wasted calls (lowest FPR):</a:t>
            </a:r>
            <a:endParaRPr sz="1840" b="1"/>
          </a:p>
          <a:p>
            <a:pPr marL="457200" lvl="0" indent="0" algn="l" rtl="0">
              <a:lnSpc>
                <a:spcPct val="115000"/>
              </a:lnSpc>
              <a:spcBef>
                <a:spcPts val="0"/>
              </a:spcBef>
              <a:spcAft>
                <a:spcPts val="0"/>
              </a:spcAft>
              <a:buNone/>
            </a:pPr>
            <a:r>
              <a:rPr lang="en-US" sz="1840"/>
              <a:t>Deploy NB Selected — FPR 6.38%, Accuracy 87.17%, TPR 37.50%</a:t>
            </a:r>
            <a:endParaRPr sz="1840"/>
          </a:p>
          <a:p>
            <a:pPr marL="457200" lvl="0" indent="0" algn="l" rtl="0">
              <a:lnSpc>
                <a:spcPct val="115000"/>
              </a:lnSpc>
              <a:spcBef>
                <a:spcPts val="0"/>
              </a:spcBef>
              <a:spcAft>
                <a:spcPts val="0"/>
              </a:spcAft>
              <a:buClr>
                <a:schemeClr val="dk1"/>
              </a:buClr>
              <a:buSzPct val="59783"/>
              <a:buFont typeface="Arial"/>
              <a:buNone/>
            </a:pPr>
            <a:r>
              <a:rPr lang="en-US" sz="1840"/>
              <a:t>Best when agent time is the primary operational cost</a:t>
            </a:r>
            <a:endParaRPr sz="1840"/>
          </a:p>
          <a:p>
            <a:pPr marL="457200" lvl="0" indent="0" algn="l" rtl="0">
              <a:lnSpc>
                <a:spcPct val="115000"/>
              </a:lnSpc>
              <a:spcBef>
                <a:spcPts val="0"/>
              </a:spcBef>
              <a:spcAft>
                <a:spcPts val="0"/>
              </a:spcAft>
              <a:buNone/>
            </a:pPr>
            <a:endParaRPr sz="1840"/>
          </a:p>
          <a:p>
            <a:pPr marL="457200" lvl="0" indent="0" algn="l" rtl="0">
              <a:lnSpc>
                <a:spcPct val="115000"/>
              </a:lnSpc>
              <a:spcBef>
                <a:spcPts val="0"/>
              </a:spcBef>
              <a:spcAft>
                <a:spcPts val="0"/>
              </a:spcAft>
              <a:buClr>
                <a:schemeClr val="dk1"/>
              </a:buClr>
              <a:buSzPct val="59783"/>
              <a:buFont typeface="Arial"/>
              <a:buNone/>
            </a:pPr>
            <a:r>
              <a:rPr lang="en-US" sz="1840" b="1"/>
              <a:t>For best overall balance (highest F1-Score):</a:t>
            </a:r>
            <a:endParaRPr sz="1840" b="1"/>
          </a:p>
          <a:p>
            <a:pPr marL="457200" lvl="0" indent="0" algn="l" rtl="0">
              <a:lnSpc>
                <a:spcPct val="115000"/>
              </a:lnSpc>
              <a:spcBef>
                <a:spcPts val="0"/>
              </a:spcBef>
              <a:spcAft>
                <a:spcPts val="0"/>
              </a:spcAft>
              <a:buClr>
                <a:schemeClr val="dk1"/>
              </a:buClr>
              <a:buSzPct val="59783"/>
              <a:buFont typeface="Arial"/>
              <a:buNone/>
            </a:pPr>
            <a:r>
              <a:rPr lang="en-US" sz="1840"/>
              <a:t>Deploy DT Optimized (Consensus) — F1 0.4518, TPR 78.85%, FPR 22.13%, Accuracy 77.99%</a:t>
            </a:r>
            <a:endParaRPr sz="1840"/>
          </a:p>
          <a:p>
            <a:pPr marL="457200" lvl="0" indent="0" algn="l" rtl="0">
              <a:lnSpc>
                <a:spcPct val="115000"/>
              </a:lnSpc>
              <a:spcBef>
                <a:spcPts val="0"/>
              </a:spcBef>
              <a:spcAft>
                <a:spcPts val="0"/>
              </a:spcAft>
              <a:buNone/>
            </a:pPr>
            <a:r>
              <a:rPr lang="en-US" sz="1840"/>
              <a:t>Recommended as the primary model — it improves on the baseline across all three rubric metrics simultaneously</a:t>
            </a:r>
            <a:endParaRPr sz="184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3d58b86ffb3_0_1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Recommendations</a:t>
            </a:r>
            <a:endParaRPr/>
          </a:p>
        </p:txBody>
      </p:sp>
      <p:sp>
        <p:nvSpPr>
          <p:cNvPr id="298" name="Google Shape;298;g3d58b86ffb3_0_110"/>
          <p:cNvSpPr txBox="1">
            <a:spLocks noGrp="1"/>
          </p:cNvSpPr>
          <p:nvPr>
            <p:ph type="body" idx="1"/>
          </p:nvPr>
        </p:nvSpPr>
        <p:spPr>
          <a:xfrm>
            <a:off x="878100" y="1600200"/>
            <a:ext cx="7387800" cy="3622800"/>
          </a:xfrm>
          <a:prstGeom prst="rect">
            <a:avLst/>
          </a:prstGeom>
          <a:noFill/>
          <a:ln>
            <a:noFill/>
          </a:ln>
        </p:spPr>
        <p:txBody>
          <a:bodyPr spcFirstLastPara="1" wrap="square" lIns="91425" tIns="45700" rIns="91425" bIns="45700" anchor="t" anchorCtr="0">
            <a:normAutofit/>
          </a:bodyPr>
          <a:lstStyle/>
          <a:p>
            <a:pPr marL="342900" lvl="0" indent="-355600" algn="l" rtl="0">
              <a:lnSpc>
                <a:spcPct val="150000"/>
              </a:lnSpc>
              <a:spcBef>
                <a:spcPts val="0"/>
              </a:spcBef>
              <a:spcAft>
                <a:spcPts val="0"/>
              </a:spcAft>
              <a:buSzPts val="2000"/>
              <a:buChar char="•"/>
            </a:pPr>
            <a:r>
              <a:rPr lang="en-US" sz="2000" b="1"/>
              <a:t>Prioritise call duration as the primary campaign signal.</a:t>
            </a:r>
            <a:r>
              <a:rPr lang="en-US" sz="2000"/>
              <a:t> </a:t>
            </a:r>
            <a:endParaRPr sz="2000"/>
          </a:p>
          <a:p>
            <a:pPr marL="742950" lvl="1" indent="-298450" algn="l" rtl="0">
              <a:lnSpc>
                <a:spcPct val="150000"/>
              </a:lnSpc>
              <a:spcBef>
                <a:spcPts val="0"/>
              </a:spcBef>
              <a:spcAft>
                <a:spcPts val="0"/>
              </a:spcAft>
              <a:buSzPts val="2000"/>
              <a:buChar char="–"/>
            </a:pPr>
            <a:r>
              <a:rPr lang="en-US" sz="2000"/>
              <a:t>Aim to engage customers longer during calls</a:t>
            </a:r>
            <a:endParaRPr sz="2000"/>
          </a:p>
          <a:p>
            <a:pPr marL="742950" lvl="1" indent="-298450" algn="l" rtl="0">
              <a:lnSpc>
                <a:spcPct val="150000"/>
              </a:lnSpc>
              <a:spcBef>
                <a:spcPts val="0"/>
              </a:spcBef>
              <a:spcAft>
                <a:spcPts val="0"/>
              </a:spcAft>
              <a:buSzPts val="2000"/>
              <a:buChar char="–"/>
            </a:pPr>
            <a:r>
              <a:rPr lang="en-US" sz="2000"/>
              <a:t>Calls that reach up to 645 seconds (apprx. 10 mins) are more likely to be successful</a:t>
            </a:r>
            <a:endParaRPr sz="2000"/>
          </a:p>
          <a:p>
            <a:pPr marL="342900" lvl="0" indent="-355600" algn="l" rtl="0">
              <a:lnSpc>
                <a:spcPct val="150000"/>
              </a:lnSpc>
              <a:spcBef>
                <a:spcPts val="0"/>
              </a:spcBef>
              <a:spcAft>
                <a:spcPts val="0"/>
              </a:spcAft>
              <a:buSzPts val="2000"/>
              <a:buChar char="•"/>
            </a:pPr>
            <a:r>
              <a:rPr lang="en-US" sz="2000" b="1"/>
              <a:t>Target customers with a prior successful campaign outcome first. </a:t>
            </a:r>
            <a:endParaRPr sz="2000" b="1"/>
          </a:p>
          <a:p>
            <a:pPr marL="742950" lvl="1" indent="-298450" algn="l" rtl="0">
              <a:lnSpc>
                <a:spcPct val="150000"/>
              </a:lnSpc>
              <a:spcBef>
                <a:spcPts val="0"/>
              </a:spcBef>
              <a:spcAft>
                <a:spcPts val="0"/>
              </a:spcAft>
              <a:buSzPts val="2000"/>
              <a:buChar char="–"/>
            </a:pPr>
            <a:r>
              <a:rPr lang="en-US" sz="2000"/>
              <a:t>Customers with </a:t>
            </a:r>
            <a:r>
              <a:rPr lang="en-US" sz="2000" b="1"/>
              <a:t>poutcome = success</a:t>
            </a:r>
            <a:r>
              <a:rPr lang="en-US" sz="2000"/>
              <a:t> converted at 64.3%</a:t>
            </a:r>
            <a:endParaRPr sz="2000"/>
          </a:p>
          <a:p>
            <a:pPr marL="342900" lvl="0" indent="-355600" algn="l" rtl="0">
              <a:lnSpc>
                <a:spcPct val="150000"/>
              </a:lnSpc>
              <a:spcBef>
                <a:spcPts val="0"/>
              </a:spcBef>
              <a:spcAft>
                <a:spcPts val="0"/>
              </a:spcAft>
              <a:buSzPts val="2000"/>
              <a:buChar char="•"/>
            </a:pPr>
            <a:r>
              <a:rPr lang="en-US" sz="2000" b="1"/>
              <a:t>Address class imbalance in future modelling cycles.</a:t>
            </a:r>
            <a:endParaRPr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3d76b511108_1_50"/>
          <p:cNvSpPr txBox="1">
            <a:spLocks noGrp="1"/>
          </p:cNvSpPr>
          <p:nvPr>
            <p:ph type="title"/>
          </p:nvPr>
        </p:nvSpPr>
        <p:spPr>
          <a:xfrm>
            <a:off x="457200" y="156113"/>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560"/>
              <a:t>Bonus 2: K-Means Customer Segmentation</a:t>
            </a:r>
            <a:endParaRPr sz="3560"/>
          </a:p>
        </p:txBody>
      </p:sp>
      <p:sp>
        <p:nvSpPr>
          <p:cNvPr id="305" name="Google Shape;305;g3d76b511108_1_50"/>
          <p:cNvSpPr txBox="1">
            <a:spLocks noGrp="1"/>
          </p:cNvSpPr>
          <p:nvPr>
            <p:ph type="body" idx="1"/>
          </p:nvPr>
        </p:nvSpPr>
        <p:spPr>
          <a:xfrm>
            <a:off x="527850" y="1086125"/>
            <a:ext cx="8088300" cy="615000"/>
          </a:xfrm>
          <a:prstGeom prst="rect">
            <a:avLst/>
          </a:prstGeom>
          <a:noFill/>
          <a:ln>
            <a:noFill/>
          </a:ln>
        </p:spPr>
        <p:txBody>
          <a:bodyPr spcFirstLastPara="1" wrap="square" lIns="91425" tIns="45700" rIns="91425" bIns="45700" anchor="t" anchorCtr="0">
            <a:normAutofit/>
          </a:bodyPr>
          <a:lstStyle/>
          <a:p>
            <a:pPr marL="0" lvl="0" indent="0" algn="ctr" rtl="0">
              <a:lnSpc>
                <a:spcPct val="115000"/>
              </a:lnSpc>
              <a:spcBef>
                <a:spcPts val="0"/>
              </a:spcBef>
              <a:spcAft>
                <a:spcPts val="0"/>
              </a:spcAft>
              <a:buNone/>
            </a:pPr>
            <a:r>
              <a:rPr lang="en-US" sz="1500" b="1">
                <a:highlight>
                  <a:schemeClr val="lt1"/>
                </a:highlight>
              </a:rPr>
              <a:t>K-Means Clustering (k=4) applied to 9 demographic and behavioural features.</a:t>
            </a:r>
            <a:endParaRPr sz="1500" b="1">
              <a:highlight>
                <a:schemeClr val="lt1"/>
              </a:highlight>
            </a:endParaRPr>
          </a:p>
          <a:p>
            <a:pPr marL="0" lvl="0" indent="0" algn="ctr" rtl="0">
              <a:lnSpc>
                <a:spcPct val="115000"/>
              </a:lnSpc>
              <a:spcBef>
                <a:spcPts val="0"/>
              </a:spcBef>
              <a:spcAft>
                <a:spcPts val="0"/>
              </a:spcAft>
              <a:buNone/>
            </a:pPr>
            <a:r>
              <a:rPr lang="en-US" sz="1500">
                <a:highlight>
                  <a:schemeClr val="lt1"/>
                </a:highlight>
              </a:rPr>
              <a:t>Identified four distinct customer personas with significantly different subscription rates.</a:t>
            </a:r>
            <a:endParaRPr sz="1500">
              <a:highlight>
                <a:schemeClr val="lt1"/>
              </a:highlight>
            </a:endParaRPr>
          </a:p>
        </p:txBody>
      </p:sp>
      <p:pic>
        <p:nvPicPr>
          <p:cNvPr id="306" name="Google Shape;306;g3d76b511108_1_50"/>
          <p:cNvPicPr preferRelativeResize="0"/>
          <p:nvPr/>
        </p:nvPicPr>
        <p:blipFill>
          <a:blip r:embed="rId3">
            <a:alphaModFix/>
          </a:blip>
          <a:stretch>
            <a:fillRect/>
          </a:stretch>
        </p:blipFill>
        <p:spPr>
          <a:xfrm>
            <a:off x="3753150" y="3853775"/>
            <a:ext cx="4692001" cy="2862759"/>
          </a:xfrm>
          <a:prstGeom prst="rect">
            <a:avLst/>
          </a:prstGeom>
          <a:noFill/>
          <a:ln>
            <a:noFill/>
          </a:ln>
        </p:spPr>
      </p:pic>
      <p:graphicFrame>
        <p:nvGraphicFramePr>
          <p:cNvPr id="307" name="Google Shape;307;g3d76b511108_1_50"/>
          <p:cNvGraphicFramePr/>
          <p:nvPr/>
        </p:nvGraphicFramePr>
        <p:xfrm>
          <a:off x="3451650" y="1771625"/>
          <a:ext cx="5295000" cy="2224950"/>
        </p:xfrm>
        <a:graphic>
          <a:graphicData uri="http://schemas.openxmlformats.org/drawingml/2006/table">
            <a:tbl>
              <a:tblPr>
                <a:noFill/>
                <a:tableStyleId>{05BF2E66-15E4-4BB5-9E5F-FB022751894C}</a:tableStyleId>
              </a:tblPr>
              <a:tblGrid>
                <a:gridCol w="667075">
                  <a:extLst>
                    <a:ext uri="{9D8B030D-6E8A-4147-A177-3AD203B41FA5}">
                      <a16:colId xmlns:a16="http://schemas.microsoft.com/office/drawing/2014/main" val="20000"/>
                    </a:ext>
                  </a:extLst>
                </a:gridCol>
                <a:gridCol w="1394925">
                  <a:extLst>
                    <a:ext uri="{9D8B030D-6E8A-4147-A177-3AD203B41FA5}">
                      <a16:colId xmlns:a16="http://schemas.microsoft.com/office/drawing/2014/main" val="20001"/>
                    </a:ext>
                  </a:extLst>
                </a:gridCol>
                <a:gridCol w="869000">
                  <a:extLst>
                    <a:ext uri="{9D8B030D-6E8A-4147-A177-3AD203B41FA5}">
                      <a16:colId xmlns:a16="http://schemas.microsoft.com/office/drawing/2014/main" val="20002"/>
                    </a:ext>
                  </a:extLst>
                </a:gridCol>
                <a:gridCol w="680000">
                  <a:extLst>
                    <a:ext uri="{9D8B030D-6E8A-4147-A177-3AD203B41FA5}">
                      <a16:colId xmlns:a16="http://schemas.microsoft.com/office/drawing/2014/main" val="20003"/>
                    </a:ext>
                  </a:extLst>
                </a:gridCol>
                <a:gridCol w="950000">
                  <a:extLst>
                    <a:ext uri="{9D8B030D-6E8A-4147-A177-3AD203B41FA5}">
                      <a16:colId xmlns:a16="http://schemas.microsoft.com/office/drawing/2014/main" val="20004"/>
                    </a:ext>
                  </a:extLst>
                </a:gridCol>
                <a:gridCol w="734000">
                  <a:extLst>
                    <a:ext uri="{9D8B030D-6E8A-4147-A177-3AD203B41FA5}">
                      <a16:colId xmlns:a16="http://schemas.microsoft.com/office/drawing/2014/main" val="20005"/>
                    </a:ext>
                  </a:extLst>
                </a:gridCol>
              </a:tblGrid>
              <a:tr h="381000">
                <a:tc>
                  <a:txBody>
                    <a:bodyPr/>
                    <a:lstStyle/>
                    <a:p>
                      <a:pPr marL="0" lvl="0" indent="0" algn="l" rtl="0">
                        <a:spcBef>
                          <a:spcPts val="0"/>
                        </a:spcBef>
                        <a:spcAft>
                          <a:spcPts val="0"/>
                        </a:spcAft>
                        <a:buNone/>
                      </a:pPr>
                      <a:r>
                        <a:rPr lang="en-US" sz="1000" b="1"/>
                        <a:t>Cluster</a:t>
                      </a:r>
                      <a:endParaRPr sz="1000" b="1"/>
                    </a:p>
                  </a:txBody>
                  <a:tcPr marL="91425" marR="91425" marT="91425" marB="91425">
                    <a:solidFill>
                      <a:schemeClr val="lt2"/>
                    </a:solidFill>
                  </a:tcPr>
                </a:tc>
                <a:tc>
                  <a:txBody>
                    <a:bodyPr/>
                    <a:lstStyle/>
                    <a:p>
                      <a:pPr marL="0" lvl="0" indent="0" algn="l" rtl="0">
                        <a:spcBef>
                          <a:spcPts val="0"/>
                        </a:spcBef>
                        <a:spcAft>
                          <a:spcPts val="0"/>
                        </a:spcAft>
                        <a:buNone/>
                      </a:pPr>
                      <a:r>
                        <a:rPr lang="en-US" sz="1000" b="1"/>
                        <a:t>Strategy</a:t>
                      </a:r>
                      <a:endParaRPr sz="1000" b="1"/>
                    </a:p>
                  </a:txBody>
                  <a:tcPr marL="91425" marR="91425" marT="91425" marB="91425">
                    <a:solidFill>
                      <a:schemeClr val="lt2"/>
                    </a:solidFill>
                  </a:tcPr>
                </a:tc>
                <a:tc>
                  <a:txBody>
                    <a:bodyPr/>
                    <a:lstStyle/>
                    <a:p>
                      <a:pPr marL="0" lvl="0" indent="0" algn="l" rtl="0">
                        <a:spcBef>
                          <a:spcPts val="0"/>
                        </a:spcBef>
                        <a:spcAft>
                          <a:spcPts val="0"/>
                        </a:spcAft>
                        <a:buNone/>
                      </a:pPr>
                      <a:r>
                        <a:rPr lang="en-US" sz="1000" b="1"/>
                        <a:t>Avg. Age</a:t>
                      </a:r>
                      <a:endParaRPr sz="1000" b="1"/>
                    </a:p>
                  </a:txBody>
                  <a:tcPr marL="91425" marR="91425" marT="91425" marB="91425">
                    <a:solidFill>
                      <a:schemeClr val="lt2"/>
                    </a:solidFill>
                  </a:tcPr>
                </a:tc>
                <a:tc>
                  <a:txBody>
                    <a:bodyPr/>
                    <a:lstStyle/>
                    <a:p>
                      <a:pPr marL="0" lvl="0" indent="0" algn="l" rtl="0">
                        <a:spcBef>
                          <a:spcPts val="0"/>
                        </a:spcBef>
                        <a:spcAft>
                          <a:spcPts val="0"/>
                        </a:spcAft>
                        <a:buNone/>
                      </a:pPr>
                      <a:r>
                        <a:rPr lang="en-US" sz="1000" b="1"/>
                        <a:t>Median Balance</a:t>
                      </a:r>
                      <a:endParaRPr sz="1000" b="1"/>
                    </a:p>
                  </a:txBody>
                  <a:tcPr marL="91425" marR="91425" marT="91425" marB="91425">
                    <a:solidFill>
                      <a:schemeClr val="lt2"/>
                    </a:solidFill>
                  </a:tcPr>
                </a:tc>
                <a:tc>
                  <a:txBody>
                    <a:bodyPr/>
                    <a:lstStyle/>
                    <a:p>
                      <a:pPr marL="0" lvl="0" indent="0" algn="l" rtl="0">
                        <a:spcBef>
                          <a:spcPts val="0"/>
                        </a:spcBef>
                        <a:spcAft>
                          <a:spcPts val="0"/>
                        </a:spcAft>
                        <a:buNone/>
                      </a:pPr>
                      <a:r>
                        <a:rPr lang="en-US" sz="1000" b="1"/>
                        <a:t>Top Job</a:t>
                      </a:r>
                      <a:endParaRPr sz="1000" b="1"/>
                    </a:p>
                  </a:txBody>
                  <a:tcPr marL="91425" marR="91425" marT="91425" marB="91425">
                    <a:solidFill>
                      <a:schemeClr val="lt2"/>
                    </a:solidFill>
                  </a:tcPr>
                </a:tc>
                <a:tc>
                  <a:txBody>
                    <a:bodyPr/>
                    <a:lstStyle/>
                    <a:p>
                      <a:pPr marL="0" lvl="0" indent="0" algn="l" rtl="0">
                        <a:spcBef>
                          <a:spcPts val="0"/>
                        </a:spcBef>
                        <a:spcAft>
                          <a:spcPts val="0"/>
                        </a:spcAft>
                        <a:buNone/>
                      </a:pPr>
                      <a:r>
                        <a:rPr lang="en-US" sz="1000" b="1"/>
                        <a:t>Success Rate</a:t>
                      </a:r>
                      <a:endParaRPr sz="1000"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000"/>
                        <a:t>0</a:t>
                      </a:r>
                      <a:endParaRPr sz="1000"/>
                    </a:p>
                  </a:txBody>
                  <a:tcPr marL="91425" marR="91425" marT="91425" marB="91425"/>
                </a:tc>
                <a:tc>
                  <a:txBody>
                    <a:bodyPr/>
                    <a:lstStyle/>
                    <a:p>
                      <a:pPr marL="0" lvl="0" indent="0" algn="l" rtl="0">
                        <a:spcBef>
                          <a:spcPts val="0"/>
                        </a:spcBef>
                        <a:spcAft>
                          <a:spcPts val="0"/>
                        </a:spcAft>
                        <a:buNone/>
                      </a:pPr>
                      <a:r>
                        <a:rPr lang="en-US" sz="1000"/>
                        <a:t>✅ Secondary Target</a:t>
                      </a:r>
                      <a:endParaRPr sz="1000"/>
                    </a:p>
                  </a:txBody>
                  <a:tcPr marL="91425" marR="91425" marT="91425" marB="91425"/>
                </a:tc>
                <a:tc>
                  <a:txBody>
                    <a:bodyPr/>
                    <a:lstStyle/>
                    <a:p>
                      <a:pPr marL="0" lvl="0" indent="0" algn="l" rtl="0">
                        <a:spcBef>
                          <a:spcPts val="0"/>
                        </a:spcBef>
                        <a:spcAft>
                          <a:spcPts val="0"/>
                        </a:spcAft>
                        <a:buNone/>
                      </a:pPr>
                      <a:r>
                        <a:rPr lang="en-US" sz="1000"/>
                        <a:t>35 (30-45)</a:t>
                      </a:r>
                      <a:endParaRPr sz="1000"/>
                    </a:p>
                  </a:txBody>
                  <a:tcPr marL="91425" marR="91425" marT="91425" marB="91425"/>
                </a:tc>
                <a:tc>
                  <a:txBody>
                    <a:bodyPr/>
                    <a:lstStyle/>
                    <a:p>
                      <a:pPr marL="0" lvl="0" indent="0" algn="l" rtl="0">
                        <a:spcBef>
                          <a:spcPts val="0"/>
                        </a:spcBef>
                        <a:spcAft>
                          <a:spcPts val="0"/>
                        </a:spcAft>
                        <a:buNone/>
                      </a:pPr>
                      <a:r>
                        <a:rPr lang="en-US" sz="1000"/>
                        <a:t>$340</a:t>
                      </a:r>
                      <a:endParaRPr sz="1000"/>
                    </a:p>
                  </a:txBody>
                  <a:tcPr marL="91425" marR="91425" marT="91425" marB="91425"/>
                </a:tc>
                <a:tc>
                  <a:txBody>
                    <a:bodyPr/>
                    <a:lstStyle/>
                    <a:p>
                      <a:pPr marL="0" lvl="0" indent="0" algn="l" rtl="0">
                        <a:spcBef>
                          <a:spcPts val="0"/>
                        </a:spcBef>
                        <a:spcAft>
                          <a:spcPts val="0"/>
                        </a:spcAft>
                        <a:buNone/>
                      </a:pPr>
                      <a:r>
                        <a:rPr lang="en-US" sz="1000"/>
                        <a:t>Blue-Collar</a:t>
                      </a:r>
                      <a:endParaRPr sz="1000"/>
                    </a:p>
                  </a:txBody>
                  <a:tcPr marL="91425" marR="91425" marT="91425" marB="91425"/>
                </a:tc>
                <a:tc>
                  <a:txBody>
                    <a:bodyPr/>
                    <a:lstStyle/>
                    <a:p>
                      <a:pPr marL="0" lvl="0" indent="0" algn="l" rtl="0">
                        <a:spcBef>
                          <a:spcPts val="0"/>
                        </a:spcBef>
                        <a:spcAft>
                          <a:spcPts val="0"/>
                        </a:spcAft>
                        <a:buNone/>
                      </a:pPr>
                      <a:r>
                        <a:rPr lang="en-US" sz="1000"/>
                        <a:t>10.1%</a:t>
                      </a: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000"/>
                        <a:t>1</a:t>
                      </a:r>
                      <a:endParaRPr sz="1000"/>
                    </a:p>
                  </a:txBody>
                  <a:tcPr marL="91425" marR="91425" marT="91425" marB="91425"/>
                </a:tc>
                <a:tc>
                  <a:txBody>
                    <a:bodyPr/>
                    <a:lstStyle/>
                    <a:p>
                      <a:pPr marL="0" lvl="0" indent="0" algn="l" rtl="0">
                        <a:spcBef>
                          <a:spcPts val="0"/>
                        </a:spcBef>
                        <a:spcAft>
                          <a:spcPts val="0"/>
                        </a:spcAft>
                        <a:buNone/>
                      </a:pPr>
                      <a:r>
                        <a:rPr lang="en-US" sz="1000"/>
                        <a:t>✅ Secondary Target</a:t>
                      </a:r>
                      <a:endParaRPr sz="1000"/>
                    </a:p>
                  </a:txBody>
                  <a:tcPr marL="91425" marR="91425" marT="91425" marB="91425"/>
                </a:tc>
                <a:tc>
                  <a:txBody>
                    <a:bodyPr/>
                    <a:lstStyle/>
                    <a:p>
                      <a:pPr marL="0" lvl="0" indent="0" algn="l" rtl="0">
                        <a:spcBef>
                          <a:spcPts val="0"/>
                        </a:spcBef>
                        <a:spcAft>
                          <a:spcPts val="0"/>
                        </a:spcAft>
                        <a:buNone/>
                      </a:pPr>
                      <a:r>
                        <a:rPr lang="en-US" sz="1000"/>
                        <a:t>50 (46-60)</a:t>
                      </a:r>
                      <a:endParaRPr sz="1000"/>
                    </a:p>
                  </a:txBody>
                  <a:tcPr marL="91425" marR="91425" marT="91425" marB="91425"/>
                </a:tc>
                <a:tc>
                  <a:txBody>
                    <a:bodyPr/>
                    <a:lstStyle/>
                    <a:p>
                      <a:pPr marL="0" lvl="0" indent="0" algn="l" rtl="0">
                        <a:spcBef>
                          <a:spcPts val="0"/>
                        </a:spcBef>
                        <a:spcAft>
                          <a:spcPts val="0"/>
                        </a:spcAft>
                        <a:buNone/>
                      </a:pPr>
                      <a:r>
                        <a:rPr lang="en-US" sz="1000"/>
                        <a:t>$693</a:t>
                      </a:r>
                      <a:endParaRPr sz="1000"/>
                    </a:p>
                  </a:txBody>
                  <a:tcPr marL="91425" marR="91425" marT="91425" marB="91425"/>
                </a:tc>
                <a:tc>
                  <a:txBody>
                    <a:bodyPr/>
                    <a:lstStyle/>
                    <a:p>
                      <a:pPr marL="0" lvl="0" indent="0" algn="l" rtl="0">
                        <a:spcBef>
                          <a:spcPts val="0"/>
                        </a:spcBef>
                        <a:spcAft>
                          <a:spcPts val="0"/>
                        </a:spcAft>
                        <a:buNone/>
                      </a:pPr>
                      <a:r>
                        <a:rPr lang="en-US" sz="1000"/>
                        <a:t>Management</a:t>
                      </a:r>
                      <a:endParaRPr sz="1000"/>
                    </a:p>
                  </a:txBody>
                  <a:tcPr marL="91425" marR="91425" marT="91425" marB="91425"/>
                </a:tc>
                <a:tc>
                  <a:txBody>
                    <a:bodyPr/>
                    <a:lstStyle/>
                    <a:p>
                      <a:pPr marL="0" lvl="0" indent="0" algn="l" rtl="0">
                        <a:spcBef>
                          <a:spcPts val="0"/>
                        </a:spcBef>
                        <a:spcAft>
                          <a:spcPts val="0"/>
                        </a:spcAft>
                        <a:buNone/>
                      </a:pPr>
                      <a:r>
                        <a:rPr lang="en-US" sz="1000"/>
                        <a:t>11.8%</a:t>
                      </a: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000"/>
                        <a:t>2</a:t>
                      </a:r>
                      <a:endParaRPr sz="1000"/>
                    </a:p>
                  </a:txBody>
                  <a:tcPr marL="91425" marR="91425" marT="91425" marB="91425"/>
                </a:tc>
                <a:tc>
                  <a:txBody>
                    <a:bodyPr/>
                    <a:lstStyle/>
                    <a:p>
                      <a:pPr marL="0" lvl="0" indent="0" algn="l" rtl="0">
                        <a:spcBef>
                          <a:spcPts val="0"/>
                        </a:spcBef>
                        <a:spcAft>
                          <a:spcPts val="0"/>
                        </a:spcAft>
                        <a:buNone/>
                      </a:pPr>
                      <a:r>
                        <a:rPr lang="en-US" sz="1000"/>
                        <a:t>⭐ Primary Target</a:t>
                      </a:r>
                      <a:endParaRPr sz="1000"/>
                    </a:p>
                  </a:txBody>
                  <a:tcPr marL="91425" marR="91425" marT="91425" marB="91425"/>
                </a:tc>
                <a:tc>
                  <a:txBody>
                    <a:bodyPr/>
                    <a:lstStyle/>
                    <a:p>
                      <a:pPr marL="0" lvl="0" indent="0" algn="l" rtl="0">
                        <a:spcBef>
                          <a:spcPts val="0"/>
                        </a:spcBef>
                        <a:spcAft>
                          <a:spcPts val="0"/>
                        </a:spcAft>
                        <a:buNone/>
                      </a:pPr>
                      <a:r>
                        <a:rPr lang="en-US" sz="1000"/>
                        <a:t>38 (30-45)</a:t>
                      </a:r>
                      <a:endParaRPr sz="1000"/>
                    </a:p>
                  </a:txBody>
                  <a:tcPr marL="91425" marR="91425" marT="91425" marB="91425"/>
                </a:tc>
                <a:tc>
                  <a:txBody>
                    <a:bodyPr/>
                    <a:lstStyle/>
                    <a:p>
                      <a:pPr marL="0" lvl="0" indent="0" algn="l" rtl="0">
                        <a:spcBef>
                          <a:spcPts val="0"/>
                        </a:spcBef>
                        <a:spcAft>
                          <a:spcPts val="0"/>
                        </a:spcAft>
                        <a:buNone/>
                      </a:pPr>
                      <a:r>
                        <a:rPr lang="en-US" sz="1000"/>
                        <a:t>$510</a:t>
                      </a:r>
                      <a:endParaRPr sz="1000"/>
                    </a:p>
                  </a:txBody>
                  <a:tcPr marL="91425" marR="91425" marT="91425" marB="91425"/>
                </a:tc>
                <a:tc>
                  <a:txBody>
                    <a:bodyPr/>
                    <a:lstStyle/>
                    <a:p>
                      <a:pPr marL="0" lvl="0" indent="0" algn="l" rtl="0">
                        <a:spcBef>
                          <a:spcPts val="0"/>
                        </a:spcBef>
                        <a:spcAft>
                          <a:spcPts val="0"/>
                        </a:spcAft>
                        <a:buNone/>
                      </a:pPr>
                      <a:r>
                        <a:rPr lang="en-US" sz="1000"/>
                        <a:t>Blue-Collar</a:t>
                      </a:r>
                      <a:endParaRPr sz="1000"/>
                    </a:p>
                  </a:txBody>
                  <a:tcPr marL="91425" marR="91425" marT="91425" marB="91425"/>
                </a:tc>
                <a:tc>
                  <a:txBody>
                    <a:bodyPr/>
                    <a:lstStyle/>
                    <a:p>
                      <a:pPr marL="0" lvl="0" indent="0" algn="l" rtl="0">
                        <a:spcBef>
                          <a:spcPts val="0"/>
                        </a:spcBef>
                        <a:spcAft>
                          <a:spcPts val="0"/>
                        </a:spcAft>
                        <a:buNone/>
                      </a:pPr>
                      <a:r>
                        <a:rPr lang="en-US" sz="1000"/>
                        <a:t>19.6%</a:t>
                      </a: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sz="1000"/>
                        <a:t>3</a:t>
                      </a:r>
                      <a:endParaRPr sz="1000"/>
                    </a:p>
                  </a:txBody>
                  <a:tcPr marL="91425" marR="91425" marT="91425" marB="91425"/>
                </a:tc>
                <a:tc>
                  <a:txBody>
                    <a:bodyPr/>
                    <a:lstStyle/>
                    <a:p>
                      <a:pPr marL="0" lvl="0" indent="0" algn="l" rtl="0">
                        <a:spcBef>
                          <a:spcPts val="0"/>
                        </a:spcBef>
                        <a:spcAft>
                          <a:spcPts val="0"/>
                        </a:spcAft>
                        <a:buNone/>
                      </a:pPr>
                      <a:r>
                        <a:rPr lang="en-US" sz="1000"/>
                        <a:t>❌ Cease Contact</a:t>
                      </a:r>
                      <a:endParaRPr sz="1000"/>
                    </a:p>
                  </a:txBody>
                  <a:tcPr marL="91425" marR="91425" marT="91425" marB="91425"/>
                </a:tc>
                <a:tc>
                  <a:txBody>
                    <a:bodyPr/>
                    <a:lstStyle/>
                    <a:p>
                      <a:pPr marL="0" lvl="0" indent="0" algn="l" rtl="0">
                        <a:spcBef>
                          <a:spcPts val="0"/>
                        </a:spcBef>
                        <a:spcAft>
                          <a:spcPts val="0"/>
                        </a:spcAft>
                        <a:buNone/>
                      </a:pPr>
                      <a:r>
                        <a:rPr lang="en-US" sz="1000"/>
                        <a:t>39 (30-45)</a:t>
                      </a:r>
                      <a:endParaRPr sz="1000"/>
                    </a:p>
                  </a:txBody>
                  <a:tcPr marL="91425" marR="91425" marT="91425" marB="91425"/>
                </a:tc>
                <a:tc>
                  <a:txBody>
                    <a:bodyPr/>
                    <a:lstStyle/>
                    <a:p>
                      <a:pPr marL="0" lvl="0" indent="0" algn="l" rtl="0">
                        <a:spcBef>
                          <a:spcPts val="0"/>
                        </a:spcBef>
                        <a:spcAft>
                          <a:spcPts val="0"/>
                        </a:spcAft>
                        <a:buNone/>
                      </a:pPr>
                      <a:r>
                        <a:rPr lang="en-US" sz="1000"/>
                        <a:t>$340</a:t>
                      </a:r>
                      <a:endParaRPr sz="1000"/>
                    </a:p>
                  </a:txBody>
                  <a:tcPr marL="91425" marR="91425" marT="91425" marB="91425"/>
                </a:tc>
                <a:tc>
                  <a:txBody>
                    <a:bodyPr/>
                    <a:lstStyle/>
                    <a:p>
                      <a:pPr marL="0" lvl="0" indent="0" algn="l" rtl="0">
                        <a:spcBef>
                          <a:spcPts val="0"/>
                        </a:spcBef>
                        <a:spcAft>
                          <a:spcPts val="0"/>
                        </a:spcAft>
                        <a:buNone/>
                      </a:pPr>
                      <a:r>
                        <a:rPr lang="en-US" sz="1000"/>
                        <a:t>Management</a:t>
                      </a:r>
                      <a:endParaRPr sz="1000"/>
                    </a:p>
                  </a:txBody>
                  <a:tcPr marL="91425" marR="91425" marT="91425" marB="91425"/>
                </a:tc>
                <a:tc>
                  <a:txBody>
                    <a:bodyPr/>
                    <a:lstStyle/>
                    <a:p>
                      <a:pPr marL="0" lvl="0" indent="0" algn="l" rtl="0">
                        <a:spcBef>
                          <a:spcPts val="0"/>
                        </a:spcBef>
                        <a:spcAft>
                          <a:spcPts val="0"/>
                        </a:spcAft>
                        <a:buNone/>
                      </a:pPr>
                      <a:r>
                        <a:rPr lang="en-US" sz="1000"/>
                        <a:t>3.0%</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308" name="Google Shape;308;g3d76b511108_1_50"/>
          <p:cNvSpPr txBox="1">
            <a:spLocks noGrp="1"/>
          </p:cNvSpPr>
          <p:nvPr>
            <p:ph type="body" idx="1"/>
          </p:nvPr>
        </p:nvSpPr>
        <p:spPr>
          <a:xfrm>
            <a:off x="527850" y="1771625"/>
            <a:ext cx="2793300" cy="26835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1500" b="1">
                <a:highlight>
                  <a:schemeClr val="lt1"/>
                </a:highlight>
              </a:rPr>
              <a:t>Key differentiator for Cluster 2 (Primary Target):</a:t>
            </a:r>
            <a:r>
              <a:rPr lang="en-US" sz="1500">
                <a:highlight>
                  <a:schemeClr val="lt1"/>
                </a:highlight>
              </a:rPr>
              <a:t> last contacted 272 days ago — prior engagement history is the strongest behavioural signal</a:t>
            </a:r>
            <a:endParaRPr sz="1500">
              <a:highlight>
                <a:schemeClr val="lt1"/>
              </a:highlight>
            </a:endParaRPr>
          </a:p>
          <a:p>
            <a:pPr marL="0" lvl="0" indent="0" algn="l" rtl="0">
              <a:lnSpc>
                <a:spcPct val="115000"/>
              </a:lnSpc>
              <a:spcBef>
                <a:spcPts val="0"/>
              </a:spcBef>
              <a:spcAft>
                <a:spcPts val="0"/>
              </a:spcAft>
              <a:buNone/>
            </a:pPr>
            <a:endParaRPr sz="1500">
              <a:highlight>
                <a:schemeClr val="lt1"/>
              </a:highlight>
            </a:endParaRPr>
          </a:p>
          <a:p>
            <a:pPr marL="0" lvl="0" indent="0" algn="l" rtl="0">
              <a:lnSpc>
                <a:spcPct val="115000"/>
              </a:lnSpc>
              <a:spcBef>
                <a:spcPts val="0"/>
              </a:spcBef>
              <a:spcAft>
                <a:spcPts val="0"/>
              </a:spcAft>
              <a:buNone/>
            </a:pPr>
            <a:r>
              <a:rPr lang="en-US" sz="1500" b="1">
                <a:highlight>
                  <a:schemeClr val="lt1"/>
                </a:highlight>
              </a:rPr>
              <a:t>Key warning for Cluster 3: </a:t>
            </a:r>
            <a:r>
              <a:rPr lang="en-US" sz="1500">
                <a:highlight>
                  <a:schemeClr val="lt1"/>
                </a:highlight>
              </a:rPr>
              <a:t>12.8 average campaign contacts — highest fatigue of any segment</a:t>
            </a:r>
            <a:endParaRPr sz="1500">
              <a:highlight>
                <a:schemeClr val="lt1"/>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3d8bdde6e75_0_9"/>
          <p:cNvSpPr txBox="1">
            <a:spLocks noGrp="1"/>
          </p:cNvSpPr>
          <p:nvPr>
            <p:ph type="title"/>
          </p:nvPr>
        </p:nvSpPr>
        <p:spPr>
          <a:xfrm>
            <a:off x="457200" y="156113"/>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960"/>
              <a:buFont typeface="Calibri"/>
              <a:buNone/>
            </a:pPr>
            <a:r>
              <a:rPr lang="en-US" sz="3560"/>
              <a:t>Bonus 2: K-Means Customer Segmentation</a:t>
            </a:r>
            <a:endParaRPr sz="3560"/>
          </a:p>
        </p:txBody>
      </p:sp>
      <p:pic>
        <p:nvPicPr>
          <p:cNvPr id="315" name="Google Shape;315;g3d8bdde6e75_0_9"/>
          <p:cNvPicPr preferRelativeResize="0"/>
          <p:nvPr/>
        </p:nvPicPr>
        <p:blipFill>
          <a:blip r:embed="rId3">
            <a:alphaModFix/>
          </a:blip>
          <a:stretch>
            <a:fillRect/>
          </a:stretch>
        </p:blipFill>
        <p:spPr>
          <a:xfrm>
            <a:off x="1397639" y="1121525"/>
            <a:ext cx="6348725" cy="52719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3d58b86ffb3_0_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Recommendation (cont’d)</a:t>
            </a:r>
            <a:endParaRPr/>
          </a:p>
        </p:txBody>
      </p:sp>
      <p:pic>
        <p:nvPicPr>
          <p:cNvPr id="322" name="Google Shape;322;g3d58b86ffb3_0_94"/>
          <p:cNvPicPr preferRelativeResize="0"/>
          <p:nvPr/>
        </p:nvPicPr>
        <p:blipFill>
          <a:blip r:embed="rId3">
            <a:alphaModFix/>
          </a:blip>
          <a:stretch>
            <a:fillRect/>
          </a:stretch>
        </p:blipFill>
        <p:spPr>
          <a:xfrm>
            <a:off x="1020000" y="1417662"/>
            <a:ext cx="7103975" cy="4334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3d8c26e8cbf_1_13"/>
          <p:cNvSpPr txBox="1">
            <a:spLocks noGrp="1"/>
          </p:cNvSpPr>
          <p:nvPr>
            <p:ph type="title"/>
          </p:nvPr>
        </p:nvSpPr>
        <p:spPr>
          <a:xfrm>
            <a:off x="457200" y="12608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Bonus: Real World Model</a:t>
            </a:r>
            <a:endParaRPr/>
          </a:p>
        </p:txBody>
      </p:sp>
      <p:sp>
        <p:nvSpPr>
          <p:cNvPr id="329" name="Google Shape;329;g3d8c26e8cbf_1_13"/>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330" name="Google Shape;330;g3d8c26e8cbf_1_13"/>
          <p:cNvPicPr preferRelativeResize="0"/>
          <p:nvPr/>
        </p:nvPicPr>
        <p:blipFill>
          <a:blip r:embed="rId3">
            <a:alphaModFix/>
          </a:blip>
          <a:stretch>
            <a:fillRect/>
          </a:stretch>
        </p:blipFill>
        <p:spPr>
          <a:xfrm>
            <a:off x="0" y="1099250"/>
            <a:ext cx="9143999" cy="57371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Workload Distribution</a:t>
            </a:r>
            <a:endParaRPr/>
          </a:p>
        </p:txBody>
      </p:sp>
      <p:graphicFrame>
        <p:nvGraphicFramePr>
          <p:cNvPr id="337" name="Google Shape;337;p3"/>
          <p:cNvGraphicFramePr/>
          <p:nvPr/>
        </p:nvGraphicFramePr>
        <p:xfrm>
          <a:off x="1143000" y="1676400"/>
          <a:ext cx="3000000" cy="3000000"/>
        </p:xfrm>
        <a:graphic>
          <a:graphicData uri="http://schemas.openxmlformats.org/drawingml/2006/table">
            <a:tbl>
              <a:tblPr firstRow="1" firstCol="1" bandRow="1">
                <a:noFill/>
                <a:tableStyleId>{552ACDBB-F74C-47C5-ACE4-A0ACE7F49BB3}</a:tableStyleId>
              </a:tblPr>
              <a:tblGrid>
                <a:gridCol w="2133600">
                  <a:extLst>
                    <a:ext uri="{9D8B030D-6E8A-4147-A177-3AD203B41FA5}">
                      <a16:colId xmlns:a16="http://schemas.microsoft.com/office/drawing/2014/main" val="20000"/>
                    </a:ext>
                  </a:extLst>
                </a:gridCol>
                <a:gridCol w="4648200">
                  <a:extLst>
                    <a:ext uri="{9D8B030D-6E8A-4147-A177-3AD203B41FA5}">
                      <a16:colId xmlns:a16="http://schemas.microsoft.com/office/drawing/2014/main" val="20001"/>
                    </a:ext>
                  </a:extLst>
                </a:gridCol>
              </a:tblGrid>
              <a:tr h="685800">
                <a:tc>
                  <a:txBody>
                    <a:bodyPr/>
                    <a:lstStyle/>
                    <a:p>
                      <a:pPr marL="0" marR="0" lvl="0" indent="0" algn="l" rtl="0">
                        <a:lnSpc>
                          <a:spcPct val="115000"/>
                        </a:lnSpc>
                        <a:spcBef>
                          <a:spcPts val="0"/>
                        </a:spcBef>
                        <a:spcAft>
                          <a:spcPts val="0"/>
                        </a:spcAft>
                        <a:buNone/>
                      </a:pPr>
                      <a:r>
                        <a:rPr lang="en-US" sz="2000" u="none" strike="noStrike" cap="none"/>
                        <a:t>Member Name</a:t>
                      </a:r>
                      <a:endParaRPr sz="2000" b="1" u="none" strike="noStrike" cap="none">
                        <a:solidFill>
                          <a:srgbClr val="4F81BD"/>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2000" u="none" strike="noStrike" cap="none"/>
                        <a:t>List of Tasks Performed</a:t>
                      </a:r>
                      <a:endParaRPr sz="2000" b="1" u="none" strike="noStrike" cap="none">
                        <a:solidFill>
                          <a:srgbClr val="4F81BD"/>
                        </a:solidFill>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685800">
                <a:tc>
                  <a:txBody>
                    <a:bodyPr/>
                    <a:lstStyle/>
                    <a:p>
                      <a:pPr marL="0" marR="0" lvl="0" indent="0" algn="l" rtl="0">
                        <a:lnSpc>
                          <a:spcPct val="115000"/>
                        </a:lnSpc>
                        <a:spcBef>
                          <a:spcPts val="0"/>
                        </a:spcBef>
                        <a:spcAft>
                          <a:spcPts val="0"/>
                        </a:spcAft>
                        <a:buNone/>
                      </a:pPr>
                      <a:r>
                        <a:rPr lang="en-US" sz="1500" u="none" strike="noStrike" cap="none"/>
                        <a:t> Carm</a:t>
                      </a:r>
                      <a:r>
                        <a:rPr lang="en-US" sz="1500"/>
                        <a:t>an Fan</a:t>
                      </a:r>
                      <a:endParaRPr sz="1500" b="1" u="none" strike="noStrike" cap="none">
                        <a:solidFill>
                          <a:srgbClr val="4F81BD"/>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500" u="none" strike="noStrike" cap="none"/>
                        <a:t> Data P</a:t>
                      </a:r>
                      <a:r>
                        <a:rPr lang="en-US" sz="1500"/>
                        <a:t>reparation. Milestone and Report Authoring.</a:t>
                      </a:r>
                      <a:endParaRPr sz="1500" b="1" u="none" strike="noStrike" cap="none">
                        <a:solidFill>
                          <a:srgbClr val="4F81BD"/>
                        </a:solidFill>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685800">
                <a:tc>
                  <a:txBody>
                    <a:bodyPr/>
                    <a:lstStyle/>
                    <a:p>
                      <a:pPr marL="0" marR="0" lvl="0" indent="0" algn="l" rtl="0">
                        <a:lnSpc>
                          <a:spcPct val="115000"/>
                        </a:lnSpc>
                        <a:spcBef>
                          <a:spcPts val="0"/>
                        </a:spcBef>
                        <a:spcAft>
                          <a:spcPts val="0"/>
                        </a:spcAft>
                        <a:buNone/>
                      </a:pPr>
                      <a:r>
                        <a:rPr lang="en-US" sz="1500" u="none" strike="noStrike" cap="none"/>
                        <a:t> Carlos Elizondo</a:t>
                      </a:r>
                      <a:endParaRPr sz="1500" b="1" u="none" strike="noStrike" cap="none">
                        <a:solidFill>
                          <a:srgbClr val="4F81BD"/>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500" u="none" strike="noStrike" cap="none"/>
                        <a:t> P</a:t>
                      </a:r>
                      <a:r>
                        <a:rPr lang="en-US" sz="1500"/>
                        <a:t>redictive Modelling. Milestone and Report Authoring.</a:t>
                      </a:r>
                      <a:endParaRPr sz="1500" b="1" u="none" strike="noStrike" cap="none">
                        <a:solidFill>
                          <a:srgbClr val="4F81BD"/>
                        </a:solidFill>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685800">
                <a:tc>
                  <a:txBody>
                    <a:bodyPr/>
                    <a:lstStyle/>
                    <a:p>
                      <a:pPr marL="0" marR="0" lvl="0" indent="0" algn="l" rtl="0">
                        <a:lnSpc>
                          <a:spcPct val="115000"/>
                        </a:lnSpc>
                        <a:spcBef>
                          <a:spcPts val="0"/>
                        </a:spcBef>
                        <a:spcAft>
                          <a:spcPts val="0"/>
                        </a:spcAft>
                        <a:buNone/>
                      </a:pPr>
                      <a:r>
                        <a:rPr lang="en-US" sz="1500" u="none" strike="noStrike" cap="none"/>
                        <a:t> Thanos Paschalis</a:t>
                      </a:r>
                      <a:endParaRPr sz="1500" b="1" u="none" strike="noStrike" cap="none">
                        <a:solidFill>
                          <a:srgbClr val="4F81BD"/>
                        </a:solidFill>
                        <a:latin typeface="Calibri"/>
                        <a:ea typeface="Calibri"/>
                        <a:cs typeface="Calibri"/>
                        <a:sym typeface="Calibri"/>
                      </a:endParaRPr>
                    </a:p>
                  </a:txBody>
                  <a:tcPr marL="68575" marR="68575" marT="0" marB="0"/>
                </a:tc>
                <a:tc>
                  <a:txBody>
                    <a:bodyPr/>
                    <a:lstStyle/>
                    <a:p>
                      <a:pPr marL="0" marR="0" lvl="0" indent="0" algn="l" rtl="0">
                        <a:lnSpc>
                          <a:spcPct val="115000"/>
                        </a:lnSpc>
                        <a:spcBef>
                          <a:spcPts val="0"/>
                        </a:spcBef>
                        <a:spcAft>
                          <a:spcPts val="0"/>
                        </a:spcAft>
                        <a:buNone/>
                      </a:pPr>
                      <a:r>
                        <a:rPr lang="en-US" sz="1500" u="none" strike="noStrike" cap="none"/>
                        <a:t> </a:t>
                      </a:r>
                      <a:r>
                        <a:rPr lang="en-US" sz="1500"/>
                        <a:t>Statistical Analysis. Milestone and Report Authoring.</a:t>
                      </a:r>
                      <a:endParaRPr sz="1500" b="1" u="none" strike="noStrike" cap="none">
                        <a:solidFill>
                          <a:srgbClr val="4F81BD"/>
                        </a:solidFill>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8161</Words>
  <Application>Microsoft Office PowerPoint</Application>
  <PresentationFormat>On-screen Show (4:3)</PresentationFormat>
  <Paragraphs>636</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Roboto Mono</vt:lpstr>
      <vt:lpstr>Arial</vt:lpstr>
      <vt:lpstr>Office Theme</vt:lpstr>
      <vt:lpstr>Bank Telemarketing </vt:lpstr>
      <vt:lpstr>Introduction</vt:lpstr>
      <vt:lpstr>Methodology</vt:lpstr>
      <vt:lpstr>Dataset Summary</vt:lpstr>
      <vt:lpstr>Data Preparation:  Attributes &amp; Class Imbalance</vt:lpstr>
      <vt:lpstr>Data Preparation: Unknowns</vt:lpstr>
      <vt:lpstr>Data Preparation: Unknowns (cont.)</vt:lpstr>
      <vt:lpstr>Data Preparation: Attributes Inspection</vt:lpstr>
      <vt:lpstr>Data Preparation:  Measures of Central Tendency</vt:lpstr>
      <vt:lpstr>Data Preparation: Outlier Handling</vt:lpstr>
      <vt:lpstr>Data Preparation: Log Transformation</vt:lpstr>
      <vt:lpstr>Data Preparation: Correlation Analysis</vt:lpstr>
      <vt:lpstr>Predictive Modeling</vt:lpstr>
      <vt:lpstr>Predictive Modeling: Baseline Decision Tree</vt:lpstr>
      <vt:lpstr>Predictive Modeling: Baseline Naive Bayes</vt:lpstr>
      <vt:lpstr>Predictive Modeling:  Baseline Models Evaluation - Preliminary Results</vt:lpstr>
      <vt:lpstr>Predictive Modeling: Feature Importance based on Baseline Models</vt:lpstr>
      <vt:lpstr>Predictive Modeling:  Selected Features Models Evaluation - Preliminary Results</vt:lpstr>
      <vt:lpstr>Bonus: Chi-Square Analysis</vt:lpstr>
      <vt:lpstr>Bonus: Feature Selection via Consensus Combining Baseline Models with Correlation, Chi-Square</vt:lpstr>
      <vt:lpstr>Bonus: Decision Tree w/ Consensus Features</vt:lpstr>
      <vt:lpstr>Bonus: Optimized Model Performance w/ Consensus Features</vt:lpstr>
      <vt:lpstr>Decision Tree: Selected Features</vt:lpstr>
      <vt:lpstr>Baseline vs. Selected vs. Consensus Comparison</vt:lpstr>
      <vt:lpstr>Baseline vs. Selected vs. Consensus Comparison</vt:lpstr>
      <vt:lpstr>Major Findings: Data Preparation</vt:lpstr>
      <vt:lpstr>Major Findings: Predictive Modeling</vt:lpstr>
      <vt:lpstr>Conclusion: Which ML to use?</vt:lpstr>
      <vt:lpstr>Recommendations</vt:lpstr>
      <vt:lpstr>Bonus 2: K-Means Customer Segmentation</vt:lpstr>
      <vt:lpstr>Bonus 2: K-Means Customer Segmentation</vt:lpstr>
      <vt:lpstr>Recommendation (cont’d)</vt:lpstr>
      <vt:lpstr>Bonus: Real World Model</vt:lpstr>
      <vt:lpstr>Workload Distribution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 Shariyar Murtaza</dc:creator>
  <cp:lastModifiedBy>Carman Fan</cp:lastModifiedBy>
  <cp:revision>2</cp:revision>
  <dcterms:created xsi:type="dcterms:W3CDTF">2006-08-16T00:00:00Z</dcterms:created>
  <dcterms:modified xsi:type="dcterms:W3CDTF">2026-04-23T16:54:26Z</dcterms:modified>
</cp:coreProperties>
</file>